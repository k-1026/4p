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8" r:id="rId4"/>
    <p:sldId id="259" r:id="rId5"/>
    <p:sldId id="265" r:id="rId6"/>
    <p:sldId id="269" r:id="rId7"/>
    <p:sldId id="270" r:id="rId8"/>
    <p:sldId id="271" r:id="rId9"/>
    <p:sldId id="260" r:id="rId10"/>
    <p:sldId id="258" r:id="rId11"/>
    <p:sldId id="261" r:id="rId12"/>
    <p:sldId id="262" r:id="rId13"/>
    <p:sldId id="263"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overlay val="0"/>
    </c:title>
    <c:autoTitleDeleted val="0"/>
    <c:plotArea>
      <c:layout/>
      <c:barChart>
        <c:barDir val="bar"/>
        <c:grouping val="clustered"/>
        <c:varyColors val="1"/>
        <c:ser>
          <c:idx val="0"/>
          <c:order val="0"/>
          <c:tx>
            <c:strRef>
              <c:f>Sheet1!$B$1</c:f>
              <c:strCache>
                <c:ptCount val="1"/>
                <c:pt idx="0">
                  <c:v>가게 수</c:v>
                </c:pt>
              </c:strCache>
            </c:strRef>
          </c:tx>
          <c:invertIfNegative val="1"/>
          <c:dPt>
            <c:idx val="0"/>
            <c:invertIfNegative val="1"/>
            <c:bubble3D val="0"/>
            <c:spPr>
              <a:solidFill>
                <a:srgbClr val="8B5E3C"/>
              </a:solidFill>
            </c:spPr>
            <c:extLst>
              <c:ext xmlns:c16="http://schemas.microsoft.com/office/drawing/2014/chart" uri="{C3380CC4-5D6E-409C-BE32-E72D297353CC}">
                <c16:uniqueId val="{00000001-E563-452D-852A-2F7B72556E6C}"/>
              </c:ext>
            </c:extLst>
          </c:dPt>
          <c:dPt>
            <c:idx val="1"/>
            <c:invertIfNegative val="1"/>
            <c:bubble3D val="0"/>
            <c:spPr>
              <a:solidFill>
                <a:srgbClr val="3B7DD8"/>
              </a:solidFill>
            </c:spPr>
            <c:extLst>
              <c:ext xmlns:c16="http://schemas.microsoft.com/office/drawing/2014/chart" uri="{C3380CC4-5D6E-409C-BE32-E72D297353CC}">
                <c16:uniqueId val="{00000003-E563-452D-852A-2F7B72556E6C}"/>
              </c:ext>
            </c:extLst>
          </c:dPt>
          <c:dPt>
            <c:idx val="2"/>
            <c:invertIfNegative val="1"/>
            <c:bubble3D val="0"/>
            <c:spPr>
              <a:solidFill>
                <a:srgbClr val="D4A017"/>
              </a:solidFill>
            </c:spPr>
            <c:extLst>
              <c:ext xmlns:c16="http://schemas.microsoft.com/office/drawing/2014/chart" uri="{C3380CC4-5D6E-409C-BE32-E72D297353CC}">
                <c16:uniqueId val="{00000005-E563-452D-852A-2F7B72556E6C}"/>
              </c:ext>
            </c:extLst>
          </c:dPt>
          <c:dPt>
            <c:idx val="3"/>
            <c:invertIfNegative val="1"/>
            <c:bubble3D val="0"/>
            <c:spPr>
              <a:solidFill>
                <a:srgbClr val="2E9E6B"/>
              </a:solidFill>
            </c:spPr>
            <c:extLst>
              <c:ext xmlns:c16="http://schemas.microsoft.com/office/drawing/2014/chart" uri="{C3380CC4-5D6E-409C-BE32-E72D297353CC}">
                <c16:uniqueId val="{00000007-E563-452D-852A-2F7B72556E6C}"/>
              </c:ext>
            </c:extLst>
          </c:dPt>
          <c:dPt>
            <c:idx val="4"/>
            <c:invertIfNegative val="1"/>
            <c:bubble3D val="0"/>
            <c:spPr>
              <a:solidFill>
                <a:srgbClr val="7A4EB0"/>
              </a:solidFill>
            </c:spPr>
            <c:extLst>
              <c:ext xmlns:c16="http://schemas.microsoft.com/office/drawing/2014/chart" uri="{C3380CC4-5D6E-409C-BE32-E72D297353CC}">
                <c16:uniqueId val="{00000009-E563-452D-852A-2F7B72556E6C}"/>
              </c:ext>
            </c:extLst>
          </c:dPt>
          <c:dPt>
            <c:idx val="5"/>
            <c:invertIfNegative val="1"/>
            <c:bubble3D val="0"/>
            <c:spPr>
              <a:solidFill>
                <a:srgbClr val="E4572E"/>
              </a:solidFill>
            </c:spPr>
            <c:extLst>
              <c:ext xmlns:c16="http://schemas.microsoft.com/office/drawing/2014/chart" uri="{C3380CC4-5D6E-409C-BE32-E72D297353CC}">
                <c16:uniqueId val="{0000000B-E563-452D-852A-2F7B72556E6C}"/>
              </c:ext>
            </c:extLst>
          </c:dPt>
          <c:dPt>
            <c:idx val="6"/>
            <c:invertIfNegative val="1"/>
            <c:bubble3D val="0"/>
            <c:spPr>
              <a:solidFill>
                <a:srgbClr val="1FA3B5"/>
              </a:solidFill>
            </c:spPr>
            <c:extLst>
              <c:ext xmlns:c16="http://schemas.microsoft.com/office/drawing/2014/chart" uri="{C3380CC4-5D6E-409C-BE32-E72D297353CC}">
                <c16:uniqueId val="{0000000D-E563-452D-852A-2F7B72556E6C}"/>
              </c:ext>
            </c:extLst>
          </c:dPt>
          <c:dLbls>
            <c:numFmt formatCode="#,##0&quot;곳&quot;" sourceLinked="0"/>
            <c:spPr>
              <a:noFill/>
              <a:ln>
                <a:noFill/>
              </a:ln>
              <a:effectLst/>
            </c:spPr>
            <c:txPr>
              <a:bodyPr/>
              <a:lstStyle/>
              <a:p>
                <a:pPr>
                  <a:defRPr sz="1300" b="1">
                    <a:solidFill>
                      <a:srgbClr val="2E2A26"/>
                    </a:solidFill>
                    <a:latin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백년가게</c:v>
                </c:pt>
                <c:pt idx="1">
                  <c:v>구청 추천 맛집</c:v>
                </c:pt>
                <c:pt idx="2">
                  <c:v>모범·구청 지정</c:v>
                </c:pt>
                <c:pt idx="3">
                  <c:v>착한가격업소</c:v>
                </c:pt>
                <c:pt idx="4">
                  <c:v>20년 이상 영업(남구)</c:v>
                </c:pt>
                <c:pt idx="5">
                  <c:v>대구 10미</c:v>
                </c:pt>
                <c:pt idx="6">
                  <c:v>위생등급(식품안심업소)</c:v>
                </c:pt>
              </c:strCache>
            </c:strRef>
          </c:cat>
          <c:val>
            <c:numRef>
              <c:f>Sheet1!$B$2:$B$8</c:f>
              <c:numCache>
                <c:formatCode>General</c:formatCode>
                <c:ptCount val="7"/>
                <c:pt idx="0">
                  <c:v>60</c:v>
                </c:pt>
                <c:pt idx="1">
                  <c:v>272</c:v>
                </c:pt>
                <c:pt idx="2">
                  <c:v>368</c:v>
                </c:pt>
                <c:pt idx="3">
                  <c:v>499</c:v>
                </c:pt>
                <c:pt idx="4">
                  <c:v>566</c:v>
                </c:pt>
                <c:pt idx="5">
                  <c:v>835</c:v>
                </c:pt>
                <c:pt idx="6">
                  <c:v>2343</c:v>
                </c:pt>
              </c:numCache>
            </c:numRef>
          </c:val>
          <c:extLst>
            <c:ext xmlns:c16="http://schemas.microsoft.com/office/drawing/2014/chart" uri="{C3380CC4-5D6E-409C-BE32-E72D297353CC}">
              <c16:uniqueId val="{0000000E-E563-452D-852A-2F7B72556E6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300">
                <a:solidFill>
                  <a:srgbClr val="2E2A26"/>
                </a:solidFill>
                <a:latin typeface="Malgun Gothic"/>
              </a:defRPr>
            </a:pPr>
            <a:endParaRPr lang="ko-KR"/>
          </a:p>
        </c:txPr>
        <c:crossAx val="-2113994440"/>
        <c:crosses val="autoZero"/>
        <c:auto val="1"/>
        <c:lblAlgn val="ctr"/>
        <c:lblOffset val="100"/>
        <c:noMultiLvlLbl val="0"/>
      </c:catAx>
      <c:valAx>
        <c:axId val="-2113994440"/>
        <c:scaling>
          <c:orientation val="minMax"/>
          <c:max val="28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ko-K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2471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안녕하세요. 저희는 공공데이터로 대구 음식점이 '왜 인정받았는지' 근거를 모으는 '동네가 먹여살린 가게' 프로젝트를 진행하고 있습니다. 오늘은 자료를 어떻게 찾았고, 앞으로 어느 방향으로 가려는지 말씀드리겠습니다.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먼저 결론부터 말씀드리면, 저희는 공공기관 12곳이 공개한 데이터를 썼습니다. 중앙에서는 소상공인시장진흥공단, 행정안전부, 식품의약품안전처 자료를 썼고, 대구시에서는 착한가격업소 현황과 대구푸드의 대구 10미, 식품안심업소 목록을 가져왔습니다. 여기에 구·군청 8곳의 명단을 더했습니다. 모두 누구나 무료로 받을 수 있는 공개 자료입니다.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처음 질문은 '맛집을 누가 인정했나'였습니다. 리뷰나 광고 대신 공식 인증, 구청 선정, 오래 영업한 기록처럼 근거가 남는 기준을 정했습니다. 먼저 공공데이터포털에서 상가정보, 착한가격업소, 백년가게 같은 전국 단위 자료를 찾았고, 그다음 대구푸드와 D-데이터허브, 구청별 명단을 하나씩 확인했습니다. 블루리본이나 미쉐린처럼 대구 자료가 없는 기준은 빈칸으로 확인하고 다른 기준으로 대신했습니다. 찾는 기준은 하나, 기관이 공개해서 누구나 받을 수 있는 자료였습니다.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바탕은 소상공인시장진흥공단의 상가정보입니다. 2026년 6월 기준입니다. 여기에 빠진 가게는 북구, 서구, 남구, 달서구, 달성군의 영업 명단으로 3,515곳을 채웠습니다. 그렇게 대구 음식점 39,862곳을 모았고, 유흥주점·구내식당·편의점은 럐습니다. 그다음 기관마다 형식이 다른 명단을 주소와 상호로 맞춰 가게마다 연결했습니다.</a:t>
            </a:r>
          </a:p>
          <a:p>
            <a:endParaRPr/>
          </a:p>
          <a:p>
            <a:r>
              <a:t>[출처]</a:t>
            </a:r>
          </a:p>
          <a:p>
            <a:r>
              <a:t>상가정보 https://www.data.go.kr/data/15083033/fileData.do</a:t>
            </a:r>
          </a:p>
          <a:p>
            <a:r>
              <a:t>북구 https://www.data.go.kr/data/15006336/fileData.do</a:t>
            </a:r>
          </a:p>
          <a:p>
            <a:r>
              <a:t>서구 https://www.data.go.kr/data/15092713/fileData.do</a:t>
            </a:r>
          </a:p>
          <a:p>
            <a:r>
              <a:t>남구 https://www.data.go.kr/data/3072264/fileData.do</a:t>
            </a:r>
          </a:p>
          <a:p>
            <a:r>
              <a:t>달서구 https://www.data.go.kr/data/15084548/fileData.do</a:t>
            </a:r>
          </a:p>
          <a:p>
            <a:r>
              <a:t>달성군 https://www.data.go.kr/data/15127422/fileData.do</a:t>
            </a:r>
          </a:p>
          <a:p>
            <a:r>
              <a:t>지도 경계 https://github.com/southkorea/southkorea-maps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어디까지 확인했는지도 말씀드리겠습니다. 출처 링크와 데이터 이름, 기준일이 맞는지 확인했고, 원본 명단 건수와 연결된 가게 수도 대조했습니다. 다만 서로 다른 출처끼리 교차 검증은 하지 않았고, 실제 영업 여부도 현장에서 확인하지 못했습니다. 그래서 기준일 이후에 바뀐 내용은 반영되지 않았을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앞으로의 방향은 세 단계입니다. 가장 먼저 할 일은 기준 세우기입니다. 지금은 구할 수 있는 데이터를 그대로 기준으로 썼는데, 이제 어떤 가게를 '동네가 먹여살린 가게'로 볼지 저희만의 기준을 정하려고 합니다. 그다음 '20년 이상 영업'을 대구 전체로 넓히고 주민 찜을 쌓아가는 넓히기, 교차 검증과 영업 여부를 반영하는 다지기로 이어가겠습니다. 그래서 오늘 이 자리에서 기준에 대한 의견을 직접 여쭤보려고 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네 가지만 여쭤볼게요. 손을 들어 골라주시면 됩니다. 첫 번째, '동네가 먹여살린 가게'의 핵심은 뭘까요? 오래 버틴 가게, 기관이 인정한 가게, 동네 사람이 많이 찾는 가게 중에 골라주세요. (손 확인) 두 번째, 기준이 몇 개 겹쳐야 맛집이라고 할 수 있을까요? 하나면 충분하다, 두 개 이상 겹쳐야 한다, 점수로 순위를 매긴다. (손 확인) 세 번째, 위생등급과 착한가격은 맛보다는 위생과 가격 기준인데요, 맛집 기준에 넣을까요, 따로 거르는 조건으로 둘까요? (손 확인) 네 번째, 모범음식점처럼 일부 구에만 있는 데이터를 표시하고 쓸까요, 모든 구에 있는 것만 쓸까요? (손 확인) 의견 감사합니다. 오늘 주신 의견은 강사님 조언과 함께 기준을 정하는 데 반영하겠습니다.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a:t>
            </a:r>
          </a:p>
          <a:p>
            <a:r>
              <a:t>정리하면, 저희는 공공기관 12곳의 공개 데이터로 대구 음식점 39,862곳의 '인정받은 이유'를 모았습니다. 이제 오늘 주신 의견으로 기준을 세우고, 데이터를 넓히고, 검증을 다져가겠습니다.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a:p>
            <a:endParaRPr/>
          </a:p>
          <a:p>
            <a:r>
              <a:t>[출처]</a:t>
            </a:r>
          </a:p>
          <a:p>
            <a:r>
              <a:t>착한가격 https://www.data.go.kr/data/15126761/fileData.do</a:t>
            </a:r>
          </a:p>
          <a:p>
            <a:r>
              <a:t>행안부 착한가격 https://www.data.go.kr/data/3045247/fileData.do</a:t>
            </a:r>
          </a:p>
          <a:p>
            <a:r>
              <a:t>백년가게 https://www.data.go.kr/data/15132695/fileData.do</a:t>
            </a:r>
          </a:p>
          <a:p>
            <a:r>
              <a:t>식품안심업소 https://www.daegufood.go.kr/kor/sub/food_clean.asp?snm=108</a:t>
            </a:r>
          </a:p>
          <a:p>
            <a:r>
              <a:t>식약처 API https://www.data.go.kr/data/15060883/openapi.do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a:p>
            <a:endParaRPr/>
          </a:p>
          <a:p>
            <a:r>
              <a:t>[출처]</a:t>
            </a:r>
          </a:p>
          <a:p>
            <a:r>
              <a:t>남구 모범 https://www.data.go.kr/data/3069692/fileData.do</a:t>
            </a:r>
          </a:p>
          <a:p>
            <a:r>
              <a:t>동구 모범 https://www.data.go.kr/data/15052654/fileData.do</a:t>
            </a:r>
          </a:p>
          <a:p>
            <a:r>
              <a:t>수성구 모범 https://data.daegu.go.kr/open/data/dataView.do?dataSetId=15054680&amp;dataSetDetailId=150546801a5c23ee02440&amp;provdMethod=FILE</a:t>
            </a:r>
          </a:p>
          <a:p>
            <a:r>
              <a:t>달서맛나 https://www.data.go.kr/data/15144887/fileData.do</a:t>
            </a:r>
          </a:p>
          <a:p>
            <a:r>
              <a:t>중구 맛집 https://www.data.go.kr/data/15052602/fileData.do</a:t>
            </a:r>
          </a:p>
          <a:p>
            <a:r>
              <a:t>안지랑 https://www.data.go.kr/data/15122879/fileData.do</a:t>
            </a:r>
          </a:p>
          <a:p>
            <a:r>
              <a:t>앞산카페거리 https://www.data.go.kr/data/15122876/fileData.do</a:t>
            </a:r>
          </a:p>
          <a:p>
            <a:r>
              <a:t>앞산맛둘레길 https://www.data.go.kr/data/3069689/fileData.do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a:p>
            <a:endParaRPr/>
          </a:p>
          <a:p>
            <a:r>
              <a:t>[출처]</a:t>
            </a:r>
          </a:p>
          <a:p>
            <a:r>
              <a:t>대구푸드 https://www.daegufood.go.kr/kor/</a:t>
            </a:r>
          </a:p>
          <a:p>
            <a:r>
              <a:t>남구 식품위생업소현황 https://www.data.go.kr/data/3072264/fileData.do</a:t>
            </a:r>
          </a:p>
          <a:p>
            <a:r>
              <a:t>LOCALDATA https://file.localdata.go.kr/file/general_restaurants/info (자동 접속 차단, 직접 내려받기 필요)</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[숨김 슬라이드: 질문 대비용]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E2A26"/>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7315200" cy="457200"/>
          </a:xfrm>
          <a:prstGeom prst="rect">
            <a:avLst/>
          </a:prstGeom>
          <a:noFill/>
        </p:spPr>
        <p:txBody>
          <a:bodyPr wrap="square" lIns="45720" tIns="18288" rIns="45720" bIns="18288" anchor="t">
            <a:spAutoFit/>
          </a:bodyPr>
          <a:lstStyle/>
          <a:p>
            <a:pPr algn="l">
              <a:lnSpc>
                <a:spcPct val="115000"/>
              </a:lnSpc>
            </a:pPr>
            <a:r>
              <a:rPr sz="1600" b="1">
                <a:solidFill>
                  <a:srgbClr val="F2B8A6"/>
                </a:solidFill>
                <a:latin typeface="Malgun Gothic"/>
              </a:rPr>
              <a:t>2026 성과공유회</a:t>
            </a:r>
          </a:p>
        </p:txBody>
      </p:sp>
      <p:sp>
        <p:nvSpPr>
          <p:cNvPr id="4" name="TextBox 3"/>
          <p:cNvSpPr txBox="1"/>
          <p:nvPr/>
        </p:nvSpPr>
        <p:spPr>
          <a:xfrm>
            <a:off x="914400" y="1554480"/>
            <a:ext cx="10058400" cy="1097280"/>
          </a:xfrm>
          <a:prstGeom prst="rect">
            <a:avLst/>
          </a:prstGeom>
          <a:noFill/>
        </p:spPr>
        <p:txBody>
          <a:bodyPr wrap="square" lIns="45720" tIns="18288" rIns="45720" bIns="18288" anchor="t">
            <a:spAutoFit/>
          </a:bodyPr>
          <a:lstStyle/>
          <a:p>
            <a:pPr algn="l">
              <a:lnSpc>
                <a:spcPct val="115000"/>
              </a:lnSpc>
            </a:pPr>
            <a:r>
              <a:rPr sz="5400" b="1">
                <a:solidFill>
                  <a:srgbClr val="FFFFFF"/>
                </a:solidFill>
                <a:latin typeface="Malgun Gothic"/>
              </a:rPr>
              <a:t>동네가 먹여살린 가게</a:t>
            </a:r>
          </a:p>
        </p:txBody>
      </p:sp>
      <p:sp>
        <p:nvSpPr>
          <p:cNvPr id="5" name="TextBox 4"/>
          <p:cNvSpPr txBox="1"/>
          <p:nvPr/>
        </p:nvSpPr>
        <p:spPr>
          <a:xfrm>
            <a:off x="914400" y="2697480"/>
            <a:ext cx="10058400" cy="640080"/>
          </a:xfrm>
          <a:prstGeom prst="rect">
            <a:avLst/>
          </a:prstGeom>
          <a:noFill/>
        </p:spPr>
        <p:txBody>
          <a:bodyPr wrap="square" lIns="45720" tIns="18288" rIns="45720" bIns="18288" anchor="t">
            <a:spAutoFit/>
          </a:bodyPr>
          <a:lstStyle/>
          <a:p>
            <a:pPr algn="l">
              <a:lnSpc>
                <a:spcPct val="115000"/>
              </a:lnSpc>
            </a:pPr>
            <a:r>
              <a:rPr sz="2600" b="0">
                <a:solidFill>
                  <a:srgbClr val="F3E9DD"/>
                </a:solidFill>
                <a:latin typeface="Malgun Gothic"/>
              </a:rPr>
              <a:t>데이터를 어떻게 찾았고, 어디로 가고 있나</a:t>
            </a:r>
          </a:p>
        </p:txBody>
      </p:sp>
      <p:sp>
        <p:nvSpPr>
          <p:cNvPr id="6" name="Rectangle 5"/>
          <p:cNvSpPr/>
          <p:nvPr/>
        </p:nvSpPr>
        <p:spPr>
          <a:xfrm>
            <a:off x="914400" y="3703320"/>
            <a:ext cx="1097280" cy="3657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977639"/>
            <a:ext cx="10058400" cy="1097280"/>
          </a:xfrm>
          <a:prstGeom prst="rect">
            <a:avLst/>
          </a:prstGeom>
          <a:noFill/>
        </p:spPr>
        <p:txBody>
          <a:bodyPr wrap="square" lIns="45720" tIns="18288" rIns="45720" bIns="18288" anchor="t">
            <a:spAutoFit/>
          </a:bodyPr>
          <a:lstStyle/>
          <a:p>
            <a:pPr algn="l">
              <a:lnSpc>
                <a:spcPct val="115000"/>
              </a:lnSpc>
            </a:pPr>
            <a:r>
              <a:rPr sz="1700" b="0">
                <a:solidFill>
                  <a:srgbClr val="D9CFC4"/>
                </a:solidFill>
                <a:latin typeface="Malgun Gothic"/>
              </a:rPr>
              <a:t>공공데이터로 대구 음식점의 '인정받은 이유'를 모으는 프로젝트</a:t>
            </a:r>
          </a:p>
        </p:txBody>
      </p:sp>
      <p:sp>
        <p:nvSpPr>
          <p:cNvPr id="8" name="TextBox 7"/>
          <p:cNvSpPr txBox="1"/>
          <p:nvPr/>
        </p:nvSpPr>
        <p:spPr>
          <a:xfrm>
            <a:off x="914400" y="6035040"/>
            <a:ext cx="10058400" cy="365760"/>
          </a:xfrm>
          <a:prstGeom prst="rect">
            <a:avLst/>
          </a:prstGeom>
          <a:noFill/>
        </p:spPr>
        <p:txBody>
          <a:bodyPr wrap="square" lIns="45720" tIns="18288" rIns="45720" bIns="18288" anchor="t">
            <a:spAutoFit/>
          </a:bodyPr>
          <a:lstStyle/>
          <a:p>
            <a:pPr algn="l">
              <a:lnSpc>
                <a:spcPct val="115000"/>
              </a:lnSpc>
            </a:pPr>
            <a:r>
              <a:rPr sz="1200" b="0">
                <a:solidFill>
                  <a:srgbClr val="A89C90"/>
                </a:solidFill>
                <a:latin typeface="Malgun Gothic"/>
              </a:rPr>
              <a:t>데이터 정리일 2026-10-29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01  데이터 제공 기관</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공공기관 12곳의 공개 데이터로 만들었어요</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각 기관이 무료로 공개한 자료를 받아 그대로 사용했어요</a:t>
            </a:r>
          </a:p>
        </p:txBody>
      </p:sp>
      <p:sp>
        <p:nvSpPr>
          <p:cNvPr id="6" name="Rounded Rectangle 5"/>
          <p:cNvSpPr/>
          <p:nvPr/>
        </p:nvSpPr>
        <p:spPr>
          <a:xfrm>
            <a:off x="548640" y="1874519"/>
            <a:ext cx="3429000" cy="3794760"/>
          </a:xfrm>
          <a:prstGeom prst="roundRect">
            <a:avLst>
              <a:gd name="adj" fmla="val 4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74519"/>
            <a:ext cx="3429000" cy="109728"/>
          </a:xfrm>
          <a:prstGeom prst="rect">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2331720" cy="411480"/>
          </a:xfrm>
          <a:prstGeom prst="rect">
            <a:avLst/>
          </a:prstGeom>
          <a:noFill/>
        </p:spPr>
        <p:txBody>
          <a:bodyPr wrap="square" lIns="45720" tIns="18288" rIns="45720" bIns="18288" anchor="t">
            <a:spAutoFit/>
          </a:bodyPr>
          <a:lstStyle/>
          <a:p>
            <a:pPr algn="l">
              <a:lnSpc>
                <a:spcPct val="115000"/>
              </a:lnSpc>
            </a:pPr>
            <a:r>
              <a:rPr sz="1700" b="1">
                <a:solidFill>
                  <a:srgbClr val="2E2A26"/>
                </a:solidFill>
                <a:latin typeface="Malgun Gothic"/>
              </a:rPr>
              <a:t>중앙부처·공공기관</a:t>
            </a:r>
          </a:p>
        </p:txBody>
      </p:sp>
      <p:sp>
        <p:nvSpPr>
          <p:cNvPr id="9" name="TextBox 8"/>
          <p:cNvSpPr txBox="1"/>
          <p:nvPr/>
        </p:nvSpPr>
        <p:spPr>
          <a:xfrm>
            <a:off x="2926079" y="2075688"/>
            <a:ext cx="868680" cy="411480"/>
          </a:xfrm>
          <a:prstGeom prst="rect">
            <a:avLst/>
          </a:prstGeom>
          <a:noFill/>
        </p:spPr>
        <p:txBody>
          <a:bodyPr wrap="square" lIns="45720" tIns="18288" rIns="45720" bIns="18288" anchor="t">
            <a:spAutoFit/>
          </a:bodyPr>
          <a:lstStyle/>
          <a:p>
            <a:pPr algn="r">
              <a:lnSpc>
                <a:spcPct val="115000"/>
              </a:lnSpc>
            </a:pPr>
            <a:r>
              <a:rPr sz="1500" b="1">
                <a:solidFill>
                  <a:srgbClr val="2E2A26"/>
                </a:solidFill>
                <a:latin typeface="Malgun Gothic"/>
              </a:rPr>
              <a:t>3곳</a:t>
            </a:r>
          </a:p>
        </p:txBody>
      </p:sp>
      <p:sp>
        <p:nvSpPr>
          <p:cNvPr id="10" name="Rectangle 9"/>
          <p:cNvSpPr/>
          <p:nvPr/>
        </p:nvSpPr>
        <p:spPr>
          <a:xfrm>
            <a:off x="777240" y="260604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788920"/>
            <a:ext cx="297180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소상공인시장진흥공단</a:t>
            </a:r>
          </a:p>
        </p:txBody>
      </p:sp>
      <p:sp>
        <p:nvSpPr>
          <p:cNvPr id="12" name="TextBox 11"/>
          <p:cNvSpPr txBox="1"/>
          <p:nvPr/>
        </p:nvSpPr>
        <p:spPr>
          <a:xfrm>
            <a:off x="777240" y="3127248"/>
            <a:ext cx="297180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상가(상권)정보 · 백년가게 지정리스트</a:t>
            </a:r>
          </a:p>
        </p:txBody>
      </p:sp>
      <p:sp>
        <p:nvSpPr>
          <p:cNvPr id="13" name="TextBox 12"/>
          <p:cNvSpPr txBox="1"/>
          <p:nvPr/>
        </p:nvSpPr>
        <p:spPr>
          <a:xfrm>
            <a:off x="777240" y="3703320"/>
            <a:ext cx="297180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행정안전부</a:t>
            </a:r>
          </a:p>
        </p:txBody>
      </p:sp>
      <p:sp>
        <p:nvSpPr>
          <p:cNvPr id="14" name="TextBox 13"/>
          <p:cNvSpPr txBox="1"/>
          <p:nvPr/>
        </p:nvSpPr>
        <p:spPr>
          <a:xfrm>
            <a:off x="777240" y="4041648"/>
            <a:ext cx="297180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착한가격업소 제도·전국 현황</a:t>
            </a:r>
          </a:p>
        </p:txBody>
      </p:sp>
      <p:sp>
        <p:nvSpPr>
          <p:cNvPr id="15" name="TextBox 14"/>
          <p:cNvSpPr txBox="1"/>
          <p:nvPr/>
        </p:nvSpPr>
        <p:spPr>
          <a:xfrm>
            <a:off x="777240" y="4617720"/>
            <a:ext cx="297180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식품의약품안전처</a:t>
            </a:r>
          </a:p>
        </p:txBody>
      </p:sp>
      <p:sp>
        <p:nvSpPr>
          <p:cNvPr id="16" name="TextBox 15"/>
          <p:cNvSpPr txBox="1"/>
          <p:nvPr/>
        </p:nvSpPr>
        <p:spPr>
          <a:xfrm>
            <a:off x="777240" y="4956048"/>
            <a:ext cx="297180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위생등급(식품안심업소) 제도</a:t>
            </a:r>
          </a:p>
        </p:txBody>
      </p:sp>
      <p:sp>
        <p:nvSpPr>
          <p:cNvPr id="17" name="Rounded Rectangle 16"/>
          <p:cNvSpPr/>
          <p:nvPr/>
        </p:nvSpPr>
        <p:spPr>
          <a:xfrm>
            <a:off x="4160520" y="1874519"/>
            <a:ext cx="3063240" cy="3794760"/>
          </a:xfrm>
          <a:prstGeom prst="roundRect">
            <a:avLst>
              <a:gd name="adj" fmla="val 4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60520" y="1874519"/>
            <a:ext cx="3063240" cy="10972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0" y="2103120"/>
            <a:ext cx="1965960" cy="411480"/>
          </a:xfrm>
          <a:prstGeom prst="rect">
            <a:avLst/>
          </a:prstGeom>
          <a:noFill/>
        </p:spPr>
        <p:txBody>
          <a:bodyPr wrap="square" lIns="45720" tIns="18288" rIns="45720" bIns="18288" anchor="t">
            <a:spAutoFit/>
          </a:bodyPr>
          <a:lstStyle/>
          <a:p>
            <a:pPr algn="l">
              <a:lnSpc>
                <a:spcPct val="115000"/>
              </a:lnSpc>
            </a:pPr>
            <a:r>
              <a:rPr sz="1700" b="1">
                <a:solidFill>
                  <a:srgbClr val="2E2A26"/>
                </a:solidFill>
                <a:latin typeface="Malgun Gothic"/>
              </a:rPr>
              <a:t>대구광역시</a:t>
            </a:r>
          </a:p>
        </p:txBody>
      </p:sp>
      <p:sp>
        <p:nvSpPr>
          <p:cNvPr id="20" name="TextBox 19"/>
          <p:cNvSpPr txBox="1"/>
          <p:nvPr/>
        </p:nvSpPr>
        <p:spPr>
          <a:xfrm>
            <a:off x="6172200" y="2075688"/>
            <a:ext cx="868680" cy="411480"/>
          </a:xfrm>
          <a:prstGeom prst="rect">
            <a:avLst/>
          </a:prstGeom>
          <a:noFill/>
        </p:spPr>
        <p:txBody>
          <a:bodyPr wrap="square" lIns="45720" tIns="18288" rIns="45720" bIns="18288" anchor="t">
            <a:spAutoFit/>
          </a:bodyPr>
          <a:lstStyle/>
          <a:p>
            <a:pPr algn="r">
              <a:lnSpc>
                <a:spcPct val="115000"/>
              </a:lnSpc>
            </a:pPr>
            <a:r>
              <a:rPr sz="1500" b="1">
                <a:solidFill>
                  <a:srgbClr val="E4572E"/>
                </a:solidFill>
                <a:latin typeface="Malgun Gothic"/>
              </a:rPr>
              <a:t>1곳</a:t>
            </a:r>
          </a:p>
        </p:txBody>
      </p:sp>
      <p:sp>
        <p:nvSpPr>
          <p:cNvPr id="21" name="Rectangle 20"/>
          <p:cNvSpPr/>
          <p:nvPr/>
        </p:nvSpPr>
        <p:spPr>
          <a:xfrm>
            <a:off x="4389120" y="2606040"/>
            <a:ext cx="260604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2788920"/>
            <a:ext cx="260604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대구광역시</a:t>
            </a:r>
          </a:p>
        </p:txBody>
      </p:sp>
      <p:sp>
        <p:nvSpPr>
          <p:cNvPr id="23" name="TextBox 22"/>
          <p:cNvSpPr txBox="1"/>
          <p:nvPr/>
        </p:nvSpPr>
        <p:spPr>
          <a:xfrm>
            <a:off x="4389120" y="3127248"/>
            <a:ext cx="260604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착한가격업소 현황 (매월 갱신)</a:t>
            </a:r>
          </a:p>
        </p:txBody>
      </p:sp>
      <p:sp>
        <p:nvSpPr>
          <p:cNvPr id="24" name="TextBox 23"/>
          <p:cNvSpPr txBox="1"/>
          <p:nvPr/>
        </p:nvSpPr>
        <p:spPr>
          <a:xfrm>
            <a:off x="4389120" y="3703320"/>
            <a:ext cx="260604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대구푸드 (대구시 운영)</a:t>
            </a:r>
          </a:p>
        </p:txBody>
      </p:sp>
      <p:sp>
        <p:nvSpPr>
          <p:cNvPr id="25" name="TextBox 24"/>
          <p:cNvSpPr txBox="1"/>
          <p:nvPr/>
        </p:nvSpPr>
        <p:spPr>
          <a:xfrm>
            <a:off x="4389120" y="4041648"/>
            <a:ext cx="260604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대구 10미 · 식품안심업소 지정 목록</a:t>
            </a:r>
          </a:p>
        </p:txBody>
      </p:sp>
      <p:sp>
        <p:nvSpPr>
          <p:cNvPr id="26" name="TextBox 25"/>
          <p:cNvSpPr txBox="1"/>
          <p:nvPr/>
        </p:nvSpPr>
        <p:spPr>
          <a:xfrm>
            <a:off x="4389120" y="4617720"/>
            <a:ext cx="2606040" cy="36576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대구 D-데이터허브</a:t>
            </a:r>
          </a:p>
        </p:txBody>
      </p:sp>
      <p:sp>
        <p:nvSpPr>
          <p:cNvPr id="27" name="TextBox 26"/>
          <p:cNvSpPr txBox="1"/>
          <p:nvPr/>
        </p:nvSpPr>
        <p:spPr>
          <a:xfrm>
            <a:off x="4389120" y="4956048"/>
            <a:ext cx="2606040" cy="548640"/>
          </a:xfrm>
          <a:prstGeom prst="rect">
            <a:avLst/>
          </a:prstGeom>
          <a:noFill/>
        </p:spPr>
        <p:txBody>
          <a:bodyPr wrap="square" lIns="45720" tIns="18288" rIns="45720" bIns="18288" anchor="t">
            <a:spAutoFit/>
          </a:bodyPr>
          <a:lstStyle/>
          <a:p>
            <a:pPr algn="l">
              <a:lnSpc>
                <a:spcPct val="115000"/>
              </a:lnSpc>
            </a:pPr>
            <a:r>
              <a:rPr sz="1200" b="0">
                <a:solidFill>
                  <a:srgbClr val="6E655C"/>
                </a:solidFill>
                <a:latin typeface="Malgun Gothic"/>
              </a:rPr>
              <a:t>수성구 모범음식점 명단을 받은 곳</a:t>
            </a:r>
          </a:p>
        </p:txBody>
      </p:sp>
      <p:sp>
        <p:nvSpPr>
          <p:cNvPr id="28" name="Rounded Rectangle 27"/>
          <p:cNvSpPr/>
          <p:nvPr/>
        </p:nvSpPr>
        <p:spPr>
          <a:xfrm>
            <a:off x="7406640" y="1874519"/>
            <a:ext cx="4233672" cy="3794760"/>
          </a:xfrm>
          <a:prstGeom prst="roundRect">
            <a:avLst>
              <a:gd name="adj" fmla="val 4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406640" y="1874519"/>
            <a:ext cx="4233672" cy="109728"/>
          </a:xfrm>
          <a:prstGeom prst="rect">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35240" y="2103120"/>
            <a:ext cx="3136391" cy="411480"/>
          </a:xfrm>
          <a:prstGeom prst="rect">
            <a:avLst/>
          </a:prstGeom>
          <a:noFill/>
        </p:spPr>
        <p:txBody>
          <a:bodyPr wrap="square" lIns="45720" tIns="18288" rIns="45720" bIns="18288" anchor="t">
            <a:spAutoFit/>
          </a:bodyPr>
          <a:lstStyle/>
          <a:p>
            <a:pPr algn="l">
              <a:lnSpc>
                <a:spcPct val="115000"/>
              </a:lnSpc>
            </a:pPr>
            <a:r>
              <a:rPr sz="1700" b="1">
                <a:solidFill>
                  <a:srgbClr val="2E2A26"/>
                </a:solidFill>
                <a:latin typeface="Malgun Gothic"/>
              </a:rPr>
              <a:t>구·군청</a:t>
            </a:r>
          </a:p>
        </p:txBody>
      </p:sp>
      <p:sp>
        <p:nvSpPr>
          <p:cNvPr id="31" name="TextBox 30"/>
          <p:cNvSpPr txBox="1"/>
          <p:nvPr/>
        </p:nvSpPr>
        <p:spPr>
          <a:xfrm>
            <a:off x="10588752" y="2075688"/>
            <a:ext cx="868680" cy="411480"/>
          </a:xfrm>
          <a:prstGeom prst="rect">
            <a:avLst/>
          </a:prstGeom>
          <a:noFill/>
        </p:spPr>
        <p:txBody>
          <a:bodyPr wrap="square" lIns="45720" tIns="18288" rIns="45720" bIns="18288" anchor="t">
            <a:spAutoFit/>
          </a:bodyPr>
          <a:lstStyle/>
          <a:p>
            <a:pPr algn="r">
              <a:lnSpc>
                <a:spcPct val="115000"/>
              </a:lnSpc>
            </a:pPr>
            <a:r>
              <a:rPr sz="1500" b="1">
                <a:solidFill>
                  <a:srgbClr val="3B7DD8"/>
                </a:solidFill>
                <a:latin typeface="Malgun Gothic"/>
              </a:rPr>
              <a:t>8곳</a:t>
            </a:r>
          </a:p>
        </p:txBody>
      </p:sp>
      <p:sp>
        <p:nvSpPr>
          <p:cNvPr id="32" name="Rectangle 31"/>
          <p:cNvSpPr/>
          <p:nvPr/>
        </p:nvSpPr>
        <p:spPr>
          <a:xfrm>
            <a:off x="7635240" y="2606040"/>
            <a:ext cx="3776472"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35240" y="2743200"/>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중구</a:t>
            </a:r>
          </a:p>
        </p:txBody>
      </p:sp>
      <p:sp>
        <p:nvSpPr>
          <p:cNvPr id="34" name="TextBox 33"/>
          <p:cNvSpPr txBox="1"/>
          <p:nvPr/>
        </p:nvSpPr>
        <p:spPr>
          <a:xfrm>
            <a:off x="8412480" y="2743200"/>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맛집 현황 (묵은맛명가·맛락·골목투어)</a:t>
            </a:r>
          </a:p>
        </p:txBody>
      </p:sp>
      <p:sp>
        <p:nvSpPr>
          <p:cNvPr id="35" name="TextBox 34"/>
          <p:cNvSpPr txBox="1"/>
          <p:nvPr/>
        </p:nvSpPr>
        <p:spPr>
          <a:xfrm>
            <a:off x="7635240" y="3090672"/>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동구</a:t>
            </a:r>
          </a:p>
        </p:txBody>
      </p:sp>
      <p:sp>
        <p:nvSpPr>
          <p:cNvPr id="36" name="TextBox 35"/>
          <p:cNvSpPr txBox="1"/>
          <p:nvPr/>
        </p:nvSpPr>
        <p:spPr>
          <a:xfrm>
            <a:off x="8412480" y="3090672"/>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모범음식점</a:t>
            </a:r>
          </a:p>
        </p:txBody>
      </p:sp>
      <p:sp>
        <p:nvSpPr>
          <p:cNvPr id="37" name="TextBox 36"/>
          <p:cNvSpPr txBox="1"/>
          <p:nvPr/>
        </p:nvSpPr>
        <p:spPr>
          <a:xfrm>
            <a:off x="7635240" y="3438144"/>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서구</a:t>
            </a:r>
          </a:p>
        </p:txBody>
      </p:sp>
      <p:sp>
        <p:nvSpPr>
          <p:cNvPr id="38" name="TextBox 37"/>
          <p:cNvSpPr txBox="1"/>
          <p:nvPr/>
        </p:nvSpPr>
        <p:spPr>
          <a:xfrm>
            <a:off x="8412480" y="3438144"/>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식품위생업소</a:t>
            </a:r>
          </a:p>
        </p:txBody>
      </p:sp>
      <p:sp>
        <p:nvSpPr>
          <p:cNvPr id="39" name="TextBox 38"/>
          <p:cNvSpPr txBox="1"/>
          <p:nvPr/>
        </p:nvSpPr>
        <p:spPr>
          <a:xfrm>
            <a:off x="7635240" y="3785616"/>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남구</a:t>
            </a:r>
          </a:p>
        </p:txBody>
      </p:sp>
      <p:sp>
        <p:nvSpPr>
          <p:cNvPr id="40" name="TextBox 39"/>
          <p:cNvSpPr txBox="1"/>
          <p:nvPr/>
        </p:nvSpPr>
        <p:spPr>
          <a:xfrm>
            <a:off x="8412480" y="3785616"/>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식품위생업소 · 모범음식점 · 먹거리골목 3곳</a:t>
            </a:r>
          </a:p>
        </p:txBody>
      </p:sp>
      <p:sp>
        <p:nvSpPr>
          <p:cNvPr id="41" name="TextBox 40"/>
          <p:cNvSpPr txBox="1"/>
          <p:nvPr/>
        </p:nvSpPr>
        <p:spPr>
          <a:xfrm>
            <a:off x="7635240" y="4133087"/>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북구</a:t>
            </a:r>
          </a:p>
        </p:txBody>
      </p:sp>
      <p:sp>
        <p:nvSpPr>
          <p:cNvPr id="42" name="TextBox 41"/>
          <p:cNvSpPr txBox="1"/>
          <p:nvPr/>
        </p:nvSpPr>
        <p:spPr>
          <a:xfrm>
            <a:off x="8412480" y="4133087"/>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식품접객업</a:t>
            </a:r>
          </a:p>
        </p:txBody>
      </p:sp>
      <p:sp>
        <p:nvSpPr>
          <p:cNvPr id="43" name="TextBox 42"/>
          <p:cNvSpPr txBox="1"/>
          <p:nvPr/>
        </p:nvSpPr>
        <p:spPr>
          <a:xfrm>
            <a:off x="7635240" y="4480560"/>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수성구</a:t>
            </a:r>
          </a:p>
        </p:txBody>
      </p:sp>
      <p:sp>
        <p:nvSpPr>
          <p:cNvPr id="44" name="TextBox 43"/>
          <p:cNvSpPr txBox="1"/>
          <p:nvPr/>
        </p:nvSpPr>
        <p:spPr>
          <a:xfrm>
            <a:off x="8412480" y="4480560"/>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모범음식점</a:t>
            </a:r>
          </a:p>
        </p:txBody>
      </p:sp>
      <p:sp>
        <p:nvSpPr>
          <p:cNvPr id="45" name="TextBox 44"/>
          <p:cNvSpPr txBox="1"/>
          <p:nvPr/>
        </p:nvSpPr>
        <p:spPr>
          <a:xfrm>
            <a:off x="7635240" y="4828032"/>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달서구</a:t>
            </a:r>
          </a:p>
        </p:txBody>
      </p:sp>
      <p:sp>
        <p:nvSpPr>
          <p:cNvPr id="46" name="TextBox 45"/>
          <p:cNvSpPr txBox="1"/>
          <p:nvPr/>
        </p:nvSpPr>
        <p:spPr>
          <a:xfrm>
            <a:off x="8412480" y="4828032"/>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식품접객업소 · 달서맛나 지정음식점</a:t>
            </a:r>
          </a:p>
        </p:txBody>
      </p:sp>
      <p:sp>
        <p:nvSpPr>
          <p:cNvPr id="47" name="TextBox 46"/>
          <p:cNvSpPr txBox="1"/>
          <p:nvPr/>
        </p:nvSpPr>
        <p:spPr>
          <a:xfrm>
            <a:off x="7635240" y="5175504"/>
            <a:ext cx="777240" cy="347472"/>
          </a:xfrm>
          <a:prstGeom prst="rect">
            <a:avLst/>
          </a:prstGeom>
          <a:noFill/>
        </p:spPr>
        <p:txBody>
          <a:bodyPr wrap="square" lIns="45720" tIns="18288" rIns="45720" bIns="18288" anchor="ctr">
            <a:spAutoFit/>
          </a:bodyPr>
          <a:lstStyle/>
          <a:p>
            <a:pPr algn="l">
              <a:lnSpc>
                <a:spcPct val="115000"/>
              </a:lnSpc>
            </a:pPr>
            <a:r>
              <a:rPr sz="1300" b="1">
                <a:solidFill>
                  <a:srgbClr val="3B7DD8"/>
                </a:solidFill>
                <a:latin typeface="Malgun Gothic"/>
              </a:rPr>
              <a:t>달성군</a:t>
            </a:r>
          </a:p>
        </p:txBody>
      </p:sp>
      <p:sp>
        <p:nvSpPr>
          <p:cNvPr id="48" name="TextBox 47"/>
          <p:cNvSpPr txBox="1"/>
          <p:nvPr/>
        </p:nvSpPr>
        <p:spPr>
          <a:xfrm>
            <a:off x="8412480" y="5175504"/>
            <a:ext cx="2999232" cy="347472"/>
          </a:xfrm>
          <a:prstGeom prst="rect">
            <a:avLst/>
          </a:prstGeom>
          <a:noFill/>
        </p:spPr>
        <p:txBody>
          <a:bodyPr wrap="square" lIns="45720" tIns="18288" rIns="45720" bIns="18288" anchor="ctr">
            <a:spAutoFit/>
          </a:bodyPr>
          <a:lstStyle/>
          <a:p>
            <a:pPr algn="l">
              <a:lnSpc>
                <a:spcPct val="115000"/>
              </a:lnSpc>
            </a:pPr>
            <a:r>
              <a:rPr sz="1150" b="0">
                <a:solidFill>
                  <a:srgbClr val="2E2A26"/>
                </a:solidFill>
                <a:latin typeface="Malgun Gothic"/>
              </a:rPr>
              <a:t>휴게음식점</a:t>
            </a:r>
          </a:p>
        </p:txBody>
      </p:sp>
      <p:sp>
        <p:nvSpPr>
          <p:cNvPr id="49" name="Rounded Rectangle 48"/>
          <p:cNvSpPr/>
          <p:nvPr/>
        </p:nvSpPr>
        <p:spPr>
          <a:xfrm>
            <a:off x="548640" y="5760720"/>
            <a:ext cx="11091672" cy="502920"/>
          </a:xfrm>
          <a:prstGeom prst="roundRect">
            <a:avLst>
              <a:gd name="adj" fmla="val 3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7240" y="5760720"/>
            <a:ext cx="10698480" cy="502920"/>
          </a:xfrm>
          <a:prstGeom prst="rect">
            <a:avLst/>
          </a:prstGeom>
          <a:noFill/>
        </p:spPr>
        <p:txBody>
          <a:bodyPr wrap="square" lIns="45720" tIns="18288" rIns="45720" bIns="18288" anchor="ctr">
            <a:spAutoFit/>
          </a:bodyPr>
          <a:lstStyle/>
          <a:p>
            <a:pPr algn="l">
              <a:lnSpc>
                <a:spcPct val="115000"/>
              </a:lnSpc>
            </a:pPr>
            <a:r>
              <a:rPr sz="1200" b="0">
                <a:solidFill>
                  <a:srgbClr val="2E2A26"/>
                </a:solidFill>
                <a:latin typeface="Malgun Gothic"/>
              </a:rPr>
              <a:t>받은 곳   공공데이터포털(data.go.kr) · 대구 D-데이터허브(data.daegu.go.kr) · 대구푸드(daegufood.go.kr)</a:t>
            </a:r>
          </a:p>
        </p:txBody>
      </p:sp>
      <p:sp>
        <p:nvSpPr>
          <p:cNvPr id="51" name="Rectangle 50"/>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기관별 데이터 이름·기준일·출처 번호는 부록 참고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02  자료를 어떻게 찾았나</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'맛집을 누가 인정했나?'에서 시작했어요</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리뷰나 광고 대신, 기관의 기록으로 남아 있는 근거를 찾았어요</a:t>
            </a:r>
          </a:p>
        </p:txBody>
      </p:sp>
      <p:sp>
        <p:nvSpPr>
          <p:cNvPr id="6" name="Rounded Rectangle 5"/>
          <p:cNvSpPr/>
          <p:nvPr/>
        </p:nvSpPr>
        <p:spPr>
          <a:xfrm>
            <a:off x="548640" y="2103120"/>
            <a:ext cx="2606040" cy="301752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377440"/>
            <a:ext cx="548640" cy="5486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FFFFFF"/>
                </a:solidFill>
                <a:latin typeface="Malgun Gothic"/>
              </a:rPr>
              <a:t>1</a:t>
            </a:r>
          </a:p>
        </p:txBody>
      </p:sp>
      <p:sp>
        <p:nvSpPr>
          <p:cNvPr id="8" name="TextBox 7"/>
          <p:cNvSpPr txBox="1"/>
          <p:nvPr/>
        </p:nvSpPr>
        <p:spPr>
          <a:xfrm>
            <a:off x="822959" y="3063240"/>
            <a:ext cx="219456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기준 정하기</a:t>
            </a:r>
          </a:p>
        </p:txBody>
      </p:sp>
      <p:sp>
        <p:nvSpPr>
          <p:cNvPr id="9" name="TextBox 8"/>
          <p:cNvSpPr txBox="1"/>
          <p:nvPr/>
        </p:nvSpPr>
        <p:spPr>
          <a:xfrm>
            <a:off x="822959" y="3611880"/>
            <a:ext cx="2240280" cy="10058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공식 인증 · 구청 선정
오래 버틴 가게 · 대구다움</a:t>
            </a:r>
          </a:p>
        </p:txBody>
      </p:sp>
      <p:sp>
        <p:nvSpPr>
          <p:cNvPr id="10" name="Rounded Rectangle 9"/>
          <p:cNvSpPr/>
          <p:nvPr/>
        </p:nvSpPr>
        <p:spPr>
          <a:xfrm>
            <a:off x="822959" y="4617720"/>
            <a:ext cx="2057400" cy="347472"/>
          </a:xfrm>
          <a:prstGeom prst="roundRect">
            <a:avLst>
              <a:gd name="adj" fmla="val 5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617720"/>
            <a:ext cx="2057400" cy="347472"/>
          </a:xfrm>
          <a:prstGeom prst="rect">
            <a:avLst/>
          </a:prstGeom>
          <a:noFill/>
        </p:spPr>
        <p:txBody>
          <a:bodyPr wrap="square" lIns="45720" tIns="18288" rIns="45720" bIns="18288" anchor="ctr">
            <a:spAutoFit/>
          </a:bodyPr>
          <a:lstStyle/>
          <a:p>
            <a:pPr algn="ctr">
              <a:lnSpc>
                <a:spcPct val="115000"/>
              </a:lnSpc>
            </a:pPr>
            <a:r>
              <a:rPr sz="1050" b="1">
                <a:solidFill>
                  <a:srgbClr val="2E2A26"/>
                </a:solidFill>
                <a:latin typeface="Malgun Gothic"/>
              </a:rPr>
              <a:t>출발점</a:t>
            </a:r>
          </a:p>
        </p:txBody>
      </p:sp>
      <p:sp>
        <p:nvSpPr>
          <p:cNvPr id="12" name="Right Arrow 11"/>
          <p:cNvSpPr/>
          <p:nvPr/>
        </p:nvSpPr>
        <p:spPr>
          <a:xfrm>
            <a:off x="3182112" y="3474720"/>
            <a:ext cx="164592"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364992" y="2103120"/>
            <a:ext cx="2606040" cy="301752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39312" y="2377440"/>
            <a:ext cx="548640" cy="5486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FFFFFF"/>
                </a:solidFill>
                <a:latin typeface="Malgun Gothic"/>
              </a:rPr>
              <a:t>2</a:t>
            </a:r>
          </a:p>
        </p:txBody>
      </p:sp>
      <p:sp>
        <p:nvSpPr>
          <p:cNvPr id="15" name="TextBox 14"/>
          <p:cNvSpPr txBox="1"/>
          <p:nvPr/>
        </p:nvSpPr>
        <p:spPr>
          <a:xfrm>
            <a:off x="3639312" y="3063240"/>
            <a:ext cx="219456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전국 데이터 찾기</a:t>
            </a:r>
          </a:p>
        </p:txBody>
      </p:sp>
      <p:sp>
        <p:nvSpPr>
          <p:cNvPr id="16" name="TextBox 15"/>
          <p:cNvSpPr txBox="1"/>
          <p:nvPr/>
        </p:nvSpPr>
        <p:spPr>
          <a:xfrm>
            <a:off x="3639312" y="3611880"/>
            <a:ext cx="2240280" cy="10058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상가정보 · 착한가격업소
백년가게 명단</a:t>
            </a:r>
          </a:p>
        </p:txBody>
      </p:sp>
      <p:sp>
        <p:nvSpPr>
          <p:cNvPr id="17" name="Rounded Rectangle 16"/>
          <p:cNvSpPr/>
          <p:nvPr/>
        </p:nvSpPr>
        <p:spPr>
          <a:xfrm>
            <a:off x="3639312" y="4617720"/>
            <a:ext cx="2057400" cy="347472"/>
          </a:xfrm>
          <a:prstGeom prst="roundRect">
            <a:avLst>
              <a:gd name="adj" fmla="val 5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39312" y="4617720"/>
            <a:ext cx="2057400" cy="347472"/>
          </a:xfrm>
          <a:prstGeom prst="rect">
            <a:avLst/>
          </a:prstGeom>
          <a:noFill/>
        </p:spPr>
        <p:txBody>
          <a:bodyPr wrap="square" lIns="45720" tIns="18288" rIns="45720" bIns="18288" anchor="ctr">
            <a:spAutoFit/>
          </a:bodyPr>
          <a:lstStyle/>
          <a:p>
            <a:pPr algn="ctr">
              <a:lnSpc>
                <a:spcPct val="115000"/>
              </a:lnSpc>
            </a:pPr>
            <a:r>
              <a:rPr sz="1050" b="1">
                <a:solidFill>
                  <a:srgbClr val="2E2A26"/>
                </a:solidFill>
                <a:latin typeface="Malgun Gothic"/>
              </a:rPr>
              <a:t>공공데이터포털</a:t>
            </a:r>
          </a:p>
        </p:txBody>
      </p:sp>
      <p:sp>
        <p:nvSpPr>
          <p:cNvPr id="19" name="Right Arrow 18"/>
          <p:cNvSpPr/>
          <p:nvPr/>
        </p:nvSpPr>
        <p:spPr>
          <a:xfrm>
            <a:off x="5998464" y="3474720"/>
            <a:ext cx="164592"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81344" y="2103120"/>
            <a:ext cx="2606040" cy="301752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55664" y="2377440"/>
            <a:ext cx="548640" cy="5486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FFFFFF"/>
                </a:solidFill>
                <a:latin typeface="Malgun Gothic"/>
              </a:rPr>
              <a:t>3</a:t>
            </a:r>
          </a:p>
        </p:txBody>
      </p:sp>
      <p:sp>
        <p:nvSpPr>
          <p:cNvPr id="22" name="TextBox 21"/>
          <p:cNvSpPr txBox="1"/>
          <p:nvPr/>
        </p:nvSpPr>
        <p:spPr>
          <a:xfrm>
            <a:off x="6455664" y="3063240"/>
            <a:ext cx="219456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대구 자료 찾기</a:t>
            </a:r>
          </a:p>
        </p:txBody>
      </p:sp>
      <p:sp>
        <p:nvSpPr>
          <p:cNvPr id="23" name="TextBox 22"/>
          <p:cNvSpPr txBox="1"/>
          <p:nvPr/>
        </p:nvSpPr>
        <p:spPr>
          <a:xfrm>
            <a:off x="6455664" y="3611880"/>
            <a:ext cx="2240280" cy="10058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대구 10미 · 식품안심업소
구청별 모범음식점·먹거리골목·영업 명단</a:t>
            </a:r>
          </a:p>
        </p:txBody>
      </p:sp>
      <p:sp>
        <p:nvSpPr>
          <p:cNvPr id="24" name="Rounded Rectangle 23"/>
          <p:cNvSpPr/>
          <p:nvPr/>
        </p:nvSpPr>
        <p:spPr>
          <a:xfrm>
            <a:off x="6455664" y="4617720"/>
            <a:ext cx="2057400" cy="347472"/>
          </a:xfrm>
          <a:prstGeom prst="roundRect">
            <a:avLst>
              <a:gd name="adj" fmla="val 5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4617720"/>
            <a:ext cx="2057400" cy="347472"/>
          </a:xfrm>
          <a:prstGeom prst="rect">
            <a:avLst/>
          </a:prstGeom>
          <a:noFill/>
        </p:spPr>
        <p:txBody>
          <a:bodyPr wrap="square" lIns="45720" tIns="18288" rIns="45720" bIns="18288" anchor="ctr">
            <a:spAutoFit/>
          </a:bodyPr>
          <a:lstStyle/>
          <a:p>
            <a:pPr algn="ctr">
              <a:lnSpc>
                <a:spcPct val="115000"/>
              </a:lnSpc>
            </a:pPr>
            <a:r>
              <a:rPr sz="1050" b="1">
                <a:solidFill>
                  <a:srgbClr val="2E2A26"/>
                </a:solidFill>
                <a:latin typeface="Malgun Gothic"/>
              </a:rPr>
              <a:t>대구푸드 · D-데이터허브 · 구청</a:t>
            </a:r>
          </a:p>
        </p:txBody>
      </p:sp>
      <p:sp>
        <p:nvSpPr>
          <p:cNvPr id="26" name="Right Arrow 25"/>
          <p:cNvSpPr/>
          <p:nvPr/>
        </p:nvSpPr>
        <p:spPr>
          <a:xfrm>
            <a:off x="8814816" y="3474720"/>
            <a:ext cx="164592"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2103120"/>
            <a:ext cx="2606040" cy="301752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272016" y="2377440"/>
            <a:ext cx="548640" cy="548640"/>
          </a:xfrm>
          <a:prstGeom prst="ellipse">
            <a:avLst/>
          </a:prstGeom>
          <a:solidFill>
            <a:srgbClr val="8A817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FFFFFF"/>
                </a:solidFill>
                <a:latin typeface="Malgun Gothic"/>
              </a:rPr>
              <a:t>4</a:t>
            </a:r>
          </a:p>
        </p:txBody>
      </p:sp>
      <p:sp>
        <p:nvSpPr>
          <p:cNvPr id="29" name="TextBox 28"/>
          <p:cNvSpPr txBox="1"/>
          <p:nvPr/>
        </p:nvSpPr>
        <p:spPr>
          <a:xfrm>
            <a:off x="9272016" y="3063240"/>
            <a:ext cx="219456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빈칸 확인하기</a:t>
            </a:r>
          </a:p>
        </p:txBody>
      </p:sp>
      <p:sp>
        <p:nvSpPr>
          <p:cNvPr id="30" name="TextBox 29"/>
          <p:cNvSpPr txBox="1"/>
          <p:nvPr/>
        </p:nvSpPr>
        <p:spPr>
          <a:xfrm>
            <a:off x="9272016" y="3611880"/>
            <a:ext cx="2240280" cy="10058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블루리본 · 미쉐린 · 전체 인허가
없거나 받기 어려운 자료는 대체</a:t>
            </a:r>
          </a:p>
        </p:txBody>
      </p:sp>
      <p:sp>
        <p:nvSpPr>
          <p:cNvPr id="31" name="Rounded Rectangle 30"/>
          <p:cNvSpPr/>
          <p:nvPr/>
        </p:nvSpPr>
        <p:spPr>
          <a:xfrm>
            <a:off x="9272016" y="4617720"/>
            <a:ext cx="2057400" cy="347472"/>
          </a:xfrm>
          <a:prstGeom prst="roundRect">
            <a:avLst>
              <a:gd name="adj" fmla="val 5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72016" y="4617720"/>
            <a:ext cx="2057400" cy="347472"/>
          </a:xfrm>
          <a:prstGeom prst="rect">
            <a:avLst/>
          </a:prstGeom>
          <a:noFill/>
        </p:spPr>
        <p:txBody>
          <a:bodyPr wrap="square" lIns="45720" tIns="18288" rIns="45720" bIns="18288" anchor="ctr">
            <a:spAutoFit/>
          </a:bodyPr>
          <a:lstStyle/>
          <a:p>
            <a:pPr algn="ctr">
              <a:lnSpc>
                <a:spcPct val="115000"/>
              </a:lnSpc>
            </a:pPr>
            <a:r>
              <a:rPr sz="1050" b="1">
                <a:solidFill>
                  <a:srgbClr val="2E2A26"/>
                </a:solidFill>
                <a:latin typeface="Malgun Gothic"/>
              </a:rPr>
              <a:t>직접 확인</a:t>
            </a:r>
          </a:p>
        </p:txBody>
      </p:sp>
      <p:sp>
        <p:nvSpPr>
          <p:cNvPr id="33" name="Rounded Rectangle 32"/>
          <p:cNvSpPr/>
          <p:nvPr/>
        </p:nvSpPr>
        <p:spPr>
          <a:xfrm>
            <a:off x="548640" y="5394960"/>
            <a:ext cx="11091672" cy="685800"/>
          </a:xfrm>
          <a:prstGeom prst="roundRect">
            <a:avLst>
              <a:gd name="adj" fmla="val 30000"/>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5394960"/>
            <a:ext cx="10515600" cy="685800"/>
          </a:xfrm>
          <a:prstGeom prst="rect">
            <a:avLst/>
          </a:prstGeom>
          <a:noFill/>
        </p:spPr>
        <p:txBody>
          <a:bodyPr wrap="square" lIns="45720" tIns="18288" rIns="45720" bIns="18288" anchor="ctr">
            <a:spAutoFit/>
          </a:bodyPr>
          <a:lstStyle/>
          <a:p>
            <a:pPr algn="l">
              <a:lnSpc>
                <a:spcPct val="115000"/>
              </a:lnSpc>
            </a:pPr>
            <a:r>
              <a:rPr sz="1600" b="1">
                <a:solidFill>
                  <a:srgbClr val="FFFFFF"/>
                </a:solidFill>
                <a:latin typeface="Malgun Gothic"/>
              </a:rPr>
              <a:t>찾는 기준   기관이 공개해서 누구나 받을 수 있는 자료일 것</a:t>
            </a:r>
          </a:p>
        </p:txBody>
      </p:sp>
      <p:sp>
        <p:nvSpPr>
          <p:cNvPr id="35" name="Rectangle 34"/>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찾은 자료는 여러 창구에 흩어져 있어서, 구청별로 명단이 있는지 하나씩 확인했어요</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03  바탕 데이터</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대구 음식점 39,862곳은 어디서 왔나</a:t>
            </a:r>
          </a:p>
        </p:txBody>
      </p:sp>
      <p:sp>
        <p:nvSpPr>
          <p:cNvPr id="5" name="Rounded Rectangle 4"/>
          <p:cNvSpPr/>
          <p:nvPr/>
        </p:nvSpPr>
        <p:spPr>
          <a:xfrm>
            <a:off x="548640" y="1828800"/>
            <a:ext cx="5486400" cy="4206240"/>
          </a:xfrm>
          <a:prstGeom prst="roundRect">
            <a:avLst>
              <a:gd name="adj" fmla="val 5000"/>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03120"/>
            <a:ext cx="4937760" cy="365760"/>
          </a:xfrm>
          <a:prstGeom prst="rect">
            <a:avLst/>
          </a:prstGeom>
          <a:noFill/>
        </p:spPr>
        <p:txBody>
          <a:bodyPr wrap="square" lIns="45720" tIns="18288" rIns="45720" bIns="18288" anchor="t">
            <a:spAutoFit/>
          </a:bodyPr>
          <a:lstStyle/>
          <a:p>
            <a:pPr algn="l">
              <a:lnSpc>
                <a:spcPct val="115000"/>
              </a:lnSpc>
            </a:pPr>
            <a:r>
              <a:rPr sz="1400" b="1">
                <a:solidFill>
                  <a:srgbClr val="F2B8A6"/>
                </a:solidFill>
                <a:latin typeface="Malgun Gothic"/>
              </a:rPr>
              <a:t>기본 목록</a:t>
            </a:r>
          </a:p>
        </p:txBody>
      </p:sp>
      <p:sp>
        <p:nvSpPr>
          <p:cNvPr id="7" name="TextBox 6"/>
          <p:cNvSpPr txBox="1"/>
          <p:nvPr/>
        </p:nvSpPr>
        <p:spPr>
          <a:xfrm>
            <a:off x="868680" y="2468880"/>
            <a:ext cx="4937760" cy="914400"/>
          </a:xfrm>
          <a:prstGeom prst="rect">
            <a:avLst/>
          </a:prstGeom>
          <a:noFill/>
        </p:spPr>
        <p:txBody>
          <a:bodyPr wrap="square" lIns="45720" tIns="18288" rIns="45720" bIns="18288" anchor="t">
            <a:spAutoFit/>
          </a:bodyPr>
          <a:lstStyle/>
          <a:p>
            <a:pPr algn="l">
              <a:lnSpc>
                <a:spcPct val="115000"/>
              </a:lnSpc>
            </a:pPr>
            <a:r>
              <a:rPr sz="2400" b="1">
                <a:solidFill>
                  <a:srgbClr val="FFFFFF"/>
                </a:solidFill>
                <a:latin typeface="Malgun Gothic"/>
              </a:rPr>
              <a:t>소상공인시장진흥공단
상가(상권)정보</a:t>
            </a:r>
          </a:p>
        </p:txBody>
      </p:sp>
      <p:sp>
        <p:nvSpPr>
          <p:cNvPr id="8" name="TextBox 7"/>
          <p:cNvSpPr txBox="1"/>
          <p:nvPr/>
        </p:nvSpPr>
        <p:spPr>
          <a:xfrm>
            <a:off x="868680" y="3520440"/>
            <a:ext cx="4937760" cy="365760"/>
          </a:xfrm>
          <a:prstGeom prst="rect">
            <a:avLst/>
          </a:prstGeom>
          <a:noFill/>
        </p:spPr>
        <p:txBody>
          <a:bodyPr wrap="square" lIns="45720" tIns="18288" rIns="45720" bIns="18288" anchor="t">
            <a:spAutoFit/>
          </a:bodyPr>
          <a:lstStyle/>
          <a:p>
            <a:pPr algn="l">
              <a:lnSpc>
                <a:spcPct val="115000"/>
              </a:lnSpc>
            </a:pPr>
            <a:r>
              <a:rPr sz="1400" b="0">
                <a:solidFill>
                  <a:srgbClr val="D9CFC4"/>
                </a:solidFill>
                <a:latin typeface="Malgun Gothic"/>
              </a:rPr>
              <a:t>2026-06-30 기준 · 공공데이터포털</a:t>
            </a:r>
          </a:p>
        </p:txBody>
      </p:sp>
      <p:sp>
        <p:nvSpPr>
          <p:cNvPr id="9" name="Rectangle 8"/>
          <p:cNvSpPr/>
          <p:nvPr/>
        </p:nvSpPr>
        <p:spPr>
          <a:xfrm>
            <a:off x="868680" y="4114800"/>
            <a:ext cx="4846320" cy="18288"/>
          </a:xfrm>
          <a:prstGeom prst="rect">
            <a:avLst/>
          </a:prstGeom>
          <a:solidFill>
            <a:srgbClr val="5A5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97680"/>
            <a:ext cx="4937760" cy="1554480"/>
          </a:xfrm>
          <a:prstGeom prst="rect">
            <a:avLst/>
          </a:prstGeom>
          <a:noFill/>
        </p:spPr>
        <p:txBody>
          <a:bodyPr wrap="square" lIns="45720" tIns="18288" rIns="45720" bIns="18288" anchor="t">
            <a:spAutoFit/>
          </a:bodyPr>
          <a:lstStyle/>
          <a:p>
            <a:pPr algn="l">
              <a:lnSpc>
                <a:spcPct val="115000"/>
              </a:lnSpc>
            </a:pPr>
            <a:r>
              <a:rPr sz="1500" b="0">
                <a:solidFill>
                  <a:srgbClr val="F3E9DD"/>
                </a:solidFill>
                <a:latin typeface="Malgun Gothic"/>
              </a:rPr>
              <a:t>전국 상가의 업종·주소·좌표가 담긴 표준 데이터</a:t>
            </a:r>
          </a:p>
          <a:p>
            <a:pPr algn="l">
              <a:lnSpc>
                <a:spcPct val="115000"/>
              </a:lnSpc>
            </a:pPr>
            <a:r>
              <a:rPr sz="1500" b="0">
                <a:solidFill>
                  <a:srgbClr val="F3E9DD"/>
                </a:solidFill>
                <a:latin typeface="Malgun Gothic"/>
              </a:rPr>
              <a:t>대구 음식점만 골라 전체 목록의 뼈대로 사용</a:t>
            </a:r>
          </a:p>
        </p:txBody>
      </p:sp>
      <p:sp>
        <p:nvSpPr>
          <p:cNvPr id="11" name="TextBox 10"/>
          <p:cNvSpPr txBox="1"/>
          <p:nvPr/>
        </p:nvSpPr>
        <p:spPr>
          <a:xfrm>
            <a:off x="6400800" y="1828800"/>
            <a:ext cx="5212080" cy="411480"/>
          </a:xfrm>
          <a:prstGeom prst="rect">
            <a:avLst/>
          </a:prstGeom>
          <a:noFill/>
        </p:spPr>
        <p:txBody>
          <a:bodyPr wrap="square" lIns="45720" tIns="18288" rIns="45720" bIns="18288" anchor="t">
            <a:spAutoFit/>
          </a:bodyPr>
          <a:lstStyle/>
          <a:p>
            <a:pPr algn="l">
              <a:lnSpc>
                <a:spcPct val="115000"/>
              </a:lnSpc>
            </a:pPr>
            <a:r>
              <a:rPr sz="1600" b="1">
                <a:solidFill>
                  <a:srgbClr val="2E2A26"/>
                </a:solidFill>
                <a:latin typeface="Malgun Gothic"/>
              </a:rPr>
              <a:t>상가정보에 빠진 가게는 구청 영업 명단으로 보충  +3,515곳</a:t>
            </a:r>
          </a:p>
        </p:txBody>
      </p:sp>
      <p:sp>
        <p:nvSpPr>
          <p:cNvPr id="12" name="Rounded Rectangle 11"/>
          <p:cNvSpPr/>
          <p:nvPr/>
        </p:nvSpPr>
        <p:spPr>
          <a:xfrm>
            <a:off x="6400800" y="2377440"/>
            <a:ext cx="5212080" cy="621792"/>
          </a:xfrm>
          <a:prstGeom prst="roundRect">
            <a:avLst>
              <a:gd name="adj" fmla="val 1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377440"/>
            <a:ext cx="1005840" cy="621792"/>
          </a:xfrm>
          <a:prstGeom prst="rect">
            <a:avLst/>
          </a:prstGeom>
          <a:noFill/>
        </p:spPr>
        <p:txBody>
          <a:bodyPr wrap="square" lIns="45720" tIns="18288" rIns="45720" bIns="18288" anchor="ctr">
            <a:spAutoFit/>
          </a:bodyPr>
          <a:lstStyle/>
          <a:p>
            <a:pPr algn="l">
              <a:lnSpc>
                <a:spcPct val="115000"/>
              </a:lnSpc>
            </a:pPr>
            <a:r>
              <a:rPr sz="1600" b="1">
                <a:solidFill>
                  <a:srgbClr val="E4572E"/>
                </a:solidFill>
                <a:latin typeface="Malgun Gothic"/>
              </a:rPr>
              <a:t>북구</a:t>
            </a:r>
          </a:p>
        </p:txBody>
      </p:sp>
      <p:sp>
        <p:nvSpPr>
          <p:cNvPr id="14" name="TextBox 13"/>
          <p:cNvSpPr txBox="1"/>
          <p:nvPr/>
        </p:nvSpPr>
        <p:spPr>
          <a:xfrm>
            <a:off x="7498079" y="2377440"/>
            <a:ext cx="2926080" cy="621792"/>
          </a:xfrm>
          <a:prstGeom prst="rect">
            <a:avLst/>
          </a:prstGeom>
          <a:noFill/>
        </p:spPr>
        <p:txBody>
          <a:bodyPr wrap="square" lIns="45720" tIns="18288" rIns="45720" bIns="18288" anchor="ctr">
            <a:spAutoFit/>
          </a:bodyPr>
          <a:lstStyle/>
          <a:p>
            <a:pPr algn="l">
              <a:lnSpc>
                <a:spcPct val="115000"/>
              </a:lnSpc>
            </a:pPr>
            <a:r>
              <a:rPr sz="1300" b="0">
                <a:solidFill>
                  <a:srgbClr val="2E2A26"/>
                </a:solidFill>
                <a:latin typeface="Malgun Gothic"/>
              </a:rPr>
              <a:t>식품접객업</a:t>
            </a:r>
          </a:p>
        </p:txBody>
      </p:sp>
      <p:sp>
        <p:nvSpPr>
          <p:cNvPr id="15" name="TextBox 14"/>
          <p:cNvSpPr txBox="1"/>
          <p:nvPr/>
        </p:nvSpPr>
        <p:spPr>
          <a:xfrm>
            <a:off x="10241280" y="2377440"/>
            <a:ext cx="1280160" cy="621792"/>
          </a:xfrm>
          <a:prstGeom prst="rect">
            <a:avLst/>
          </a:prstGeom>
          <a:noFill/>
        </p:spPr>
        <p:txBody>
          <a:bodyPr wrap="square" lIns="45720" tIns="18288" rIns="45720" bIns="18288" anchor="ctr">
            <a:spAutoFit/>
          </a:bodyPr>
          <a:lstStyle/>
          <a:p>
            <a:pPr algn="r">
              <a:lnSpc>
                <a:spcPct val="115000"/>
              </a:lnSpc>
            </a:pPr>
            <a:r>
              <a:rPr sz="1200" b="0">
                <a:solidFill>
                  <a:srgbClr val="6E655C"/>
                </a:solidFill>
                <a:latin typeface="Malgun Gothic"/>
              </a:rPr>
              <a:t>2026-07-25</a:t>
            </a:r>
          </a:p>
        </p:txBody>
      </p:sp>
      <p:sp>
        <p:nvSpPr>
          <p:cNvPr id="16" name="Rounded Rectangle 15"/>
          <p:cNvSpPr/>
          <p:nvPr/>
        </p:nvSpPr>
        <p:spPr>
          <a:xfrm>
            <a:off x="6400800" y="3108960"/>
            <a:ext cx="5212080" cy="621792"/>
          </a:xfrm>
          <a:prstGeom prst="roundRect">
            <a:avLst>
              <a:gd name="adj" fmla="val 1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3108960"/>
            <a:ext cx="1005840" cy="621792"/>
          </a:xfrm>
          <a:prstGeom prst="rect">
            <a:avLst/>
          </a:prstGeom>
          <a:noFill/>
        </p:spPr>
        <p:txBody>
          <a:bodyPr wrap="square" lIns="45720" tIns="18288" rIns="45720" bIns="18288" anchor="ctr">
            <a:spAutoFit/>
          </a:bodyPr>
          <a:lstStyle/>
          <a:p>
            <a:pPr algn="l">
              <a:lnSpc>
                <a:spcPct val="115000"/>
              </a:lnSpc>
            </a:pPr>
            <a:r>
              <a:rPr sz="1600" b="1">
                <a:solidFill>
                  <a:srgbClr val="E4572E"/>
                </a:solidFill>
                <a:latin typeface="Malgun Gothic"/>
              </a:rPr>
              <a:t>서구</a:t>
            </a:r>
          </a:p>
        </p:txBody>
      </p:sp>
      <p:sp>
        <p:nvSpPr>
          <p:cNvPr id="18" name="TextBox 17"/>
          <p:cNvSpPr txBox="1"/>
          <p:nvPr/>
        </p:nvSpPr>
        <p:spPr>
          <a:xfrm>
            <a:off x="7498079" y="3108960"/>
            <a:ext cx="2926080" cy="621792"/>
          </a:xfrm>
          <a:prstGeom prst="rect">
            <a:avLst/>
          </a:prstGeom>
          <a:noFill/>
        </p:spPr>
        <p:txBody>
          <a:bodyPr wrap="square" lIns="45720" tIns="18288" rIns="45720" bIns="18288" anchor="ctr">
            <a:spAutoFit/>
          </a:bodyPr>
          <a:lstStyle/>
          <a:p>
            <a:pPr algn="l">
              <a:lnSpc>
                <a:spcPct val="115000"/>
              </a:lnSpc>
            </a:pPr>
            <a:r>
              <a:rPr sz="1300" b="0">
                <a:solidFill>
                  <a:srgbClr val="2E2A26"/>
                </a:solidFill>
                <a:latin typeface="Malgun Gothic"/>
              </a:rPr>
              <a:t>식품위생업소 현황</a:t>
            </a:r>
          </a:p>
        </p:txBody>
      </p:sp>
      <p:sp>
        <p:nvSpPr>
          <p:cNvPr id="19" name="TextBox 18"/>
          <p:cNvSpPr txBox="1"/>
          <p:nvPr/>
        </p:nvSpPr>
        <p:spPr>
          <a:xfrm>
            <a:off x="10241280" y="3108960"/>
            <a:ext cx="1280160" cy="621792"/>
          </a:xfrm>
          <a:prstGeom prst="rect">
            <a:avLst/>
          </a:prstGeom>
          <a:noFill/>
        </p:spPr>
        <p:txBody>
          <a:bodyPr wrap="square" lIns="45720" tIns="18288" rIns="45720" bIns="18288" anchor="ctr">
            <a:spAutoFit/>
          </a:bodyPr>
          <a:lstStyle/>
          <a:p>
            <a:pPr algn="r">
              <a:lnSpc>
                <a:spcPct val="115000"/>
              </a:lnSpc>
            </a:pPr>
            <a:r>
              <a:rPr sz="1200" b="0">
                <a:solidFill>
                  <a:srgbClr val="6E655C"/>
                </a:solidFill>
                <a:latin typeface="Malgun Gothic"/>
              </a:rPr>
              <a:t>2026-02-02</a:t>
            </a:r>
          </a:p>
        </p:txBody>
      </p:sp>
      <p:sp>
        <p:nvSpPr>
          <p:cNvPr id="20" name="Rounded Rectangle 19"/>
          <p:cNvSpPr/>
          <p:nvPr/>
        </p:nvSpPr>
        <p:spPr>
          <a:xfrm>
            <a:off x="6400800" y="3840480"/>
            <a:ext cx="5212080" cy="621792"/>
          </a:xfrm>
          <a:prstGeom prst="roundRect">
            <a:avLst>
              <a:gd name="adj" fmla="val 1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3840480"/>
            <a:ext cx="1005840" cy="621792"/>
          </a:xfrm>
          <a:prstGeom prst="rect">
            <a:avLst/>
          </a:prstGeom>
          <a:noFill/>
        </p:spPr>
        <p:txBody>
          <a:bodyPr wrap="square" lIns="45720" tIns="18288" rIns="45720" bIns="18288" anchor="ctr">
            <a:spAutoFit/>
          </a:bodyPr>
          <a:lstStyle/>
          <a:p>
            <a:pPr algn="l">
              <a:lnSpc>
                <a:spcPct val="115000"/>
              </a:lnSpc>
            </a:pPr>
            <a:r>
              <a:rPr sz="1600" b="1">
                <a:solidFill>
                  <a:srgbClr val="E4572E"/>
                </a:solidFill>
                <a:latin typeface="Malgun Gothic"/>
              </a:rPr>
              <a:t>남구</a:t>
            </a:r>
          </a:p>
        </p:txBody>
      </p:sp>
      <p:sp>
        <p:nvSpPr>
          <p:cNvPr id="22" name="TextBox 21"/>
          <p:cNvSpPr txBox="1"/>
          <p:nvPr/>
        </p:nvSpPr>
        <p:spPr>
          <a:xfrm>
            <a:off x="7498079" y="3840480"/>
            <a:ext cx="2926080" cy="621792"/>
          </a:xfrm>
          <a:prstGeom prst="rect">
            <a:avLst/>
          </a:prstGeom>
          <a:noFill/>
        </p:spPr>
        <p:txBody>
          <a:bodyPr wrap="square" lIns="45720" tIns="18288" rIns="45720" bIns="18288" anchor="ctr">
            <a:spAutoFit/>
          </a:bodyPr>
          <a:lstStyle/>
          <a:p>
            <a:pPr algn="l">
              <a:lnSpc>
                <a:spcPct val="115000"/>
              </a:lnSpc>
            </a:pPr>
            <a:r>
              <a:rPr sz="1300" b="0">
                <a:solidFill>
                  <a:srgbClr val="2E2A26"/>
                </a:solidFill>
                <a:latin typeface="Malgun Gothic"/>
              </a:rPr>
              <a:t>식품위생업소현황</a:t>
            </a:r>
          </a:p>
        </p:txBody>
      </p:sp>
      <p:sp>
        <p:nvSpPr>
          <p:cNvPr id="23" name="TextBox 22"/>
          <p:cNvSpPr txBox="1"/>
          <p:nvPr/>
        </p:nvSpPr>
        <p:spPr>
          <a:xfrm>
            <a:off x="10241280" y="3840480"/>
            <a:ext cx="1280160" cy="621792"/>
          </a:xfrm>
          <a:prstGeom prst="rect">
            <a:avLst/>
          </a:prstGeom>
          <a:noFill/>
        </p:spPr>
        <p:txBody>
          <a:bodyPr wrap="square" lIns="45720" tIns="18288" rIns="45720" bIns="18288" anchor="ctr">
            <a:spAutoFit/>
          </a:bodyPr>
          <a:lstStyle/>
          <a:p>
            <a:pPr algn="r">
              <a:lnSpc>
                <a:spcPct val="115000"/>
              </a:lnSpc>
            </a:pPr>
            <a:r>
              <a:rPr sz="1200" b="0">
                <a:solidFill>
                  <a:srgbClr val="6E655C"/>
                </a:solidFill>
                <a:latin typeface="Malgun Gothic"/>
              </a:rPr>
              <a:t>2026-06-20</a:t>
            </a:r>
          </a:p>
        </p:txBody>
      </p:sp>
      <p:sp>
        <p:nvSpPr>
          <p:cNvPr id="24" name="Rounded Rectangle 23"/>
          <p:cNvSpPr/>
          <p:nvPr/>
        </p:nvSpPr>
        <p:spPr>
          <a:xfrm>
            <a:off x="6400800" y="4572000"/>
            <a:ext cx="5212080" cy="621792"/>
          </a:xfrm>
          <a:prstGeom prst="roundRect">
            <a:avLst>
              <a:gd name="adj" fmla="val 1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572000"/>
            <a:ext cx="1005840" cy="621792"/>
          </a:xfrm>
          <a:prstGeom prst="rect">
            <a:avLst/>
          </a:prstGeom>
          <a:noFill/>
        </p:spPr>
        <p:txBody>
          <a:bodyPr wrap="square" lIns="45720" tIns="18288" rIns="45720" bIns="18288" anchor="ctr">
            <a:spAutoFit/>
          </a:bodyPr>
          <a:lstStyle/>
          <a:p>
            <a:pPr algn="l">
              <a:lnSpc>
                <a:spcPct val="115000"/>
              </a:lnSpc>
            </a:pPr>
            <a:r>
              <a:rPr sz="1600" b="1">
                <a:solidFill>
                  <a:srgbClr val="E4572E"/>
                </a:solidFill>
                <a:latin typeface="Malgun Gothic"/>
              </a:rPr>
              <a:t>달서구</a:t>
            </a:r>
          </a:p>
        </p:txBody>
      </p:sp>
      <p:sp>
        <p:nvSpPr>
          <p:cNvPr id="26" name="TextBox 25"/>
          <p:cNvSpPr txBox="1"/>
          <p:nvPr/>
        </p:nvSpPr>
        <p:spPr>
          <a:xfrm>
            <a:off x="7498079" y="4572000"/>
            <a:ext cx="2926080" cy="621792"/>
          </a:xfrm>
          <a:prstGeom prst="rect">
            <a:avLst/>
          </a:prstGeom>
          <a:noFill/>
        </p:spPr>
        <p:txBody>
          <a:bodyPr wrap="square" lIns="45720" tIns="18288" rIns="45720" bIns="18288" anchor="ctr">
            <a:spAutoFit/>
          </a:bodyPr>
          <a:lstStyle/>
          <a:p>
            <a:pPr algn="l">
              <a:lnSpc>
                <a:spcPct val="115000"/>
              </a:lnSpc>
            </a:pPr>
            <a:r>
              <a:rPr sz="1300" b="0">
                <a:solidFill>
                  <a:srgbClr val="2E2A26"/>
                </a:solidFill>
                <a:latin typeface="Malgun Gothic"/>
              </a:rPr>
              <a:t>식품접객업소 현황 (휴게음식점)</a:t>
            </a:r>
          </a:p>
        </p:txBody>
      </p:sp>
      <p:sp>
        <p:nvSpPr>
          <p:cNvPr id="27" name="TextBox 26"/>
          <p:cNvSpPr txBox="1"/>
          <p:nvPr/>
        </p:nvSpPr>
        <p:spPr>
          <a:xfrm>
            <a:off x="10241280" y="4572000"/>
            <a:ext cx="1280160" cy="621792"/>
          </a:xfrm>
          <a:prstGeom prst="rect">
            <a:avLst/>
          </a:prstGeom>
          <a:noFill/>
        </p:spPr>
        <p:txBody>
          <a:bodyPr wrap="square" lIns="45720" tIns="18288" rIns="45720" bIns="18288" anchor="ctr">
            <a:spAutoFit/>
          </a:bodyPr>
          <a:lstStyle/>
          <a:p>
            <a:pPr algn="r">
              <a:lnSpc>
                <a:spcPct val="115000"/>
              </a:lnSpc>
            </a:pPr>
            <a:r>
              <a:rPr sz="1200" b="0">
                <a:solidFill>
                  <a:srgbClr val="6E655C"/>
                </a:solidFill>
                <a:latin typeface="Malgun Gothic"/>
              </a:rPr>
              <a:t>2026-05-08</a:t>
            </a:r>
          </a:p>
        </p:txBody>
      </p:sp>
      <p:sp>
        <p:nvSpPr>
          <p:cNvPr id="28" name="Rounded Rectangle 27"/>
          <p:cNvSpPr/>
          <p:nvPr/>
        </p:nvSpPr>
        <p:spPr>
          <a:xfrm>
            <a:off x="6400800" y="5303520"/>
            <a:ext cx="5212080" cy="621792"/>
          </a:xfrm>
          <a:prstGeom prst="roundRect">
            <a:avLst>
              <a:gd name="adj" fmla="val 1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5303520"/>
            <a:ext cx="1005840" cy="621792"/>
          </a:xfrm>
          <a:prstGeom prst="rect">
            <a:avLst/>
          </a:prstGeom>
          <a:noFill/>
        </p:spPr>
        <p:txBody>
          <a:bodyPr wrap="square" lIns="45720" tIns="18288" rIns="45720" bIns="18288" anchor="ctr">
            <a:spAutoFit/>
          </a:bodyPr>
          <a:lstStyle/>
          <a:p>
            <a:pPr algn="l">
              <a:lnSpc>
                <a:spcPct val="115000"/>
              </a:lnSpc>
            </a:pPr>
            <a:r>
              <a:rPr sz="1600" b="1">
                <a:solidFill>
                  <a:srgbClr val="E4572E"/>
                </a:solidFill>
                <a:latin typeface="Malgun Gothic"/>
              </a:rPr>
              <a:t>달성군</a:t>
            </a:r>
          </a:p>
        </p:txBody>
      </p:sp>
      <p:sp>
        <p:nvSpPr>
          <p:cNvPr id="30" name="TextBox 29"/>
          <p:cNvSpPr txBox="1"/>
          <p:nvPr/>
        </p:nvSpPr>
        <p:spPr>
          <a:xfrm>
            <a:off x="7498079" y="5303520"/>
            <a:ext cx="2926080" cy="621792"/>
          </a:xfrm>
          <a:prstGeom prst="rect">
            <a:avLst/>
          </a:prstGeom>
          <a:noFill/>
        </p:spPr>
        <p:txBody>
          <a:bodyPr wrap="square" lIns="45720" tIns="18288" rIns="45720" bIns="18288" anchor="ctr">
            <a:spAutoFit/>
          </a:bodyPr>
          <a:lstStyle/>
          <a:p>
            <a:pPr algn="l">
              <a:lnSpc>
                <a:spcPct val="115000"/>
              </a:lnSpc>
            </a:pPr>
            <a:r>
              <a:rPr sz="1300" b="0">
                <a:solidFill>
                  <a:srgbClr val="2E2A26"/>
                </a:solidFill>
                <a:latin typeface="Malgun Gothic"/>
              </a:rPr>
              <a:t>휴게음식점 현황</a:t>
            </a:r>
          </a:p>
        </p:txBody>
      </p:sp>
      <p:sp>
        <p:nvSpPr>
          <p:cNvPr id="31" name="TextBox 30"/>
          <p:cNvSpPr txBox="1"/>
          <p:nvPr/>
        </p:nvSpPr>
        <p:spPr>
          <a:xfrm>
            <a:off x="10241280" y="5303520"/>
            <a:ext cx="1280160" cy="621792"/>
          </a:xfrm>
          <a:prstGeom prst="rect">
            <a:avLst/>
          </a:prstGeom>
          <a:noFill/>
        </p:spPr>
        <p:txBody>
          <a:bodyPr wrap="square" lIns="45720" tIns="18288" rIns="45720" bIns="18288" anchor="ctr">
            <a:spAutoFit/>
          </a:bodyPr>
          <a:lstStyle/>
          <a:p>
            <a:pPr algn="r">
              <a:lnSpc>
                <a:spcPct val="115000"/>
              </a:lnSpc>
            </a:pPr>
            <a:r>
              <a:rPr sz="1200" b="0">
                <a:solidFill>
                  <a:srgbClr val="6E655C"/>
                </a:solidFill>
                <a:latin typeface="Malgun Gothic"/>
              </a:rPr>
              <a:t>2026-06-24</a:t>
            </a:r>
          </a:p>
        </p:txBody>
      </p:sp>
      <p:sp>
        <p:nvSpPr>
          <p:cNvPr id="32" name="Rectangle 31"/>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출처: 공공데이터포털 data.go.kr (15083033, 15006336, 15092713, 3072264, 15084548, 15127422)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04  데이터 확인 범위</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어디까지 확인했나</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기관이 공개한 원본을 그대로 썼고, 출처와 건수 중심으로 확인했어요</a:t>
            </a:r>
          </a:p>
        </p:txBody>
      </p:sp>
      <p:sp>
        <p:nvSpPr>
          <p:cNvPr id="6" name="Rounded Rectangle 5"/>
          <p:cNvSpPr/>
          <p:nvPr/>
        </p:nvSpPr>
        <p:spPr>
          <a:xfrm>
            <a:off x="548640" y="1965960"/>
            <a:ext cx="5440680" cy="342900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965960"/>
            <a:ext cx="5440680" cy="109728"/>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240280"/>
            <a:ext cx="4754880" cy="457200"/>
          </a:xfrm>
          <a:prstGeom prst="rect">
            <a:avLst/>
          </a:prstGeom>
          <a:noFill/>
        </p:spPr>
        <p:txBody>
          <a:bodyPr wrap="square" lIns="45720" tIns="18288" rIns="45720" bIns="18288" anchor="t">
            <a:spAutoFit/>
          </a:bodyPr>
          <a:lstStyle/>
          <a:p>
            <a:pPr algn="l">
              <a:lnSpc>
                <a:spcPct val="115000"/>
              </a:lnSpc>
            </a:pPr>
            <a:r>
              <a:rPr sz="2000" b="1">
                <a:solidFill>
                  <a:srgbClr val="2E9E6B"/>
                </a:solidFill>
                <a:latin typeface="Malgun Gothic"/>
              </a:rPr>
              <a:t>확인한 것</a:t>
            </a:r>
          </a:p>
        </p:txBody>
      </p:sp>
      <p:sp>
        <p:nvSpPr>
          <p:cNvPr id="9" name="Oval 8"/>
          <p:cNvSpPr/>
          <p:nvPr/>
        </p:nvSpPr>
        <p:spPr>
          <a:xfrm>
            <a:off x="868680" y="2971800"/>
            <a:ext cx="411480" cy="41148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10" name="TextBox 9"/>
          <p:cNvSpPr txBox="1"/>
          <p:nvPr/>
        </p:nvSpPr>
        <p:spPr>
          <a:xfrm>
            <a:off x="1463040" y="2926080"/>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출처 링크가 열리고 데이터 이름·기준일이 맞는지</a:t>
            </a:r>
          </a:p>
        </p:txBody>
      </p:sp>
      <p:sp>
        <p:nvSpPr>
          <p:cNvPr id="11" name="Oval 10"/>
          <p:cNvSpPr/>
          <p:nvPr/>
        </p:nvSpPr>
        <p:spPr>
          <a:xfrm>
            <a:off x="868680" y="3721608"/>
            <a:ext cx="411480" cy="41148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12" name="TextBox 11"/>
          <p:cNvSpPr txBox="1"/>
          <p:nvPr/>
        </p:nvSpPr>
        <p:spPr>
          <a:xfrm>
            <a:off x="1463040" y="3675888"/>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원본 명단 건수와 사이트에 연결된 가게 수</a:t>
            </a:r>
          </a:p>
        </p:txBody>
      </p:sp>
      <p:sp>
        <p:nvSpPr>
          <p:cNvPr id="13" name="Oval 12"/>
          <p:cNvSpPr/>
          <p:nvPr/>
        </p:nvSpPr>
        <p:spPr>
          <a:xfrm>
            <a:off x="868680" y="4471416"/>
            <a:ext cx="411480" cy="41148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14" name="TextBox 13"/>
          <p:cNvSpPr txBox="1"/>
          <p:nvPr/>
        </p:nvSpPr>
        <p:spPr>
          <a:xfrm>
            <a:off x="1463040" y="4425696"/>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명단을 주소·상호로 상가정보 가게에 연결</a:t>
            </a:r>
          </a:p>
        </p:txBody>
      </p:sp>
      <p:sp>
        <p:nvSpPr>
          <p:cNvPr id="15" name="Rounded Rectangle 14"/>
          <p:cNvSpPr/>
          <p:nvPr/>
        </p:nvSpPr>
        <p:spPr>
          <a:xfrm>
            <a:off x="6199631" y="1965960"/>
            <a:ext cx="5440680" cy="342900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99631" y="1965960"/>
            <a:ext cx="5440680" cy="109728"/>
          </a:xfrm>
          <a:prstGeom prst="rect">
            <a:avLst/>
          </a:prstGeom>
          <a:solidFill>
            <a:srgbClr val="8A8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9671" y="2240280"/>
            <a:ext cx="4754880" cy="457200"/>
          </a:xfrm>
          <a:prstGeom prst="rect">
            <a:avLst/>
          </a:prstGeom>
          <a:noFill/>
        </p:spPr>
        <p:txBody>
          <a:bodyPr wrap="square" lIns="45720" tIns="18288" rIns="45720" bIns="18288" anchor="t">
            <a:spAutoFit/>
          </a:bodyPr>
          <a:lstStyle/>
          <a:p>
            <a:pPr algn="l">
              <a:lnSpc>
                <a:spcPct val="115000"/>
              </a:lnSpc>
            </a:pPr>
            <a:r>
              <a:rPr sz="2000" b="1">
                <a:solidFill>
                  <a:srgbClr val="8A8178"/>
                </a:solidFill>
                <a:latin typeface="Malgun Gothic"/>
              </a:rPr>
              <a:t>하지 않은 것</a:t>
            </a:r>
          </a:p>
        </p:txBody>
      </p:sp>
      <p:sp>
        <p:nvSpPr>
          <p:cNvPr id="18" name="Oval 17"/>
          <p:cNvSpPr/>
          <p:nvPr/>
        </p:nvSpPr>
        <p:spPr>
          <a:xfrm>
            <a:off x="6519671" y="2971800"/>
            <a:ext cx="411480" cy="411480"/>
          </a:xfrm>
          <a:prstGeom prst="ellipse">
            <a:avLst/>
          </a:prstGeom>
          <a:solidFill>
            <a:srgbClr val="8A817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19" name="TextBox 18"/>
          <p:cNvSpPr txBox="1"/>
          <p:nvPr/>
        </p:nvSpPr>
        <p:spPr>
          <a:xfrm>
            <a:off x="7114031" y="2926080"/>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서로 다른 출처 사이의 교차 검증</a:t>
            </a:r>
          </a:p>
        </p:txBody>
      </p:sp>
      <p:sp>
        <p:nvSpPr>
          <p:cNvPr id="20" name="Oval 19"/>
          <p:cNvSpPr/>
          <p:nvPr/>
        </p:nvSpPr>
        <p:spPr>
          <a:xfrm>
            <a:off x="6519671" y="3721608"/>
            <a:ext cx="411480" cy="411480"/>
          </a:xfrm>
          <a:prstGeom prst="ellipse">
            <a:avLst/>
          </a:prstGeom>
          <a:solidFill>
            <a:srgbClr val="8A817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21" name="TextBox 20"/>
          <p:cNvSpPr txBox="1"/>
          <p:nvPr/>
        </p:nvSpPr>
        <p:spPr>
          <a:xfrm>
            <a:off x="7114031" y="3675888"/>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실제 영업·폐업 여부 현장 확인</a:t>
            </a:r>
          </a:p>
        </p:txBody>
      </p:sp>
      <p:sp>
        <p:nvSpPr>
          <p:cNvPr id="22" name="Oval 21"/>
          <p:cNvSpPr/>
          <p:nvPr/>
        </p:nvSpPr>
        <p:spPr>
          <a:xfrm>
            <a:off x="6519671" y="4471416"/>
            <a:ext cx="411480" cy="411480"/>
          </a:xfrm>
          <a:prstGeom prst="ellipse">
            <a:avLst/>
          </a:prstGeom>
          <a:solidFill>
            <a:srgbClr val="8A817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a:t>
            </a:r>
          </a:p>
        </p:txBody>
      </p:sp>
      <p:sp>
        <p:nvSpPr>
          <p:cNvPr id="23" name="TextBox 22"/>
          <p:cNvSpPr txBox="1"/>
          <p:nvPr/>
        </p:nvSpPr>
        <p:spPr>
          <a:xfrm>
            <a:off x="7114031" y="4425696"/>
            <a:ext cx="4343400" cy="502920"/>
          </a:xfrm>
          <a:prstGeom prst="rect">
            <a:avLst/>
          </a:prstGeom>
          <a:noFill/>
        </p:spPr>
        <p:txBody>
          <a:bodyPr wrap="square" lIns="45720" tIns="18288" rIns="45720" bIns="18288" anchor="ctr">
            <a:spAutoFit/>
          </a:bodyPr>
          <a:lstStyle/>
          <a:p>
            <a:pPr algn="l">
              <a:lnSpc>
                <a:spcPct val="115000"/>
              </a:lnSpc>
            </a:pPr>
            <a:r>
              <a:rPr sz="1500" b="0">
                <a:solidFill>
                  <a:srgbClr val="2E2A26"/>
                </a:solidFill>
                <a:latin typeface="Malgun Gothic"/>
              </a:rPr>
              <a:t>원본 데이터 자체의 오류 점검</a:t>
            </a:r>
          </a:p>
        </p:txBody>
      </p:sp>
      <p:sp>
        <p:nvSpPr>
          <p:cNvPr id="24" name="Rounded Rectangle 23"/>
          <p:cNvSpPr/>
          <p:nvPr/>
        </p:nvSpPr>
        <p:spPr>
          <a:xfrm>
            <a:off x="548640" y="5577840"/>
            <a:ext cx="11091672" cy="594360"/>
          </a:xfrm>
          <a:prstGeom prst="roundRect">
            <a:avLst>
              <a:gd name="adj" fmla="val 3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577840"/>
            <a:ext cx="10607040" cy="594360"/>
          </a:xfrm>
          <a:prstGeom prst="rect">
            <a:avLst/>
          </a:prstGeom>
          <a:noFill/>
        </p:spPr>
        <p:txBody>
          <a:bodyPr wrap="square" lIns="45720" tIns="18288" rIns="45720" bIns="18288" anchor="ctr">
            <a:spAutoFit/>
          </a:bodyPr>
          <a:lstStyle/>
          <a:p>
            <a:pPr algn="l">
              <a:lnSpc>
                <a:spcPct val="115000"/>
              </a:lnSpc>
            </a:pPr>
            <a:r>
              <a:rPr sz="1400" b="1">
                <a:solidFill>
                  <a:srgbClr val="B23A1B"/>
                </a:solidFill>
                <a:latin typeface="Malgun Gothic"/>
              </a:rPr>
              <a:t>각 기관 데이터의 기준일 이후 바뀐 내용(폐업·신규 지정 등)은 반영되지 않았을 수 있어요</a:t>
            </a:r>
          </a:p>
        </p:txBody>
      </p:sp>
      <p:sp>
        <p:nvSpPr>
          <p:cNvPr id="26" name="Rectangle 25"/>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확인일 2026-10-29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05  앞으로의 방향</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dirty="0" err="1">
                <a:solidFill>
                  <a:srgbClr val="2E2A26"/>
                </a:solidFill>
                <a:latin typeface="Malgun Gothic"/>
              </a:rPr>
              <a:t>먼저</a:t>
            </a:r>
            <a:r>
              <a:rPr sz="3000" b="1" dirty="0">
                <a:solidFill>
                  <a:srgbClr val="2E2A26"/>
                </a:solidFill>
                <a:latin typeface="Malgun Gothic"/>
              </a:rPr>
              <a:t> </a:t>
            </a:r>
            <a:r>
              <a:rPr sz="3000" b="1" dirty="0" err="1">
                <a:solidFill>
                  <a:srgbClr val="2E2A26"/>
                </a:solidFill>
                <a:latin typeface="Malgun Gothic"/>
              </a:rPr>
              <a:t>기준을</a:t>
            </a:r>
            <a:r>
              <a:rPr sz="3000" b="1" dirty="0">
                <a:solidFill>
                  <a:srgbClr val="2E2A26"/>
                </a:solidFill>
                <a:latin typeface="Malgun Gothic"/>
              </a:rPr>
              <a:t> </a:t>
            </a:r>
            <a:r>
              <a:rPr sz="3000" b="1" dirty="0" err="1">
                <a:solidFill>
                  <a:srgbClr val="2E2A26"/>
                </a:solidFill>
                <a:latin typeface="Malgun Gothic"/>
              </a:rPr>
              <a:t>세우고</a:t>
            </a:r>
            <a:r>
              <a:rPr sz="3000" b="1" dirty="0">
                <a:solidFill>
                  <a:srgbClr val="2E2A26"/>
                </a:solidFill>
                <a:latin typeface="Malgun Gothic"/>
              </a:rPr>
              <a:t>, </a:t>
            </a:r>
            <a:r>
              <a:rPr sz="3000" b="1" dirty="0" err="1">
                <a:solidFill>
                  <a:srgbClr val="2E2A26"/>
                </a:solidFill>
                <a:latin typeface="Malgun Gothic"/>
              </a:rPr>
              <a:t>넓히고</a:t>
            </a:r>
            <a:r>
              <a:rPr sz="3000" b="1" dirty="0">
                <a:solidFill>
                  <a:srgbClr val="2E2A26"/>
                </a:solidFill>
                <a:latin typeface="Malgun Gothic"/>
              </a:rPr>
              <a:t>, </a:t>
            </a:r>
            <a:r>
              <a:rPr sz="3000" b="1" dirty="0" err="1">
                <a:solidFill>
                  <a:srgbClr val="2E2A26"/>
                </a:solidFill>
                <a:latin typeface="Malgun Gothic"/>
              </a:rPr>
              <a:t>다지기</a:t>
            </a:r>
            <a:endParaRPr sz="3000" b="1" dirty="0">
              <a:solidFill>
                <a:srgbClr val="2E2A26"/>
              </a:solidFill>
              <a:latin typeface="Malgun Gothic"/>
            </a:endParaRPr>
          </a:p>
        </p:txBody>
      </p:sp>
      <p:sp>
        <p:nvSpPr>
          <p:cNvPr id="5" name="Rounded Rectangle 4"/>
          <p:cNvSpPr/>
          <p:nvPr/>
        </p:nvSpPr>
        <p:spPr>
          <a:xfrm>
            <a:off x="548640" y="1691640"/>
            <a:ext cx="3520440" cy="3886200"/>
          </a:xfrm>
          <a:prstGeom prst="roundRect">
            <a:avLst>
              <a:gd name="adj" fmla="val 5000"/>
            </a:avLst>
          </a:prstGeom>
          <a:solidFill>
            <a:srgbClr val="FFFFFF"/>
          </a:solidFill>
          <a:ln w="12700">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91640"/>
            <a:ext cx="3520440" cy="10972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788920" y="2011680"/>
            <a:ext cx="1005840" cy="365760"/>
          </a:xfrm>
          <a:prstGeom prst="roundRect">
            <a:avLst>
              <a:gd name="adj" fmla="val 50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FFFFFF"/>
                </a:solidFill>
                <a:latin typeface="Malgun Gothic"/>
              </a:rPr>
              <a:t>지금 여기</a:t>
            </a:r>
          </a:p>
        </p:txBody>
      </p:sp>
      <p:sp>
        <p:nvSpPr>
          <p:cNvPr id="8" name="TextBox 7"/>
          <p:cNvSpPr txBox="1"/>
          <p:nvPr/>
        </p:nvSpPr>
        <p:spPr>
          <a:xfrm>
            <a:off x="624841" y="1938528"/>
            <a:ext cx="3017520" cy="548640"/>
          </a:xfrm>
          <a:prstGeom prst="rect">
            <a:avLst/>
          </a:prstGeom>
          <a:noFill/>
        </p:spPr>
        <p:txBody>
          <a:bodyPr wrap="square" lIns="45720" tIns="18288" rIns="45720" bIns="18288" anchor="t">
            <a:spAutoFit/>
          </a:bodyPr>
          <a:lstStyle/>
          <a:p>
            <a:pPr algn="l">
              <a:lnSpc>
                <a:spcPct val="115000"/>
              </a:lnSpc>
            </a:pPr>
            <a:r>
              <a:rPr sz="2400" b="1" dirty="0">
                <a:solidFill>
                  <a:srgbClr val="E4572E"/>
                </a:solidFill>
                <a:latin typeface="Malgun Gothic"/>
              </a:rPr>
              <a:t>① </a:t>
            </a:r>
            <a:r>
              <a:rPr sz="2400" b="1" dirty="0" err="1">
                <a:solidFill>
                  <a:srgbClr val="E4572E"/>
                </a:solidFill>
                <a:latin typeface="Malgun Gothic"/>
              </a:rPr>
              <a:t>기준</a:t>
            </a:r>
            <a:r>
              <a:rPr sz="2400" b="1" dirty="0">
                <a:solidFill>
                  <a:srgbClr val="E4572E"/>
                </a:solidFill>
                <a:latin typeface="Malgun Gothic"/>
              </a:rPr>
              <a:t> </a:t>
            </a:r>
            <a:r>
              <a:rPr sz="2400" b="1" dirty="0" err="1">
                <a:solidFill>
                  <a:srgbClr val="E4572E"/>
                </a:solidFill>
                <a:latin typeface="Malgun Gothic"/>
              </a:rPr>
              <a:t>세우기</a:t>
            </a:r>
            <a:endParaRPr sz="2400" b="1" dirty="0">
              <a:solidFill>
                <a:srgbClr val="E4572E"/>
              </a:solidFill>
              <a:latin typeface="Malgun Gothic"/>
            </a:endParaRPr>
          </a:p>
        </p:txBody>
      </p:sp>
      <p:sp>
        <p:nvSpPr>
          <p:cNvPr id="9" name="TextBox 8"/>
          <p:cNvSpPr txBox="1"/>
          <p:nvPr/>
        </p:nvSpPr>
        <p:spPr>
          <a:xfrm>
            <a:off x="822959" y="2560320"/>
            <a:ext cx="3017520" cy="365760"/>
          </a:xfrm>
          <a:prstGeom prst="rect">
            <a:avLst/>
          </a:prstGeom>
          <a:noFill/>
        </p:spPr>
        <p:txBody>
          <a:bodyPr wrap="square" lIns="45720" tIns="18288" rIns="45720" bIns="18288" anchor="t">
            <a:spAutoFit/>
          </a:bodyPr>
          <a:lstStyle/>
          <a:p>
            <a:pPr algn="l">
              <a:lnSpc>
                <a:spcPct val="115000"/>
              </a:lnSpc>
            </a:pPr>
            <a:r>
              <a:rPr sz="1400" b="1">
                <a:solidFill>
                  <a:srgbClr val="6E655C"/>
                </a:solidFill>
                <a:latin typeface="Malgun Gothic"/>
              </a:rPr>
              <a:t>어떤 가게를 맛집으로 볼까</a:t>
            </a:r>
          </a:p>
        </p:txBody>
      </p:sp>
      <p:sp>
        <p:nvSpPr>
          <p:cNvPr id="10" name="Rectangle 9"/>
          <p:cNvSpPr/>
          <p:nvPr/>
        </p:nvSpPr>
        <p:spPr>
          <a:xfrm>
            <a:off x="822959" y="301752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41247" y="3337560"/>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154680"/>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'동네가 먹여살린 가게'의 정의 정하기</a:t>
            </a:r>
          </a:p>
        </p:txBody>
      </p:sp>
      <p:sp>
        <p:nvSpPr>
          <p:cNvPr id="13" name="Oval 12"/>
          <p:cNvSpPr/>
          <p:nvPr/>
        </p:nvSpPr>
        <p:spPr>
          <a:xfrm>
            <a:off x="841247" y="4087368"/>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904488"/>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기준을 어떻게 조합하고 무게를 둘지</a:t>
            </a:r>
          </a:p>
        </p:txBody>
      </p:sp>
      <p:sp>
        <p:nvSpPr>
          <p:cNvPr id="15" name="Oval 14"/>
          <p:cNvSpPr/>
          <p:nvPr/>
        </p:nvSpPr>
        <p:spPr>
          <a:xfrm>
            <a:off x="841247" y="4837176"/>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4654296"/>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여러분과 강사님 의견 듣기</a:t>
            </a:r>
          </a:p>
        </p:txBody>
      </p:sp>
      <p:sp>
        <p:nvSpPr>
          <p:cNvPr id="17" name="Rounded Rectangle 16"/>
          <p:cNvSpPr/>
          <p:nvPr/>
        </p:nvSpPr>
        <p:spPr>
          <a:xfrm>
            <a:off x="4297679" y="1691640"/>
            <a:ext cx="3520440" cy="388620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7679" y="1691640"/>
            <a:ext cx="3520440" cy="109728"/>
          </a:xfrm>
          <a:prstGeom prst="rect">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1999" y="1965960"/>
            <a:ext cx="3017520" cy="548640"/>
          </a:xfrm>
          <a:prstGeom prst="rect">
            <a:avLst/>
          </a:prstGeom>
          <a:noFill/>
        </p:spPr>
        <p:txBody>
          <a:bodyPr wrap="square" lIns="45720" tIns="18288" rIns="45720" bIns="18288" anchor="t">
            <a:spAutoFit/>
          </a:bodyPr>
          <a:lstStyle/>
          <a:p>
            <a:pPr algn="l">
              <a:lnSpc>
                <a:spcPct val="115000"/>
              </a:lnSpc>
            </a:pPr>
            <a:r>
              <a:rPr sz="2400" b="1">
                <a:solidFill>
                  <a:srgbClr val="3B7DD8"/>
                </a:solidFill>
                <a:latin typeface="Malgun Gothic"/>
              </a:rPr>
              <a:t>② 넓히기</a:t>
            </a:r>
          </a:p>
        </p:txBody>
      </p:sp>
      <p:sp>
        <p:nvSpPr>
          <p:cNvPr id="20" name="TextBox 19"/>
          <p:cNvSpPr txBox="1"/>
          <p:nvPr/>
        </p:nvSpPr>
        <p:spPr>
          <a:xfrm>
            <a:off x="4571999" y="2560320"/>
            <a:ext cx="3017520" cy="365760"/>
          </a:xfrm>
          <a:prstGeom prst="rect">
            <a:avLst/>
          </a:prstGeom>
          <a:noFill/>
        </p:spPr>
        <p:txBody>
          <a:bodyPr wrap="square" lIns="45720" tIns="18288" rIns="45720" bIns="18288" anchor="t">
            <a:spAutoFit/>
          </a:bodyPr>
          <a:lstStyle/>
          <a:p>
            <a:pPr algn="l">
              <a:lnSpc>
                <a:spcPct val="115000"/>
              </a:lnSpc>
            </a:pPr>
            <a:r>
              <a:rPr sz="1400" b="1">
                <a:solidFill>
                  <a:srgbClr val="6E655C"/>
                </a:solidFill>
                <a:latin typeface="Malgun Gothic"/>
              </a:rPr>
              <a:t>더 많은 지역과 목소리</a:t>
            </a:r>
          </a:p>
        </p:txBody>
      </p:sp>
      <p:sp>
        <p:nvSpPr>
          <p:cNvPr id="21" name="Rectangle 20"/>
          <p:cNvSpPr/>
          <p:nvPr/>
        </p:nvSpPr>
        <p:spPr>
          <a:xfrm>
            <a:off x="4571999" y="301752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590288" y="3337560"/>
            <a:ext cx="109728" cy="109728"/>
          </a:xfrm>
          <a:prstGeom prst="ellipse">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19" y="3154680"/>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'20년 이상 영업'을 9개 구·군으로</a:t>
            </a:r>
          </a:p>
        </p:txBody>
      </p:sp>
      <p:sp>
        <p:nvSpPr>
          <p:cNvPr id="24" name="Oval 23"/>
          <p:cNvSpPr/>
          <p:nvPr/>
        </p:nvSpPr>
        <p:spPr>
          <a:xfrm>
            <a:off x="4590288" y="4087368"/>
            <a:ext cx="109728" cy="109728"/>
          </a:xfrm>
          <a:prstGeom prst="ellipse">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19" y="3904488"/>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명단이 공개되는 구·군 추가</a:t>
            </a:r>
          </a:p>
        </p:txBody>
      </p:sp>
      <p:sp>
        <p:nvSpPr>
          <p:cNvPr id="26" name="Oval 25"/>
          <p:cNvSpPr/>
          <p:nvPr/>
        </p:nvSpPr>
        <p:spPr>
          <a:xfrm>
            <a:off x="4590288" y="4837176"/>
            <a:ext cx="109728" cy="109728"/>
          </a:xfrm>
          <a:prstGeom prst="ellipse">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46319" y="4654296"/>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'찐 대구사람 추천' 찜 쌓기</a:t>
            </a:r>
          </a:p>
        </p:txBody>
      </p:sp>
      <p:sp>
        <p:nvSpPr>
          <p:cNvPr id="28" name="Rounded Rectangle 27"/>
          <p:cNvSpPr/>
          <p:nvPr/>
        </p:nvSpPr>
        <p:spPr>
          <a:xfrm>
            <a:off x="8046719" y="1691640"/>
            <a:ext cx="3520440" cy="388620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46719" y="1691640"/>
            <a:ext cx="3520440" cy="109728"/>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21040" y="1965960"/>
            <a:ext cx="3017520" cy="548640"/>
          </a:xfrm>
          <a:prstGeom prst="rect">
            <a:avLst/>
          </a:prstGeom>
          <a:noFill/>
        </p:spPr>
        <p:txBody>
          <a:bodyPr wrap="square" lIns="45720" tIns="18288" rIns="45720" bIns="18288" anchor="t">
            <a:spAutoFit/>
          </a:bodyPr>
          <a:lstStyle/>
          <a:p>
            <a:pPr algn="l">
              <a:lnSpc>
                <a:spcPct val="115000"/>
              </a:lnSpc>
            </a:pPr>
            <a:r>
              <a:rPr sz="2400" b="1">
                <a:solidFill>
                  <a:srgbClr val="2E9E6B"/>
                </a:solidFill>
                <a:latin typeface="Malgun Gothic"/>
              </a:rPr>
              <a:t>③ 다지기</a:t>
            </a:r>
          </a:p>
        </p:txBody>
      </p:sp>
      <p:sp>
        <p:nvSpPr>
          <p:cNvPr id="31" name="TextBox 30"/>
          <p:cNvSpPr txBox="1"/>
          <p:nvPr/>
        </p:nvSpPr>
        <p:spPr>
          <a:xfrm>
            <a:off x="8321040" y="2560320"/>
            <a:ext cx="3017520" cy="365760"/>
          </a:xfrm>
          <a:prstGeom prst="rect">
            <a:avLst/>
          </a:prstGeom>
          <a:noFill/>
        </p:spPr>
        <p:txBody>
          <a:bodyPr wrap="square" lIns="45720" tIns="18288" rIns="45720" bIns="18288" anchor="t">
            <a:spAutoFit/>
          </a:bodyPr>
          <a:lstStyle/>
          <a:p>
            <a:pPr algn="l">
              <a:lnSpc>
                <a:spcPct val="115000"/>
              </a:lnSpc>
            </a:pPr>
            <a:r>
              <a:rPr sz="1400" b="1">
                <a:solidFill>
                  <a:srgbClr val="6E655C"/>
                </a:solidFill>
                <a:latin typeface="Malgun Gothic"/>
              </a:rPr>
              <a:t>더 믿을 수 있게</a:t>
            </a:r>
          </a:p>
        </p:txBody>
      </p:sp>
      <p:sp>
        <p:nvSpPr>
          <p:cNvPr id="32" name="Rectangle 31"/>
          <p:cNvSpPr/>
          <p:nvPr/>
        </p:nvSpPr>
        <p:spPr>
          <a:xfrm>
            <a:off x="8321040" y="301752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339327" y="3337560"/>
            <a:ext cx="109728" cy="10972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95359" y="3154680"/>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서로 다른 출처 사이의 교차 검증</a:t>
            </a:r>
          </a:p>
        </p:txBody>
      </p:sp>
      <p:sp>
        <p:nvSpPr>
          <p:cNvPr id="35" name="Oval 34"/>
          <p:cNvSpPr/>
          <p:nvPr/>
        </p:nvSpPr>
        <p:spPr>
          <a:xfrm>
            <a:off x="8339327" y="4087368"/>
            <a:ext cx="109728" cy="10972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95359" y="3904488"/>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영업·폐업 여부 반영</a:t>
            </a:r>
          </a:p>
        </p:txBody>
      </p:sp>
      <p:sp>
        <p:nvSpPr>
          <p:cNvPr id="37" name="Oval 36"/>
          <p:cNvSpPr/>
          <p:nvPr/>
        </p:nvSpPr>
        <p:spPr>
          <a:xfrm>
            <a:off x="8339327" y="4837176"/>
            <a:ext cx="109728" cy="10972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95359" y="4654296"/>
            <a:ext cx="2697480" cy="685800"/>
          </a:xfrm>
          <a:prstGeom prst="rect">
            <a:avLst/>
          </a:prstGeom>
          <a:noFill/>
        </p:spPr>
        <p:txBody>
          <a:bodyPr wrap="square" lIns="45720" tIns="18288" rIns="45720" bIns="18288" anchor="t">
            <a:spAutoFit/>
          </a:bodyPr>
          <a:lstStyle/>
          <a:p>
            <a:pPr algn="l">
              <a:lnSpc>
                <a:spcPct val="115000"/>
              </a:lnSpc>
            </a:pPr>
            <a:r>
              <a:rPr sz="1400" b="0">
                <a:solidFill>
                  <a:srgbClr val="2E2A26"/>
                </a:solidFill>
                <a:latin typeface="Malgun Gothic"/>
              </a:rPr>
              <a:t>새 데이터가 올라오면 다시 갱신</a:t>
            </a:r>
          </a:p>
        </p:txBody>
      </p:sp>
      <p:sp>
        <p:nvSpPr>
          <p:cNvPr id="39" name="Rounded Rectangle 38"/>
          <p:cNvSpPr/>
          <p:nvPr/>
        </p:nvSpPr>
        <p:spPr>
          <a:xfrm>
            <a:off x="548640" y="5715000"/>
            <a:ext cx="11091672" cy="548640"/>
          </a:xfrm>
          <a:prstGeom prst="roundRect">
            <a:avLst>
              <a:gd name="adj" fmla="val 3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5715000"/>
            <a:ext cx="10607040" cy="548640"/>
          </a:xfrm>
          <a:prstGeom prst="rect">
            <a:avLst/>
          </a:prstGeom>
          <a:noFill/>
        </p:spPr>
        <p:txBody>
          <a:bodyPr wrap="square" lIns="45720" tIns="18288" rIns="45720" bIns="18288" anchor="ctr">
            <a:spAutoFit/>
          </a:bodyPr>
          <a:lstStyle/>
          <a:p>
            <a:pPr algn="l">
              <a:lnSpc>
                <a:spcPct val="115000"/>
              </a:lnSpc>
            </a:pPr>
            <a:r>
              <a:rPr sz="1500" b="1">
                <a:solidFill>
                  <a:srgbClr val="B23A1B"/>
                </a:solidFill>
                <a:latin typeface="Malgun Gothic"/>
              </a:rPr>
              <a:t>그래서 오늘, 기준에 대한 의견을 여러분께 직접 여쭤보려고 해요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06  여러분께 묻고 싶어요</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어떤 가게가 '동네가 먹여살린 가게'일까요?</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손을 들어 골라주세요. 기준을 정할 때 참고할게요</a:t>
            </a:r>
          </a:p>
        </p:txBody>
      </p:sp>
      <p:sp>
        <p:nvSpPr>
          <p:cNvPr id="6" name="Rounded Rectangle 5"/>
          <p:cNvSpPr/>
          <p:nvPr/>
        </p:nvSpPr>
        <p:spPr>
          <a:xfrm>
            <a:off x="548640" y="1874519"/>
            <a:ext cx="5440680" cy="205740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130552"/>
            <a:ext cx="566928" cy="5669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Q1</a:t>
            </a:r>
          </a:p>
        </p:txBody>
      </p:sp>
      <p:sp>
        <p:nvSpPr>
          <p:cNvPr id="8" name="TextBox 7"/>
          <p:cNvSpPr txBox="1"/>
          <p:nvPr/>
        </p:nvSpPr>
        <p:spPr>
          <a:xfrm>
            <a:off x="1554480" y="2103120"/>
            <a:ext cx="4251960" cy="640080"/>
          </a:xfrm>
          <a:prstGeom prst="rect">
            <a:avLst/>
          </a:prstGeom>
          <a:noFill/>
        </p:spPr>
        <p:txBody>
          <a:bodyPr wrap="square" lIns="45720" tIns="18288" rIns="45720" bIns="18288" anchor="ctr">
            <a:spAutoFit/>
          </a:bodyPr>
          <a:lstStyle/>
          <a:p>
            <a:pPr algn="l">
              <a:lnSpc>
                <a:spcPct val="115000"/>
              </a:lnSpc>
            </a:pPr>
            <a:r>
              <a:rPr sz="1700" b="1">
                <a:solidFill>
                  <a:srgbClr val="2E2A26"/>
                </a:solidFill>
                <a:latin typeface="Malgun Gothic"/>
              </a:rPr>
              <a:t>'동네가 먹여살린 가게'의 핵심은?</a:t>
            </a:r>
          </a:p>
        </p:txBody>
      </p:sp>
      <p:sp>
        <p:nvSpPr>
          <p:cNvPr id="9" name="Rounded Rectangle 8"/>
          <p:cNvSpPr/>
          <p:nvPr/>
        </p:nvSpPr>
        <p:spPr>
          <a:xfrm>
            <a:off x="822959"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A  </a:t>
            </a:r>
            <a:r>
              <a:rPr sz="1300" b="1">
                <a:solidFill>
                  <a:srgbClr val="2E2A26"/>
                </a:solidFill>
                <a:latin typeface="Malgun Gothic"/>
              </a:rPr>
              <a:t>오래 버틴 가게</a:t>
            </a:r>
          </a:p>
        </p:txBody>
      </p:sp>
      <p:sp>
        <p:nvSpPr>
          <p:cNvPr id="10" name="Rounded Rectangle 9"/>
          <p:cNvSpPr/>
          <p:nvPr/>
        </p:nvSpPr>
        <p:spPr>
          <a:xfrm>
            <a:off x="2499360"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B  </a:t>
            </a:r>
            <a:r>
              <a:rPr sz="1300" b="1">
                <a:solidFill>
                  <a:srgbClr val="2E2A26"/>
                </a:solidFill>
                <a:latin typeface="Malgun Gothic"/>
              </a:rPr>
              <a:t>기관이 인정한 가게</a:t>
            </a:r>
          </a:p>
        </p:txBody>
      </p:sp>
      <p:sp>
        <p:nvSpPr>
          <p:cNvPr id="11" name="Rounded Rectangle 10"/>
          <p:cNvSpPr/>
          <p:nvPr/>
        </p:nvSpPr>
        <p:spPr>
          <a:xfrm>
            <a:off x="4175760"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C  </a:t>
            </a:r>
            <a:r>
              <a:rPr sz="1300" b="1">
                <a:solidFill>
                  <a:srgbClr val="2E2A26"/>
                </a:solidFill>
                <a:latin typeface="Malgun Gothic"/>
              </a:rPr>
              <a:t>동네 사람이 많이 찾는 가게</a:t>
            </a:r>
          </a:p>
        </p:txBody>
      </p:sp>
      <p:sp>
        <p:nvSpPr>
          <p:cNvPr id="12" name="Rounded Rectangle 11"/>
          <p:cNvSpPr/>
          <p:nvPr/>
        </p:nvSpPr>
        <p:spPr>
          <a:xfrm>
            <a:off x="6199631" y="1874519"/>
            <a:ext cx="5440680" cy="205740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73951" y="2130552"/>
            <a:ext cx="566928" cy="5669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Q2</a:t>
            </a:r>
          </a:p>
        </p:txBody>
      </p:sp>
      <p:sp>
        <p:nvSpPr>
          <p:cNvPr id="14" name="TextBox 13"/>
          <p:cNvSpPr txBox="1"/>
          <p:nvPr/>
        </p:nvSpPr>
        <p:spPr>
          <a:xfrm>
            <a:off x="7205471" y="2103120"/>
            <a:ext cx="4251960" cy="640080"/>
          </a:xfrm>
          <a:prstGeom prst="rect">
            <a:avLst/>
          </a:prstGeom>
          <a:noFill/>
        </p:spPr>
        <p:txBody>
          <a:bodyPr wrap="square" lIns="45720" tIns="18288" rIns="45720" bIns="18288" anchor="ctr">
            <a:spAutoFit/>
          </a:bodyPr>
          <a:lstStyle/>
          <a:p>
            <a:pPr algn="l">
              <a:lnSpc>
                <a:spcPct val="115000"/>
              </a:lnSpc>
            </a:pPr>
            <a:r>
              <a:rPr sz="1700" b="1">
                <a:solidFill>
                  <a:srgbClr val="2E2A26"/>
                </a:solidFill>
                <a:latin typeface="Malgun Gothic"/>
              </a:rPr>
              <a:t>기준이 몇 개 겹쳐야 맛집일까요?</a:t>
            </a:r>
          </a:p>
        </p:txBody>
      </p:sp>
      <p:sp>
        <p:nvSpPr>
          <p:cNvPr id="15" name="Rounded Rectangle 14"/>
          <p:cNvSpPr/>
          <p:nvPr/>
        </p:nvSpPr>
        <p:spPr>
          <a:xfrm>
            <a:off x="6473951"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A  </a:t>
            </a:r>
            <a:r>
              <a:rPr sz="1300" b="1">
                <a:solidFill>
                  <a:srgbClr val="2E2A26"/>
                </a:solidFill>
                <a:latin typeface="Malgun Gothic"/>
              </a:rPr>
              <a:t>1개면 충분</a:t>
            </a:r>
          </a:p>
        </p:txBody>
      </p:sp>
      <p:sp>
        <p:nvSpPr>
          <p:cNvPr id="16" name="Rounded Rectangle 15"/>
          <p:cNvSpPr/>
          <p:nvPr/>
        </p:nvSpPr>
        <p:spPr>
          <a:xfrm>
            <a:off x="8150351"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dirty="0">
                <a:solidFill>
                  <a:srgbClr val="E4572E"/>
                </a:solidFill>
                <a:latin typeface="Malgun Gothic"/>
              </a:rPr>
              <a:t>B  </a:t>
            </a:r>
            <a:r>
              <a:rPr sz="1300" b="1" dirty="0">
                <a:solidFill>
                  <a:srgbClr val="2E2A26"/>
                </a:solidFill>
                <a:latin typeface="Malgun Gothic"/>
              </a:rPr>
              <a:t>2개 </a:t>
            </a:r>
            <a:r>
              <a:rPr sz="1300" b="1" dirty="0" err="1">
                <a:solidFill>
                  <a:srgbClr val="2E2A26"/>
                </a:solidFill>
                <a:latin typeface="Malgun Gothic"/>
              </a:rPr>
              <a:t>이상</a:t>
            </a:r>
            <a:r>
              <a:rPr sz="1300" b="1" dirty="0">
                <a:solidFill>
                  <a:srgbClr val="2E2A26"/>
                </a:solidFill>
                <a:latin typeface="Malgun Gothic"/>
              </a:rPr>
              <a:t> </a:t>
            </a:r>
            <a:endParaRPr lang="en-US" sz="1300" b="1" dirty="0">
              <a:solidFill>
                <a:srgbClr val="2E2A26"/>
              </a:solidFill>
              <a:latin typeface="Malgun Gothic"/>
            </a:endParaRPr>
          </a:p>
          <a:p>
            <a:pPr algn="ctr"/>
            <a:r>
              <a:rPr sz="1300" b="1" dirty="0" err="1">
                <a:solidFill>
                  <a:srgbClr val="2E2A26"/>
                </a:solidFill>
                <a:latin typeface="Malgun Gothic"/>
              </a:rPr>
              <a:t>겹쳐야</a:t>
            </a:r>
            <a:endParaRPr sz="1300" b="1" dirty="0">
              <a:solidFill>
                <a:srgbClr val="2E2A26"/>
              </a:solidFill>
              <a:latin typeface="Malgun Gothic"/>
            </a:endParaRPr>
          </a:p>
        </p:txBody>
      </p:sp>
      <p:sp>
        <p:nvSpPr>
          <p:cNvPr id="17" name="Rounded Rectangle 16"/>
          <p:cNvSpPr/>
          <p:nvPr/>
        </p:nvSpPr>
        <p:spPr>
          <a:xfrm>
            <a:off x="9826752" y="2926079"/>
            <a:ext cx="15392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C  </a:t>
            </a:r>
            <a:r>
              <a:rPr sz="1300" b="1">
                <a:solidFill>
                  <a:srgbClr val="2E2A26"/>
                </a:solidFill>
                <a:latin typeface="Malgun Gothic"/>
              </a:rPr>
              <a:t>점수로 순위</a:t>
            </a:r>
          </a:p>
        </p:txBody>
      </p:sp>
      <p:sp>
        <p:nvSpPr>
          <p:cNvPr id="18" name="Rounded Rectangle 17"/>
          <p:cNvSpPr/>
          <p:nvPr/>
        </p:nvSpPr>
        <p:spPr>
          <a:xfrm>
            <a:off x="548640" y="4114800"/>
            <a:ext cx="5440680" cy="205740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59" y="4370832"/>
            <a:ext cx="566928" cy="5669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Q3</a:t>
            </a:r>
          </a:p>
        </p:txBody>
      </p:sp>
      <p:sp>
        <p:nvSpPr>
          <p:cNvPr id="20" name="TextBox 19"/>
          <p:cNvSpPr txBox="1"/>
          <p:nvPr/>
        </p:nvSpPr>
        <p:spPr>
          <a:xfrm>
            <a:off x="1554480" y="4343400"/>
            <a:ext cx="4251960" cy="640080"/>
          </a:xfrm>
          <a:prstGeom prst="rect">
            <a:avLst/>
          </a:prstGeom>
          <a:noFill/>
        </p:spPr>
        <p:txBody>
          <a:bodyPr wrap="square" lIns="45720" tIns="18288" rIns="45720" bIns="18288" anchor="ctr">
            <a:spAutoFit/>
          </a:bodyPr>
          <a:lstStyle/>
          <a:p>
            <a:pPr algn="l">
              <a:lnSpc>
                <a:spcPct val="115000"/>
              </a:lnSpc>
            </a:pPr>
            <a:r>
              <a:rPr sz="1700" b="1">
                <a:solidFill>
                  <a:srgbClr val="2E2A26"/>
                </a:solidFill>
                <a:latin typeface="Malgun Gothic"/>
              </a:rPr>
              <a:t>위생등급·착한가격도 맛집 기준일까요?</a:t>
            </a:r>
          </a:p>
        </p:txBody>
      </p:sp>
      <p:sp>
        <p:nvSpPr>
          <p:cNvPr id="21" name="Rounded Rectangle 20"/>
          <p:cNvSpPr/>
          <p:nvPr/>
        </p:nvSpPr>
        <p:spPr>
          <a:xfrm>
            <a:off x="822959" y="5166360"/>
            <a:ext cx="23774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A  </a:t>
            </a:r>
            <a:r>
              <a:rPr sz="1300" b="1">
                <a:solidFill>
                  <a:srgbClr val="2E2A26"/>
                </a:solidFill>
                <a:latin typeface="Malgun Gothic"/>
              </a:rPr>
              <a:t>맛집 기준에 넣는다</a:t>
            </a:r>
          </a:p>
        </p:txBody>
      </p:sp>
      <p:sp>
        <p:nvSpPr>
          <p:cNvPr id="22" name="Rounded Rectangle 21"/>
          <p:cNvSpPr/>
          <p:nvPr/>
        </p:nvSpPr>
        <p:spPr>
          <a:xfrm>
            <a:off x="3337560" y="5166360"/>
            <a:ext cx="23774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B  </a:t>
            </a:r>
            <a:r>
              <a:rPr sz="1300" b="1">
                <a:solidFill>
                  <a:srgbClr val="2E2A26"/>
                </a:solidFill>
                <a:latin typeface="Malgun Gothic"/>
              </a:rPr>
              <a:t>따로 거르는 조건으로</a:t>
            </a:r>
          </a:p>
        </p:txBody>
      </p:sp>
      <p:sp>
        <p:nvSpPr>
          <p:cNvPr id="23" name="Rounded Rectangle 22"/>
          <p:cNvSpPr/>
          <p:nvPr/>
        </p:nvSpPr>
        <p:spPr>
          <a:xfrm>
            <a:off x="6199631" y="4114800"/>
            <a:ext cx="5440680" cy="205740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73951" y="4370832"/>
            <a:ext cx="566928" cy="5669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Malgun Gothic"/>
              </a:rPr>
              <a:t>Q4</a:t>
            </a:r>
          </a:p>
        </p:txBody>
      </p:sp>
      <p:sp>
        <p:nvSpPr>
          <p:cNvPr id="25" name="TextBox 24"/>
          <p:cNvSpPr txBox="1"/>
          <p:nvPr/>
        </p:nvSpPr>
        <p:spPr>
          <a:xfrm>
            <a:off x="7205471" y="4343400"/>
            <a:ext cx="4251960" cy="640080"/>
          </a:xfrm>
          <a:prstGeom prst="rect">
            <a:avLst/>
          </a:prstGeom>
          <a:noFill/>
        </p:spPr>
        <p:txBody>
          <a:bodyPr wrap="square" lIns="45720" tIns="18288" rIns="45720" bIns="18288" anchor="ctr">
            <a:spAutoFit/>
          </a:bodyPr>
          <a:lstStyle/>
          <a:p>
            <a:pPr algn="l">
              <a:lnSpc>
                <a:spcPct val="115000"/>
              </a:lnSpc>
            </a:pPr>
            <a:r>
              <a:rPr sz="1700" b="1">
                <a:solidFill>
                  <a:srgbClr val="2E2A26"/>
                </a:solidFill>
                <a:latin typeface="Malgun Gothic"/>
              </a:rPr>
              <a:t>일부 구에만 있는 데이터, 써도 될까요?</a:t>
            </a:r>
          </a:p>
        </p:txBody>
      </p:sp>
      <p:sp>
        <p:nvSpPr>
          <p:cNvPr id="26" name="Rounded Rectangle 25"/>
          <p:cNvSpPr/>
          <p:nvPr/>
        </p:nvSpPr>
        <p:spPr>
          <a:xfrm>
            <a:off x="6473951" y="5166360"/>
            <a:ext cx="23774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A  </a:t>
            </a:r>
            <a:r>
              <a:rPr sz="1300" b="1">
                <a:solidFill>
                  <a:srgbClr val="2E2A26"/>
                </a:solidFill>
                <a:latin typeface="Malgun Gothic"/>
              </a:rPr>
              <a:t>표시하고 쓴다</a:t>
            </a:r>
          </a:p>
        </p:txBody>
      </p:sp>
      <p:sp>
        <p:nvSpPr>
          <p:cNvPr id="27" name="Rounded Rectangle 26"/>
          <p:cNvSpPr/>
          <p:nvPr/>
        </p:nvSpPr>
        <p:spPr>
          <a:xfrm>
            <a:off x="8988551" y="5166360"/>
            <a:ext cx="2377440" cy="749808"/>
          </a:xfrm>
          <a:prstGeom prst="roundRect">
            <a:avLst>
              <a:gd name="adj" fmla="val 20000"/>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a:solidFill>
                  <a:srgbClr val="E4572E"/>
                </a:solidFill>
                <a:latin typeface="Malgun Gothic"/>
              </a:rPr>
              <a:t>B  </a:t>
            </a:r>
            <a:r>
              <a:rPr sz="1300" b="1">
                <a:solidFill>
                  <a:srgbClr val="2E2A26"/>
                </a:solidFill>
                <a:latin typeface="Malgun Gothic"/>
              </a:rPr>
              <a:t>모든 구에 있는 것만</a:t>
            </a:r>
          </a:p>
        </p:txBody>
      </p:sp>
      <p:sp>
        <p:nvSpPr>
          <p:cNvPr id="28" name="Rectangle 27"/>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오늘 받은 의견은 강사님 조언과 함께 기준을 정하는 데 반영할 예정이에요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E2A26"/>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280160"/>
            <a:ext cx="10058400" cy="457200"/>
          </a:xfrm>
          <a:prstGeom prst="rect">
            <a:avLst/>
          </a:prstGeom>
          <a:noFill/>
        </p:spPr>
        <p:txBody>
          <a:bodyPr wrap="square" lIns="45720" tIns="18288" rIns="45720" bIns="18288" anchor="t">
            <a:spAutoFit/>
          </a:bodyPr>
          <a:lstStyle/>
          <a:p>
            <a:pPr algn="l">
              <a:lnSpc>
                <a:spcPct val="115000"/>
              </a:lnSpc>
            </a:pPr>
            <a:r>
              <a:rPr sz="1600" b="1">
                <a:solidFill>
                  <a:srgbClr val="F2B8A6"/>
                </a:solidFill>
                <a:latin typeface="Malgun Gothic"/>
              </a:rPr>
              <a:t>정리</a:t>
            </a:r>
          </a:p>
        </p:txBody>
      </p:sp>
      <p:sp>
        <p:nvSpPr>
          <p:cNvPr id="4" name="TextBox 3"/>
          <p:cNvSpPr txBox="1"/>
          <p:nvPr/>
        </p:nvSpPr>
        <p:spPr>
          <a:xfrm>
            <a:off x="914400" y="1828800"/>
            <a:ext cx="10332720" cy="1645920"/>
          </a:xfrm>
          <a:prstGeom prst="rect">
            <a:avLst/>
          </a:prstGeom>
          <a:noFill/>
        </p:spPr>
        <p:txBody>
          <a:bodyPr wrap="square" lIns="45720" tIns="18288" rIns="45720" bIns="18288" anchor="t">
            <a:spAutoFit/>
          </a:bodyPr>
          <a:lstStyle/>
          <a:p>
            <a:pPr algn="l">
              <a:lnSpc>
                <a:spcPct val="120000"/>
              </a:lnSpc>
            </a:pPr>
            <a:r>
              <a:rPr sz="3400" b="1">
                <a:solidFill>
                  <a:srgbClr val="FFFFFF"/>
                </a:solidFill>
                <a:latin typeface="Malgun Gothic"/>
              </a:rPr>
              <a:t>공공기관 12곳의 공개 데이터로 근거를 모았고
이제 여러분과 함께 기준을 세우려 합니다</a:t>
            </a:r>
          </a:p>
        </p:txBody>
      </p:sp>
      <p:sp>
        <p:nvSpPr>
          <p:cNvPr id="5" name="Rounded Rectangle 4"/>
          <p:cNvSpPr/>
          <p:nvPr/>
        </p:nvSpPr>
        <p:spPr>
          <a:xfrm>
            <a:off x="914400" y="3977639"/>
            <a:ext cx="1874519" cy="640080"/>
          </a:xfrm>
          <a:prstGeom prst="roundRect">
            <a:avLst>
              <a:gd name="adj" fmla="val 50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Malgun Gothic"/>
              </a:rPr>
              <a:t>기준 세우기</a:t>
            </a:r>
          </a:p>
        </p:txBody>
      </p:sp>
      <p:sp>
        <p:nvSpPr>
          <p:cNvPr id="6" name="Rounded Rectangle 5"/>
          <p:cNvSpPr/>
          <p:nvPr/>
        </p:nvSpPr>
        <p:spPr>
          <a:xfrm>
            <a:off x="3017520" y="3977639"/>
            <a:ext cx="1874519" cy="640080"/>
          </a:xfrm>
          <a:prstGeom prst="roundRect">
            <a:avLst>
              <a:gd name="adj" fmla="val 5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Malgun Gothic"/>
              </a:rPr>
              <a:t>넓히기</a:t>
            </a:r>
          </a:p>
        </p:txBody>
      </p:sp>
      <p:sp>
        <p:nvSpPr>
          <p:cNvPr id="7" name="Rounded Rectangle 6"/>
          <p:cNvSpPr/>
          <p:nvPr/>
        </p:nvSpPr>
        <p:spPr>
          <a:xfrm>
            <a:off x="5120640" y="3977639"/>
            <a:ext cx="1874519" cy="640080"/>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Malgun Gothic"/>
              </a:rPr>
              <a:t>다지기</a:t>
            </a:r>
          </a:p>
        </p:txBody>
      </p:sp>
      <p:sp>
        <p:nvSpPr>
          <p:cNvPr id="8" name="TextBox 7"/>
          <p:cNvSpPr txBox="1"/>
          <p:nvPr/>
        </p:nvSpPr>
        <p:spPr>
          <a:xfrm>
            <a:off x="914400" y="4892040"/>
            <a:ext cx="10058400" cy="457200"/>
          </a:xfrm>
          <a:prstGeom prst="rect">
            <a:avLst/>
          </a:prstGeom>
          <a:noFill/>
        </p:spPr>
        <p:txBody>
          <a:bodyPr wrap="square" lIns="45720" tIns="18288" rIns="45720" bIns="18288" anchor="t">
            <a:spAutoFit/>
          </a:bodyPr>
          <a:lstStyle/>
          <a:p>
            <a:pPr algn="l">
              <a:lnSpc>
                <a:spcPct val="115000"/>
              </a:lnSpc>
            </a:pPr>
            <a:r>
              <a:rPr sz="1800" b="0">
                <a:solidFill>
                  <a:srgbClr val="F3E9DD"/>
                </a:solidFill>
                <a:latin typeface="Malgun Gothic"/>
              </a:rPr>
              <a:t>으로 계속 키워가겠습니다</a:t>
            </a:r>
          </a:p>
        </p:txBody>
      </p:sp>
      <p:sp>
        <p:nvSpPr>
          <p:cNvPr id="9" name="TextBox 8"/>
          <p:cNvSpPr txBox="1"/>
          <p:nvPr/>
        </p:nvSpPr>
        <p:spPr>
          <a:xfrm>
            <a:off x="914400" y="5852160"/>
            <a:ext cx="10058400" cy="548640"/>
          </a:xfrm>
          <a:prstGeom prst="rect">
            <a:avLst/>
          </a:prstGeom>
          <a:noFill/>
        </p:spPr>
        <p:txBody>
          <a:bodyPr wrap="square" lIns="45720" tIns="18288" rIns="45720" bIns="18288" anchor="t">
            <a:spAutoFit/>
          </a:bodyPr>
          <a:lstStyle/>
          <a:p>
            <a:pPr algn="l">
              <a:lnSpc>
                <a:spcPct val="115000"/>
              </a:lnSpc>
            </a:pPr>
            <a:r>
              <a:rPr sz="2400" b="1">
                <a:solidFill>
                  <a:srgbClr val="F2B8A6"/>
                </a:solidFill>
                <a:latin typeface="Malgun Gothic"/>
              </a:rPr>
              <a:t>감사합니다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참고  8가지 맛집 기준</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기준마다 연결된 가게 수</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한 가게에 기준이 여러 개 겹칠수록 인정받은 근거가 많은 가게예요</a:t>
            </a:r>
          </a:p>
        </p:txBody>
      </p:sp>
      <p:graphicFrame>
        <p:nvGraphicFramePr>
          <p:cNvPr id="6" name="Chart 5"/>
          <p:cNvGraphicFramePr>
            <a:graphicFrameLocks noGrp="1"/>
          </p:cNvGraphicFramePr>
          <p:nvPr/>
        </p:nvGraphicFramePr>
        <p:xfrm>
          <a:off x="548640" y="1874519"/>
          <a:ext cx="76809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503920" y="1874519"/>
            <a:ext cx="3136392" cy="4343400"/>
          </a:xfrm>
          <a:prstGeom prst="roundRect">
            <a:avLst>
              <a:gd name="adj" fmla="val 6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503920" y="1874519"/>
            <a:ext cx="3136392" cy="109728"/>
          </a:xfrm>
          <a:prstGeom prst="rect">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2194560"/>
            <a:ext cx="2743200" cy="457200"/>
          </a:xfrm>
          <a:prstGeom prst="rect">
            <a:avLst/>
          </a:prstGeom>
          <a:noFill/>
        </p:spPr>
        <p:txBody>
          <a:bodyPr wrap="square" lIns="45720" tIns="18288" rIns="45720" bIns="18288" anchor="t">
            <a:spAutoFit/>
          </a:bodyPr>
          <a:lstStyle/>
          <a:p>
            <a:pPr algn="l">
              <a:lnSpc>
                <a:spcPct val="115000"/>
              </a:lnSpc>
            </a:pPr>
            <a:r>
              <a:rPr sz="1700" b="1">
                <a:solidFill>
                  <a:srgbClr val="2E2A26"/>
                </a:solidFill>
                <a:latin typeface="Malgun Gothic"/>
              </a:rPr>
              <a:t>+ 찐 대구사람 추천</a:t>
            </a:r>
          </a:p>
        </p:txBody>
      </p:sp>
      <p:sp>
        <p:nvSpPr>
          <p:cNvPr id="10" name="TextBox 9"/>
          <p:cNvSpPr txBox="1"/>
          <p:nvPr/>
        </p:nvSpPr>
        <p:spPr>
          <a:xfrm>
            <a:off x="8732520" y="2743200"/>
            <a:ext cx="2743200" cy="1828800"/>
          </a:xfrm>
          <a:prstGeom prst="rect">
            <a:avLst/>
          </a:prstGeom>
          <a:noFill/>
        </p:spPr>
        <p:txBody>
          <a:bodyPr wrap="square" lIns="45720" tIns="18288" rIns="45720" bIns="18288" anchor="t">
            <a:spAutoFit/>
          </a:bodyPr>
          <a:lstStyle/>
          <a:p>
            <a:pPr algn="l">
              <a:lnSpc>
                <a:spcPct val="115000"/>
              </a:lnSpc>
            </a:pPr>
            <a:r>
              <a:rPr sz="1400" b="0">
                <a:solidFill>
                  <a:srgbClr val="6E655C"/>
                </a:solidFill>
                <a:latin typeface="Malgun Gothic"/>
              </a:rPr>
              <a:t>외부 데이터가 아닌 사이트 자체 데이터</a:t>
            </a:r>
          </a:p>
          <a:p>
            <a:pPr algn="l">
              <a:lnSpc>
                <a:spcPct val="115000"/>
              </a:lnSpc>
            </a:pPr>
            <a:endParaRPr sz="1400" b="0">
              <a:solidFill>
                <a:srgbClr val="6E655C"/>
              </a:solidFill>
              <a:latin typeface="Malgun Gothic"/>
            </a:endParaRPr>
          </a:p>
          <a:p>
            <a:pPr algn="l">
              <a:lnSpc>
                <a:spcPct val="115000"/>
              </a:lnSpc>
            </a:pPr>
            <a:r>
              <a:rPr sz="1400" b="0">
                <a:solidFill>
                  <a:srgbClr val="2E2A26"/>
                </a:solidFill>
                <a:latin typeface="Malgun Gothic"/>
              </a:rPr>
              <a:t>'대구에서 왔어요'를 고른 방문자들의 찜을 모아 순위로 보여줘요</a:t>
            </a:r>
          </a:p>
        </p:txBody>
      </p:sp>
      <p:sp>
        <p:nvSpPr>
          <p:cNvPr id="11" name="TextBox 10"/>
          <p:cNvSpPr txBox="1"/>
          <p:nvPr/>
        </p:nvSpPr>
        <p:spPr>
          <a:xfrm>
            <a:off x="8732520" y="4846320"/>
            <a:ext cx="2743200" cy="1188720"/>
          </a:xfrm>
          <a:prstGeom prst="rect">
            <a:avLst/>
          </a:prstGeom>
          <a:noFill/>
        </p:spPr>
        <p:txBody>
          <a:bodyPr wrap="square" lIns="45720" tIns="18288" rIns="45720" bIns="18288" anchor="t">
            <a:spAutoFit/>
          </a:bodyPr>
          <a:lstStyle/>
          <a:p>
            <a:pPr algn="l">
              <a:lnSpc>
                <a:spcPct val="115000"/>
              </a:lnSpc>
            </a:pPr>
            <a:r>
              <a:rPr sz="1300" b="1">
                <a:solidFill>
                  <a:srgbClr val="D63A6A"/>
                </a:solidFill>
                <a:latin typeface="Malgun Gothic"/>
              </a:rPr>
              <a:t>지역 주민의 실제 선택이 쌓일수록 정확해지는 기준</a:t>
            </a:r>
          </a:p>
        </p:txBody>
      </p:sp>
      <p:sp>
        <p:nvSpPr>
          <p:cNvPr id="12" name="Rectangle 11"/>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찐 대구사람 추천은 방문자 찜이 쌓이면서 늘어나는 기준이라 그래프에서 제외</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참고 1  합치는 방법</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흩어진 명단을 '가게 한 곳'으로 모으기</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기준마다 기관도 형식도 달라서, 주소와 상호로 같은 가게를 찾아 하나로 합쳤어요</a:t>
            </a:r>
          </a:p>
        </p:txBody>
      </p:sp>
      <p:sp>
        <p:nvSpPr>
          <p:cNvPr id="6" name="Rounded Rectangle 5"/>
          <p:cNvSpPr/>
          <p:nvPr/>
        </p:nvSpPr>
        <p:spPr>
          <a:xfrm>
            <a:off x="548640" y="2377440"/>
            <a:ext cx="2011680" cy="2743200"/>
          </a:xfrm>
          <a:prstGeom prst="roundRect">
            <a:avLst>
              <a:gd name="adj" fmla="val 8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234440" y="2057400"/>
            <a:ext cx="640080" cy="6400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algun Gothic"/>
              </a:rPr>
              <a:t>1</a:t>
            </a:r>
          </a:p>
        </p:txBody>
      </p:sp>
      <p:sp>
        <p:nvSpPr>
          <p:cNvPr id="8" name="TextBox 7"/>
          <p:cNvSpPr txBox="1"/>
          <p:nvPr/>
        </p:nvSpPr>
        <p:spPr>
          <a:xfrm>
            <a:off x="640080" y="2971800"/>
            <a:ext cx="1828800" cy="457200"/>
          </a:xfrm>
          <a:prstGeom prst="rect">
            <a:avLst/>
          </a:prstGeom>
          <a:noFill/>
        </p:spPr>
        <p:txBody>
          <a:bodyPr wrap="square" lIns="45720" tIns="18288" rIns="45720" bIns="18288" anchor="t">
            <a:spAutoFit/>
          </a:bodyPr>
          <a:lstStyle/>
          <a:p>
            <a:pPr algn="ctr">
              <a:lnSpc>
                <a:spcPct val="115000"/>
              </a:lnSpc>
            </a:pPr>
            <a:r>
              <a:rPr sz="1900" b="1">
                <a:solidFill>
                  <a:srgbClr val="2E2A26"/>
                </a:solidFill>
                <a:latin typeface="Malgun Gothic"/>
              </a:rPr>
              <a:t>바탕 깔기</a:t>
            </a:r>
          </a:p>
        </p:txBody>
      </p:sp>
      <p:sp>
        <p:nvSpPr>
          <p:cNvPr id="9" name="TextBox 8"/>
          <p:cNvSpPr txBox="1"/>
          <p:nvPr/>
        </p:nvSpPr>
        <p:spPr>
          <a:xfrm>
            <a:off x="640080" y="3566160"/>
            <a:ext cx="1828800" cy="1280160"/>
          </a:xfrm>
          <a:prstGeom prst="rect">
            <a:avLst/>
          </a:prstGeom>
          <a:noFill/>
        </p:spPr>
        <p:txBody>
          <a:bodyPr wrap="square" lIns="45720" tIns="18288" rIns="45720" bIns="18288" anchor="t">
            <a:spAutoFit/>
          </a:bodyPr>
          <a:lstStyle/>
          <a:p>
            <a:pPr algn="ctr">
              <a:lnSpc>
                <a:spcPct val="115000"/>
              </a:lnSpc>
            </a:pPr>
            <a:r>
              <a:rPr sz="1400" b="0">
                <a:solidFill>
                  <a:srgbClr val="6E655C"/>
                </a:solidFill>
                <a:latin typeface="Malgun Gothic"/>
              </a:rPr>
              <a:t>소상공인 상가정보로
대구 음식점 전체 목록</a:t>
            </a:r>
          </a:p>
        </p:txBody>
      </p:sp>
      <p:sp>
        <p:nvSpPr>
          <p:cNvPr id="10" name="Right Arrow 9"/>
          <p:cNvSpPr/>
          <p:nvPr/>
        </p:nvSpPr>
        <p:spPr>
          <a:xfrm>
            <a:off x="2578608" y="3611880"/>
            <a:ext cx="237744"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34640" y="2377440"/>
            <a:ext cx="2011680" cy="2743200"/>
          </a:xfrm>
          <a:prstGeom prst="roundRect">
            <a:avLst>
              <a:gd name="adj" fmla="val 8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20440" y="2057400"/>
            <a:ext cx="640080" cy="640080"/>
          </a:xfrm>
          <a:prstGeom prst="ellipse">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algun Gothic"/>
              </a:rPr>
              <a:t>2</a:t>
            </a:r>
          </a:p>
        </p:txBody>
      </p:sp>
      <p:sp>
        <p:nvSpPr>
          <p:cNvPr id="13" name="TextBox 12"/>
          <p:cNvSpPr txBox="1"/>
          <p:nvPr/>
        </p:nvSpPr>
        <p:spPr>
          <a:xfrm>
            <a:off x="2926080" y="2971800"/>
            <a:ext cx="1828800" cy="457200"/>
          </a:xfrm>
          <a:prstGeom prst="rect">
            <a:avLst/>
          </a:prstGeom>
          <a:noFill/>
        </p:spPr>
        <p:txBody>
          <a:bodyPr wrap="square" lIns="45720" tIns="18288" rIns="45720" bIns="18288" anchor="t">
            <a:spAutoFit/>
          </a:bodyPr>
          <a:lstStyle/>
          <a:p>
            <a:pPr algn="ctr">
              <a:lnSpc>
                <a:spcPct val="115000"/>
              </a:lnSpc>
            </a:pPr>
            <a:r>
              <a:rPr sz="1900" b="1">
                <a:solidFill>
                  <a:srgbClr val="2E2A26"/>
                </a:solidFill>
                <a:latin typeface="Malgun Gothic"/>
              </a:rPr>
              <a:t>빈칸 채우기</a:t>
            </a:r>
          </a:p>
        </p:txBody>
      </p:sp>
      <p:sp>
        <p:nvSpPr>
          <p:cNvPr id="14" name="TextBox 13"/>
          <p:cNvSpPr txBox="1"/>
          <p:nvPr/>
        </p:nvSpPr>
        <p:spPr>
          <a:xfrm>
            <a:off x="2926080" y="3566160"/>
            <a:ext cx="1828800" cy="1280160"/>
          </a:xfrm>
          <a:prstGeom prst="rect">
            <a:avLst/>
          </a:prstGeom>
          <a:noFill/>
        </p:spPr>
        <p:txBody>
          <a:bodyPr wrap="square" lIns="45720" tIns="18288" rIns="45720" bIns="18288" anchor="t">
            <a:spAutoFit/>
          </a:bodyPr>
          <a:lstStyle/>
          <a:p>
            <a:pPr algn="ctr">
              <a:lnSpc>
                <a:spcPct val="115000"/>
              </a:lnSpc>
            </a:pPr>
            <a:r>
              <a:rPr sz="1400" b="0">
                <a:solidFill>
                  <a:srgbClr val="6E655C"/>
                </a:solidFill>
                <a:latin typeface="Malgun Gothic"/>
              </a:rPr>
              <a:t>구청 영업 명단으로
빠진 3,515곳 보충</a:t>
            </a:r>
          </a:p>
        </p:txBody>
      </p:sp>
      <p:sp>
        <p:nvSpPr>
          <p:cNvPr id="15" name="Right Arrow 14"/>
          <p:cNvSpPr/>
          <p:nvPr/>
        </p:nvSpPr>
        <p:spPr>
          <a:xfrm>
            <a:off x="4864608" y="3611880"/>
            <a:ext cx="237744"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20640" y="2377440"/>
            <a:ext cx="2011680" cy="2743200"/>
          </a:xfrm>
          <a:prstGeom prst="roundRect">
            <a:avLst>
              <a:gd name="adj" fmla="val 8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806440" y="2057400"/>
            <a:ext cx="640080" cy="640080"/>
          </a:xfrm>
          <a:prstGeom prst="ellipse">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algun Gothic"/>
              </a:rPr>
              <a:t>3</a:t>
            </a:r>
          </a:p>
        </p:txBody>
      </p:sp>
      <p:sp>
        <p:nvSpPr>
          <p:cNvPr id="18" name="TextBox 17"/>
          <p:cNvSpPr txBox="1"/>
          <p:nvPr/>
        </p:nvSpPr>
        <p:spPr>
          <a:xfrm>
            <a:off x="5212079" y="2971800"/>
            <a:ext cx="1828800" cy="457200"/>
          </a:xfrm>
          <a:prstGeom prst="rect">
            <a:avLst/>
          </a:prstGeom>
          <a:noFill/>
        </p:spPr>
        <p:txBody>
          <a:bodyPr wrap="square" lIns="45720" tIns="18288" rIns="45720" bIns="18288" anchor="t">
            <a:spAutoFit/>
          </a:bodyPr>
          <a:lstStyle/>
          <a:p>
            <a:pPr algn="ctr">
              <a:lnSpc>
                <a:spcPct val="115000"/>
              </a:lnSpc>
            </a:pPr>
            <a:r>
              <a:rPr sz="1900" b="1">
                <a:solidFill>
                  <a:srgbClr val="2E2A26"/>
                </a:solidFill>
                <a:latin typeface="Malgun Gothic"/>
              </a:rPr>
              <a:t>명단 맞추기</a:t>
            </a:r>
          </a:p>
        </p:txBody>
      </p:sp>
      <p:sp>
        <p:nvSpPr>
          <p:cNvPr id="19" name="TextBox 18"/>
          <p:cNvSpPr txBox="1"/>
          <p:nvPr/>
        </p:nvSpPr>
        <p:spPr>
          <a:xfrm>
            <a:off x="5212079" y="3566160"/>
            <a:ext cx="1828800" cy="1280160"/>
          </a:xfrm>
          <a:prstGeom prst="rect">
            <a:avLst/>
          </a:prstGeom>
          <a:noFill/>
        </p:spPr>
        <p:txBody>
          <a:bodyPr wrap="square" lIns="45720" tIns="18288" rIns="45720" bIns="18288" anchor="t">
            <a:spAutoFit/>
          </a:bodyPr>
          <a:lstStyle/>
          <a:p>
            <a:pPr algn="ctr">
              <a:lnSpc>
                <a:spcPct val="115000"/>
              </a:lnSpc>
            </a:pPr>
            <a:r>
              <a:rPr sz="1400" b="0">
                <a:solidFill>
                  <a:srgbClr val="6E655C"/>
                </a:solidFill>
                <a:latin typeface="Malgun Gothic"/>
              </a:rPr>
              <a:t>인증·선정 명단을
주소·상호로 가게에 연결</a:t>
            </a:r>
          </a:p>
        </p:txBody>
      </p:sp>
      <p:sp>
        <p:nvSpPr>
          <p:cNvPr id="20" name="Right Arrow 19"/>
          <p:cNvSpPr/>
          <p:nvPr/>
        </p:nvSpPr>
        <p:spPr>
          <a:xfrm>
            <a:off x="7150608" y="3611880"/>
            <a:ext cx="237744"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406640" y="2377440"/>
            <a:ext cx="2011680" cy="2743200"/>
          </a:xfrm>
          <a:prstGeom prst="roundRect">
            <a:avLst>
              <a:gd name="adj" fmla="val 8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92440" y="2057400"/>
            <a:ext cx="640080" cy="640080"/>
          </a:xfrm>
          <a:prstGeom prst="ellipse">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algun Gothic"/>
              </a:rPr>
              <a:t>4</a:t>
            </a:r>
          </a:p>
        </p:txBody>
      </p:sp>
      <p:sp>
        <p:nvSpPr>
          <p:cNvPr id="23" name="TextBox 22"/>
          <p:cNvSpPr txBox="1"/>
          <p:nvPr/>
        </p:nvSpPr>
        <p:spPr>
          <a:xfrm>
            <a:off x="7498079" y="2971800"/>
            <a:ext cx="1828800" cy="457200"/>
          </a:xfrm>
          <a:prstGeom prst="rect">
            <a:avLst/>
          </a:prstGeom>
          <a:noFill/>
        </p:spPr>
        <p:txBody>
          <a:bodyPr wrap="square" lIns="45720" tIns="18288" rIns="45720" bIns="18288" anchor="t">
            <a:spAutoFit/>
          </a:bodyPr>
          <a:lstStyle/>
          <a:p>
            <a:pPr algn="ctr">
              <a:lnSpc>
                <a:spcPct val="115000"/>
              </a:lnSpc>
            </a:pPr>
            <a:r>
              <a:rPr sz="1900" b="1">
                <a:solidFill>
                  <a:srgbClr val="2E2A26"/>
                </a:solidFill>
                <a:latin typeface="Malgun Gothic"/>
              </a:rPr>
              <a:t>배지 붙이기</a:t>
            </a:r>
          </a:p>
        </p:txBody>
      </p:sp>
      <p:sp>
        <p:nvSpPr>
          <p:cNvPr id="24" name="TextBox 23"/>
          <p:cNvSpPr txBox="1"/>
          <p:nvPr/>
        </p:nvSpPr>
        <p:spPr>
          <a:xfrm>
            <a:off x="7498079" y="3566160"/>
            <a:ext cx="1828800" cy="1280160"/>
          </a:xfrm>
          <a:prstGeom prst="rect">
            <a:avLst/>
          </a:prstGeom>
          <a:noFill/>
        </p:spPr>
        <p:txBody>
          <a:bodyPr wrap="square" lIns="45720" tIns="18288" rIns="45720" bIns="18288" anchor="t">
            <a:spAutoFit/>
          </a:bodyPr>
          <a:lstStyle/>
          <a:p>
            <a:pPr algn="ctr">
              <a:lnSpc>
                <a:spcPct val="115000"/>
              </a:lnSpc>
            </a:pPr>
            <a:r>
              <a:rPr sz="1400" b="0">
                <a:solidFill>
                  <a:srgbClr val="6E655C"/>
                </a:solidFill>
                <a:latin typeface="Malgun Gothic"/>
              </a:rPr>
              <a:t>가게마다 해당하는
맛집 기준 표시</a:t>
            </a:r>
          </a:p>
        </p:txBody>
      </p:sp>
      <p:sp>
        <p:nvSpPr>
          <p:cNvPr id="25" name="Right Arrow 24"/>
          <p:cNvSpPr/>
          <p:nvPr/>
        </p:nvSpPr>
        <p:spPr>
          <a:xfrm>
            <a:off x="9436608" y="3611880"/>
            <a:ext cx="237744" cy="274320"/>
          </a:xfrm>
          <a:prstGeom prst="rightArrow">
            <a:avLst/>
          </a:prstGeom>
          <a:solidFill>
            <a:srgbClr val="D9C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692640" y="2377440"/>
            <a:ext cx="2011680" cy="2743200"/>
          </a:xfrm>
          <a:prstGeom prst="roundRect">
            <a:avLst>
              <a:gd name="adj" fmla="val 8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378440" y="2057400"/>
            <a:ext cx="640080" cy="6400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algun Gothic"/>
              </a:rPr>
              <a:t>5</a:t>
            </a:r>
          </a:p>
        </p:txBody>
      </p:sp>
      <p:sp>
        <p:nvSpPr>
          <p:cNvPr id="28" name="TextBox 27"/>
          <p:cNvSpPr txBox="1"/>
          <p:nvPr/>
        </p:nvSpPr>
        <p:spPr>
          <a:xfrm>
            <a:off x="9784080" y="2971800"/>
            <a:ext cx="1828800" cy="457200"/>
          </a:xfrm>
          <a:prstGeom prst="rect">
            <a:avLst/>
          </a:prstGeom>
          <a:noFill/>
        </p:spPr>
        <p:txBody>
          <a:bodyPr wrap="square" lIns="45720" tIns="18288" rIns="45720" bIns="18288" anchor="t">
            <a:spAutoFit/>
          </a:bodyPr>
          <a:lstStyle/>
          <a:p>
            <a:pPr algn="ctr">
              <a:lnSpc>
                <a:spcPct val="115000"/>
              </a:lnSpc>
            </a:pPr>
            <a:r>
              <a:rPr sz="1900" b="1">
                <a:solidFill>
                  <a:srgbClr val="2E2A26"/>
                </a:solidFill>
                <a:latin typeface="Malgun Gothic"/>
              </a:rPr>
              <a:t>기준 겹쳐 보기</a:t>
            </a:r>
          </a:p>
        </p:txBody>
      </p:sp>
      <p:sp>
        <p:nvSpPr>
          <p:cNvPr id="29" name="TextBox 28"/>
          <p:cNvSpPr txBox="1"/>
          <p:nvPr/>
        </p:nvSpPr>
        <p:spPr>
          <a:xfrm>
            <a:off x="9784080" y="3566160"/>
            <a:ext cx="1828800" cy="1280160"/>
          </a:xfrm>
          <a:prstGeom prst="rect">
            <a:avLst/>
          </a:prstGeom>
          <a:noFill/>
        </p:spPr>
        <p:txBody>
          <a:bodyPr wrap="square" lIns="45720" tIns="18288" rIns="45720" bIns="18288" anchor="t">
            <a:spAutoFit/>
          </a:bodyPr>
          <a:lstStyle/>
          <a:p>
            <a:pPr algn="ctr">
              <a:lnSpc>
                <a:spcPct val="115000"/>
              </a:lnSpc>
            </a:pPr>
            <a:r>
              <a:rPr sz="1400" b="0">
                <a:solidFill>
                  <a:srgbClr val="6E655C"/>
                </a:solidFill>
                <a:latin typeface="Malgun Gothic"/>
              </a:rPr>
              <a:t>기준이 여러 개
겹치는 가게 찾기</a:t>
            </a:r>
          </a:p>
        </p:txBody>
      </p:sp>
      <p:sp>
        <p:nvSpPr>
          <p:cNvPr id="30" name="Rectangle 29"/>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제외: 유흥주점 · 구내식당 · 편의점 (맛집 목록 취지에 맞지 않음)</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참고 2  국가·시가 인증한 가게</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정부와 대구시가 공식으로 지정한 명단</a:t>
            </a:r>
          </a:p>
        </p:txBody>
      </p:sp>
      <p:sp>
        <p:nvSpPr>
          <p:cNvPr id="5" name="Rounded Rectangle 4"/>
          <p:cNvSpPr/>
          <p:nvPr/>
        </p:nvSpPr>
        <p:spPr>
          <a:xfrm>
            <a:off x="548640" y="1691640"/>
            <a:ext cx="3520440" cy="448056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91640"/>
            <a:ext cx="3520440" cy="109728"/>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965960"/>
            <a:ext cx="3017520" cy="457200"/>
          </a:xfrm>
          <a:prstGeom prst="rect">
            <a:avLst/>
          </a:prstGeom>
          <a:noFill/>
        </p:spPr>
        <p:txBody>
          <a:bodyPr wrap="square" lIns="45720" tIns="18288" rIns="45720" bIns="18288" anchor="t">
            <a:spAutoFit/>
          </a:bodyPr>
          <a:lstStyle/>
          <a:p>
            <a:pPr algn="l">
              <a:lnSpc>
                <a:spcPct val="115000"/>
              </a:lnSpc>
            </a:pPr>
            <a:r>
              <a:rPr sz="1800" b="1">
                <a:solidFill>
                  <a:srgbClr val="2E2A26"/>
                </a:solidFill>
                <a:latin typeface="Malgun Gothic"/>
              </a:rPr>
              <a:t>착한가격업소</a:t>
            </a:r>
          </a:p>
        </p:txBody>
      </p:sp>
      <p:sp>
        <p:nvSpPr>
          <p:cNvPr id="8" name="TextBox 7"/>
          <p:cNvSpPr txBox="1"/>
          <p:nvPr/>
        </p:nvSpPr>
        <p:spPr>
          <a:xfrm>
            <a:off x="822959" y="2423160"/>
            <a:ext cx="3017520" cy="822960"/>
          </a:xfrm>
          <a:prstGeom prst="rect">
            <a:avLst/>
          </a:prstGeom>
          <a:noFill/>
        </p:spPr>
        <p:txBody>
          <a:bodyPr wrap="square" lIns="45720" tIns="18288" rIns="45720" bIns="18288" anchor="t">
            <a:spAutoFit/>
          </a:bodyPr>
          <a:lstStyle/>
          <a:p>
            <a:pPr algn="l">
              <a:lnSpc>
                <a:spcPct val="115000"/>
              </a:lnSpc>
            </a:pPr>
            <a:r>
              <a:rPr sz="4400" b="1">
                <a:solidFill>
                  <a:srgbClr val="2E9E6B"/>
                </a:solidFill>
                <a:latin typeface="Malgun Gothic"/>
              </a:rPr>
              <a:t>499</a:t>
            </a:r>
          </a:p>
        </p:txBody>
      </p:sp>
      <p:sp>
        <p:nvSpPr>
          <p:cNvPr id="9" name="TextBox 8"/>
          <p:cNvSpPr txBox="1"/>
          <p:nvPr/>
        </p:nvSpPr>
        <p:spPr>
          <a:xfrm>
            <a:off x="822959" y="3246120"/>
            <a:ext cx="3017520" cy="3200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곳 연결</a:t>
            </a:r>
          </a:p>
        </p:txBody>
      </p:sp>
      <p:sp>
        <p:nvSpPr>
          <p:cNvPr id="10" name="TextBox 9"/>
          <p:cNvSpPr txBox="1"/>
          <p:nvPr/>
        </p:nvSpPr>
        <p:spPr>
          <a:xfrm>
            <a:off x="822959" y="3657600"/>
            <a:ext cx="3017520" cy="731520"/>
          </a:xfrm>
          <a:prstGeom prst="rect">
            <a:avLst/>
          </a:prstGeom>
          <a:noFill/>
        </p:spPr>
        <p:txBody>
          <a:bodyPr wrap="square" lIns="45720" tIns="18288" rIns="45720" bIns="18288" anchor="t">
            <a:spAutoFit/>
          </a:bodyPr>
          <a:lstStyle/>
          <a:p>
            <a:pPr algn="l">
              <a:lnSpc>
                <a:spcPct val="115000"/>
              </a:lnSpc>
            </a:pPr>
            <a:r>
              <a:rPr sz="1300" b="0">
                <a:solidFill>
                  <a:srgbClr val="2E2A26"/>
                </a:solidFill>
                <a:latin typeface="Malgun Gothic"/>
              </a:rPr>
              <a:t>주변보다 저렴하면서 위생·서비스가 좋은 가게를 행정안전부가 지정</a:t>
            </a:r>
          </a:p>
        </p:txBody>
      </p:sp>
      <p:sp>
        <p:nvSpPr>
          <p:cNvPr id="11" name="Rectangle 10"/>
          <p:cNvSpPr/>
          <p:nvPr/>
        </p:nvSpPr>
        <p:spPr>
          <a:xfrm>
            <a:off x="822959" y="448056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4572000"/>
            <a:ext cx="3017520" cy="685800"/>
          </a:xfrm>
          <a:prstGeom prst="rect">
            <a:avLst/>
          </a:prstGeom>
          <a:noFill/>
        </p:spPr>
        <p:txBody>
          <a:bodyPr wrap="square" lIns="45720" tIns="18288" rIns="45720" bIns="18288" anchor="t">
            <a:spAutoFit/>
          </a:bodyPr>
          <a:lstStyle/>
          <a:p>
            <a:pPr algn="l">
              <a:lnSpc>
                <a:spcPct val="115000"/>
              </a:lnSpc>
            </a:pPr>
            <a:r>
              <a:rPr sz="1300" b="1">
                <a:solidFill>
                  <a:srgbClr val="2E2A26"/>
                </a:solidFill>
                <a:latin typeface="Malgun Gothic"/>
              </a:rPr>
              <a:t>대구광역시 착한가격업소 현황</a:t>
            </a:r>
          </a:p>
        </p:txBody>
      </p:sp>
      <p:sp>
        <p:nvSpPr>
          <p:cNvPr id="13" name="TextBox 12"/>
          <p:cNvSpPr txBox="1"/>
          <p:nvPr/>
        </p:nvSpPr>
        <p:spPr>
          <a:xfrm>
            <a:off x="822959" y="5212080"/>
            <a:ext cx="3017520" cy="320040"/>
          </a:xfrm>
          <a:prstGeom prst="rect">
            <a:avLst/>
          </a:prstGeom>
          <a:noFill/>
        </p:spPr>
        <p:txBody>
          <a:bodyPr wrap="square" lIns="45720" tIns="18288" rIns="45720" bIns="18288" anchor="t">
            <a:spAutoFit/>
          </a:bodyPr>
          <a:lstStyle/>
          <a:p>
            <a:pPr algn="l">
              <a:lnSpc>
                <a:spcPct val="115000"/>
              </a:lnSpc>
            </a:pPr>
            <a:r>
              <a:rPr sz="1100" b="0">
                <a:solidFill>
                  <a:srgbClr val="6E655C"/>
                </a:solidFill>
                <a:latin typeface="Malgun Gothic"/>
              </a:rPr>
              <a:t>2026-10-01 · 공공데이터포털</a:t>
            </a:r>
          </a:p>
        </p:txBody>
      </p:sp>
      <p:sp>
        <p:nvSpPr>
          <p:cNvPr id="14" name="TextBox 13"/>
          <p:cNvSpPr txBox="1"/>
          <p:nvPr/>
        </p:nvSpPr>
        <p:spPr>
          <a:xfrm>
            <a:off x="822959" y="5532120"/>
            <a:ext cx="3017520" cy="548640"/>
          </a:xfrm>
          <a:prstGeom prst="rect">
            <a:avLst/>
          </a:prstGeom>
          <a:noFill/>
        </p:spPr>
        <p:txBody>
          <a:bodyPr wrap="square" lIns="45720" tIns="18288" rIns="45720" bIns="18288" anchor="t">
            <a:spAutoFit/>
          </a:bodyPr>
          <a:lstStyle/>
          <a:p>
            <a:pPr algn="l">
              <a:lnSpc>
                <a:spcPct val="115000"/>
              </a:lnSpc>
            </a:pPr>
            <a:r>
              <a:rPr sz="1100" b="1">
                <a:solidFill>
                  <a:srgbClr val="2E9E6B"/>
                </a:solidFill>
                <a:latin typeface="Malgun Gothic"/>
              </a:rPr>
              <a:t>제도: 행정안전부 착한가격업소 현황</a:t>
            </a:r>
          </a:p>
        </p:txBody>
      </p:sp>
      <p:sp>
        <p:nvSpPr>
          <p:cNvPr id="15" name="Rounded Rectangle 14"/>
          <p:cNvSpPr/>
          <p:nvPr/>
        </p:nvSpPr>
        <p:spPr>
          <a:xfrm>
            <a:off x="4297679" y="1691640"/>
            <a:ext cx="3520440" cy="448056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97679" y="1691640"/>
            <a:ext cx="3520440" cy="109728"/>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1999" y="1965960"/>
            <a:ext cx="3017520" cy="457200"/>
          </a:xfrm>
          <a:prstGeom prst="rect">
            <a:avLst/>
          </a:prstGeom>
          <a:noFill/>
        </p:spPr>
        <p:txBody>
          <a:bodyPr wrap="square" lIns="45720" tIns="18288" rIns="45720" bIns="18288" anchor="t">
            <a:spAutoFit/>
          </a:bodyPr>
          <a:lstStyle/>
          <a:p>
            <a:pPr algn="l">
              <a:lnSpc>
                <a:spcPct val="115000"/>
              </a:lnSpc>
            </a:pPr>
            <a:r>
              <a:rPr sz="1800" b="1">
                <a:solidFill>
                  <a:srgbClr val="2E2A26"/>
                </a:solidFill>
                <a:latin typeface="Malgun Gothic"/>
              </a:rPr>
              <a:t>백년가게</a:t>
            </a:r>
          </a:p>
        </p:txBody>
      </p:sp>
      <p:sp>
        <p:nvSpPr>
          <p:cNvPr id="18" name="TextBox 17"/>
          <p:cNvSpPr txBox="1"/>
          <p:nvPr/>
        </p:nvSpPr>
        <p:spPr>
          <a:xfrm>
            <a:off x="4571999" y="2423160"/>
            <a:ext cx="3017520" cy="822960"/>
          </a:xfrm>
          <a:prstGeom prst="rect">
            <a:avLst/>
          </a:prstGeom>
          <a:noFill/>
        </p:spPr>
        <p:txBody>
          <a:bodyPr wrap="square" lIns="45720" tIns="18288" rIns="45720" bIns="18288" anchor="t">
            <a:spAutoFit/>
          </a:bodyPr>
          <a:lstStyle/>
          <a:p>
            <a:pPr algn="l">
              <a:lnSpc>
                <a:spcPct val="115000"/>
              </a:lnSpc>
            </a:pPr>
            <a:r>
              <a:rPr sz="4400" b="1">
                <a:solidFill>
                  <a:srgbClr val="8B5E3C"/>
                </a:solidFill>
                <a:latin typeface="Malgun Gothic"/>
              </a:rPr>
              <a:t>60</a:t>
            </a:r>
          </a:p>
        </p:txBody>
      </p:sp>
      <p:sp>
        <p:nvSpPr>
          <p:cNvPr id="19" name="TextBox 18"/>
          <p:cNvSpPr txBox="1"/>
          <p:nvPr/>
        </p:nvSpPr>
        <p:spPr>
          <a:xfrm>
            <a:off x="4571999" y="3246120"/>
            <a:ext cx="3017520" cy="3200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곳 연결</a:t>
            </a:r>
          </a:p>
        </p:txBody>
      </p:sp>
      <p:sp>
        <p:nvSpPr>
          <p:cNvPr id="20" name="TextBox 19"/>
          <p:cNvSpPr txBox="1"/>
          <p:nvPr/>
        </p:nvSpPr>
        <p:spPr>
          <a:xfrm>
            <a:off x="4571999" y="3657600"/>
            <a:ext cx="3017520" cy="731520"/>
          </a:xfrm>
          <a:prstGeom prst="rect">
            <a:avLst/>
          </a:prstGeom>
          <a:noFill/>
        </p:spPr>
        <p:txBody>
          <a:bodyPr wrap="square" lIns="45720" tIns="18288" rIns="45720" bIns="18288" anchor="t">
            <a:spAutoFit/>
          </a:bodyPr>
          <a:lstStyle/>
          <a:p>
            <a:pPr algn="l">
              <a:lnSpc>
                <a:spcPct val="115000"/>
              </a:lnSpc>
            </a:pPr>
            <a:r>
              <a:rPr sz="1300" b="0">
                <a:solidFill>
                  <a:srgbClr val="2E2A26"/>
                </a:solidFill>
                <a:latin typeface="Malgun Gothic"/>
              </a:rPr>
              <a:t>30년 이상 한 업종을 지켜온 가게를 중소벤처기업부가 선정</a:t>
            </a:r>
          </a:p>
        </p:txBody>
      </p:sp>
      <p:sp>
        <p:nvSpPr>
          <p:cNvPr id="21" name="Rectangle 20"/>
          <p:cNvSpPr/>
          <p:nvPr/>
        </p:nvSpPr>
        <p:spPr>
          <a:xfrm>
            <a:off x="4571999" y="448056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4572000"/>
            <a:ext cx="3017520" cy="685800"/>
          </a:xfrm>
          <a:prstGeom prst="rect">
            <a:avLst/>
          </a:prstGeom>
          <a:noFill/>
        </p:spPr>
        <p:txBody>
          <a:bodyPr wrap="square" lIns="45720" tIns="18288" rIns="45720" bIns="18288" anchor="t">
            <a:spAutoFit/>
          </a:bodyPr>
          <a:lstStyle/>
          <a:p>
            <a:pPr algn="l">
              <a:lnSpc>
                <a:spcPct val="115000"/>
              </a:lnSpc>
            </a:pPr>
            <a:r>
              <a:rPr sz="1300" b="1">
                <a:solidFill>
                  <a:srgbClr val="2E2A26"/>
                </a:solidFill>
                <a:latin typeface="Malgun Gothic"/>
              </a:rPr>
              <a:t>소상공인시장진흥공단
전국 백년가게 지정리스트</a:t>
            </a:r>
          </a:p>
        </p:txBody>
      </p:sp>
      <p:sp>
        <p:nvSpPr>
          <p:cNvPr id="23" name="TextBox 22"/>
          <p:cNvSpPr txBox="1"/>
          <p:nvPr/>
        </p:nvSpPr>
        <p:spPr>
          <a:xfrm>
            <a:off x="4571999" y="5212080"/>
            <a:ext cx="3017520" cy="320040"/>
          </a:xfrm>
          <a:prstGeom prst="rect">
            <a:avLst/>
          </a:prstGeom>
          <a:noFill/>
        </p:spPr>
        <p:txBody>
          <a:bodyPr wrap="square" lIns="45720" tIns="18288" rIns="45720" bIns="18288" anchor="t">
            <a:spAutoFit/>
          </a:bodyPr>
          <a:lstStyle/>
          <a:p>
            <a:pPr algn="l">
              <a:lnSpc>
                <a:spcPct val="115000"/>
              </a:lnSpc>
            </a:pPr>
            <a:r>
              <a:rPr sz="1100" b="0">
                <a:solidFill>
                  <a:srgbClr val="6E655C"/>
                </a:solidFill>
                <a:latin typeface="Malgun Gothic"/>
              </a:rPr>
              <a:t>2026-08-20 · 공공데이터포털</a:t>
            </a:r>
          </a:p>
        </p:txBody>
      </p:sp>
      <p:sp>
        <p:nvSpPr>
          <p:cNvPr id="24" name="TextBox 23"/>
          <p:cNvSpPr txBox="1"/>
          <p:nvPr/>
        </p:nvSpPr>
        <p:spPr>
          <a:xfrm>
            <a:off x="4571999" y="5532120"/>
            <a:ext cx="3017520" cy="548640"/>
          </a:xfrm>
          <a:prstGeom prst="rect">
            <a:avLst/>
          </a:prstGeom>
          <a:noFill/>
        </p:spPr>
        <p:txBody>
          <a:bodyPr wrap="square" lIns="45720" tIns="18288" rIns="45720" bIns="18288" anchor="t">
            <a:spAutoFit/>
          </a:bodyPr>
          <a:lstStyle/>
          <a:p>
            <a:pPr algn="l">
              <a:lnSpc>
                <a:spcPct val="115000"/>
              </a:lnSpc>
            </a:pPr>
            <a:r>
              <a:rPr sz="1100" b="1">
                <a:solidFill>
                  <a:srgbClr val="8B5E3C"/>
                </a:solidFill>
                <a:latin typeface="Malgun Gothic"/>
              </a:rPr>
              <a:t>대구 83곳 중 음식점이 아닌 23곳 제외</a:t>
            </a:r>
          </a:p>
        </p:txBody>
      </p:sp>
      <p:sp>
        <p:nvSpPr>
          <p:cNvPr id="25" name="Rounded Rectangle 24"/>
          <p:cNvSpPr/>
          <p:nvPr/>
        </p:nvSpPr>
        <p:spPr>
          <a:xfrm>
            <a:off x="8046719" y="1691640"/>
            <a:ext cx="3520440" cy="448056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6719" y="1691640"/>
            <a:ext cx="3520440" cy="109728"/>
          </a:xfrm>
          <a:prstGeom prst="rect">
            <a:avLst/>
          </a:prstGeom>
          <a:solidFill>
            <a:srgbClr val="1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1965960"/>
            <a:ext cx="3017520" cy="457200"/>
          </a:xfrm>
          <a:prstGeom prst="rect">
            <a:avLst/>
          </a:prstGeom>
          <a:noFill/>
        </p:spPr>
        <p:txBody>
          <a:bodyPr wrap="square" lIns="45720" tIns="18288" rIns="45720" bIns="18288" anchor="t">
            <a:spAutoFit/>
          </a:bodyPr>
          <a:lstStyle/>
          <a:p>
            <a:pPr algn="l">
              <a:lnSpc>
                <a:spcPct val="115000"/>
              </a:lnSpc>
            </a:pPr>
            <a:r>
              <a:rPr sz="1800" b="1">
                <a:solidFill>
                  <a:srgbClr val="2E2A26"/>
                </a:solidFill>
                <a:latin typeface="Malgun Gothic"/>
              </a:rPr>
              <a:t>위생등급(식품안심업소)</a:t>
            </a:r>
          </a:p>
        </p:txBody>
      </p:sp>
      <p:sp>
        <p:nvSpPr>
          <p:cNvPr id="28" name="TextBox 27"/>
          <p:cNvSpPr txBox="1"/>
          <p:nvPr/>
        </p:nvSpPr>
        <p:spPr>
          <a:xfrm>
            <a:off x="8321040" y="2423160"/>
            <a:ext cx="3017520" cy="822960"/>
          </a:xfrm>
          <a:prstGeom prst="rect">
            <a:avLst/>
          </a:prstGeom>
          <a:noFill/>
        </p:spPr>
        <p:txBody>
          <a:bodyPr wrap="square" lIns="45720" tIns="18288" rIns="45720" bIns="18288" anchor="t">
            <a:spAutoFit/>
          </a:bodyPr>
          <a:lstStyle/>
          <a:p>
            <a:pPr algn="l">
              <a:lnSpc>
                <a:spcPct val="115000"/>
              </a:lnSpc>
            </a:pPr>
            <a:r>
              <a:rPr sz="4400" b="1">
                <a:solidFill>
                  <a:srgbClr val="1FA3B5"/>
                </a:solidFill>
                <a:latin typeface="Malgun Gothic"/>
              </a:rPr>
              <a:t>2,343</a:t>
            </a:r>
          </a:p>
        </p:txBody>
      </p:sp>
      <p:sp>
        <p:nvSpPr>
          <p:cNvPr id="29" name="TextBox 28"/>
          <p:cNvSpPr txBox="1"/>
          <p:nvPr/>
        </p:nvSpPr>
        <p:spPr>
          <a:xfrm>
            <a:off x="8321040" y="3246120"/>
            <a:ext cx="3017520" cy="32004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곳 연결</a:t>
            </a:r>
          </a:p>
        </p:txBody>
      </p:sp>
      <p:sp>
        <p:nvSpPr>
          <p:cNvPr id="30" name="TextBox 29"/>
          <p:cNvSpPr txBox="1"/>
          <p:nvPr/>
        </p:nvSpPr>
        <p:spPr>
          <a:xfrm>
            <a:off x="8321040" y="3657600"/>
            <a:ext cx="3017520" cy="731520"/>
          </a:xfrm>
          <a:prstGeom prst="rect">
            <a:avLst/>
          </a:prstGeom>
          <a:noFill/>
        </p:spPr>
        <p:txBody>
          <a:bodyPr wrap="square" lIns="45720" tIns="18288" rIns="45720" bIns="18288" anchor="t">
            <a:spAutoFit/>
          </a:bodyPr>
          <a:lstStyle/>
          <a:p>
            <a:pPr algn="l">
              <a:lnSpc>
                <a:spcPct val="115000"/>
              </a:lnSpc>
            </a:pPr>
            <a:r>
              <a:rPr sz="1300" b="0">
                <a:solidFill>
                  <a:srgbClr val="2E2A26"/>
                </a:solidFill>
                <a:latin typeface="Malgun Gothic"/>
              </a:rPr>
              <a:t>위생 수준이 우수해 지정된 식품안심업소 (위생등급 제도)</a:t>
            </a:r>
          </a:p>
        </p:txBody>
      </p:sp>
      <p:sp>
        <p:nvSpPr>
          <p:cNvPr id="31" name="Rectangle 30"/>
          <p:cNvSpPr/>
          <p:nvPr/>
        </p:nvSpPr>
        <p:spPr>
          <a:xfrm>
            <a:off x="8321040" y="4480560"/>
            <a:ext cx="2971800" cy="13716"/>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0" y="4572000"/>
            <a:ext cx="3017520" cy="685800"/>
          </a:xfrm>
          <a:prstGeom prst="rect">
            <a:avLst/>
          </a:prstGeom>
          <a:noFill/>
        </p:spPr>
        <p:txBody>
          <a:bodyPr wrap="square" lIns="45720" tIns="18288" rIns="45720" bIns="18288" anchor="t">
            <a:spAutoFit/>
          </a:bodyPr>
          <a:lstStyle/>
          <a:p>
            <a:pPr algn="l">
              <a:lnSpc>
                <a:spcPct val="115000"/>
              </a:lnSpc>
            </a:pPr>
            <a:r>
              <a:rPr sz="1300" b="1">
                <a:solidFill>
                  <a:srgbClr val="2E2A26"/>
                </a:solidFill>
                <a:latin typeface="Malgun Gothic"/>
              </a:rPr>
              <a:t>대구푸드 식품안심업소
지정 목록 (2,459곳)</a:t>
            </a:r>
          </a:p>
        </p:txBody>
      </p:sp>
      <p:sp>
        <p:nvSpPr>
          <p:cNvPr id="33" name="TextBox 32"/>
          <p:cNvSpPr txBox="1"/>
          <p:nvPr/>
        </p:nvSpPr>
        <p:spPr>
          <a:xfrm>
            <a:off x="8321040" y="5212080"/>
            <a:ext cx="3017520" cy="320040"/>
          </a:xfrm>
          <a:prstGeom prst="rect">
            <a:avLst/>
          </a:prstGeom>
          <a:noFill/>
        </p:spPr>
        <p:txBody>
          <a:bodyPr wrap="square" lIns="45720" tIns="18288" rIns="45720" bIns="18288" anchor="t">
            <a:spAutoFit/>
          </a:bodyPr>
          <a:lstStyle/>
          <a:p>
            <a:pPr algn="l">
              <a:lnSpc>
                <a:spcPct val="115000"/>
              </a:lnSpc>
            </a:pPr>
            <a:r>
              <a:rPr sz="1100" b="0">
                <a:solidFill>
                  <a:srgbClr val="6E655C"/>
                </a:solidFill>
                <a:latin typeface="Malgun Gothic"/>
              </a:rPr>
              <a:t>2026-10-29 수집 · 대구시</a:t>
            </a:r>
          </a:p>
        </p:txBody>
      </p:sp>
      <p:sp>
        <p:nvSpPr>
          <p:cNvPr id="34" name="TextBox 33"/>
          <p:cNvSpPr txBox="1"/>
          <p:nvPr/>
        </p:nvSpPr>
        <p:spPr>
          <a:xfrm>
            <a:off x="8321040" y="5532120"/>
            <a:ext cx="3017520" cy="548640"/>
          </a:xfrm>
          <a:prstGeom prst="rect">
            <a:avLst/>
          </a:prstGeom>
          <a:noFill/>
        </p:spPr>
        <p:txBody>
          <a:bodyPr wrap="square" lIns="45720" tIns="18288" rIns="45720" bIns="18288" anchor="t">
            <a:spAutoFit/>
          </a:bodyPr>
          <a:lstStyle/>
          <a:p>
            <a:pPr algn="l">
              <a:lnSpc>
                <a:spcPct val="115000"/>
              </a:lnSpc>
            </a:pPr>
            <a:r>
              <a:rPr sz="1100" b="1">
                <a:solidFill>
                  <a:srgbClr val="1FA3B5"/>
                </a:solidFill>
                <a:latin typeface="Malgun Gothic"/>
              </a:rPr>
              <a:t>편의점 42곳은 맛집이 아니라 제외</a:t>
            </a:r>
          </a:p>
        </p:txBody>
      </p:sp>
      <p:sp>
        <p:nvSpPr>
          <p:cNvPr id="35" name="Rectangle 34"/>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출처: data.go.kr 15126761 · 3045247 · 15132695 / daegufood.go.kr 식품안심업소 / 제도 설명: 식약처 위생등급 API (15060883)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참고 3  구청이 고른 가게</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구청이 직접 지정하고 소개한 명단</a:t>
            </a:r>
          </a:p>
        </p:txBody>
      </p:sp>
      <p:sp>
        <p:nvSpPr>
          <p:cNvPr id="5" name="TextBox 4"/>
          <p:cNvSpPr txBox="1"/>
          <p:nvPr/>
        </p:nvSpPr>
        <p:spPr>
          <a:xfrm>
            <a:off x="777240" y="1371600"/>
            <a:ext cx="10515600" cy="411480"/>
          </a:xfrm>
          <a:prstGeom prst="rect">
            <a:avLst/>
          </a:prstGeom>
          <a:noFill/>
        </p:spPr>
        <p:txBody>
          <a:bodyPr wrap="square" lIns="45720" tIns="18288" rIns="45720" bIns="18288" anchor="t">
            <a:spAutoFit/>
          </a:bodyPr>
          <a:lstStyle/>
          <a:p>
            <a:pPr algn="l">
              <a:lnSpc>
                <a:spcPct val="115000"/>
              </a:lnSpc>
            </a:pPr>
            <a:r>
              <a:rPr sz="1500" b="0">
                <a:solidFill>
                  <a:srgbClr val="6E655C"/>
                </a:solidFill>
                <a:latin typeface="Malgun Gothic"/>
              </a:rPr>
              <a:t>공개 명단이 있는 구만 반영했어요</a:t>
            </a:r>
          </a:p>
        </p:txBody>
      </p:sp>
      <p:sp>
        <p:nvSpPr>
          <p:cNvPr id="6" name="Rounded Rectangle 5"/>
          <p:cNvSpPr/>
          <p:nvPr/>
        </p:nvSpPr>
        <p:spPr>
          <a:xfrm>
            <a:off x="548640" y="1874519"/>
            <a:ext cx="5440680" cy="429768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74519"/>
            <a:ext cx="109728" cy="429768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57400"/>
            <a:ext cx="347472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모범·구청 지정</a:t>
            </a:r>
          </a:p>
        </p:txBody>
      </p:sp>
      <p:sp>
        <p:nvSpPr>
          <p:cNvPr id="9" name="TextBox 8"/>
          <p:cNvSpPr txBox="1"/>
          <p:nvPr/>
        </p:nvSpPr>
        <p:spPr>
          <a:xfrm>
            <a:off x="4114800" y="1965960"/>
            <a:ext cx="1645920" cy="640080"/>
          </a:xfrm>
          <a:prstGeom prst="rect">
            <a:avLst/>
          </a:prstGeom>
          <a:noFill/>
        </p:spPr>
        <p:txBody>
          <a:bodyPr wrap="square" lIns="45720" tIns="18288" rIns="45720" bIns="18288" anchor="t">
            <a:spAutoFit/>
          </a:bodyPr>
          <a:lstStyle/>
          <a:p>
            <a:pPr algn="r">
              <a:lnSpc>
                <a:spcPct val="115000"/>
              </a:lnSpc>
            </a:pPr>
            <a:r>
              <a:rPr sz="3000" b="1">
                <a:solidFill>
                  <a:srgbClr val="D4A017"/>
                </a:solidFill>
                <a:latin typeface="Malgun Gothic"/>
              </a:rPr>
              <a:t>368곳</a:t>
            </a:r>
          </a:p>
        </p:txBody>
      </p:sp>
      <p:sp>
        <p:nvSpPr>
          <p:cNvPr id="10" name="TextBox 9"/>
          <p:cNvSpPr txBox="1"/>
          <p:nvPr/>
        </p:nvSpPr>
        <p:spPr>
          <a:xfrm>
            <a:off x="914400" y="2788920"/>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달서구 달서맛나</a:t>
            </a:r>
          </a:p>
        </p:txBody>
      </p:sp>
      <p:sp>
        <p:nvSpPr>
          <p:cNvPr id="11" name="TextBox 10"/>
          <p:cNvSpPr txBox="1"/>
          <p:nvPr/>
        </p:nvSpPr>
        <p:spPr>
          <a:xfrm>
            <a:off x="914400" y="3090672"/>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지정음식점 · 2026-07-03</a:t>
            </a:r>
          </a:p>
        </p:txBody>
      </p:sp>
      <p:sp>
        <p:nvSpPr>
          <p:cNvPr id="12" name="Rounded Rectangle 11"/>
          <p:cNvSpPr/>
          <p:nvPr/>
        </p:nvSpPr>
        <p:spPr>
          <a:xfrm>
            <a:off x="3246120" y="2862072"/>
            <a:ext cx="1920240" cy="347472"/>
          </a:xfrm>
          <a:prstGeom prst="roundRect">
            <a:avLst>
              <a:gd name="adj" fmla="val 30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2816351"/>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223</a:t>
            </a:r>
          </a:p>
        </p:txBody>
      </p:sp>
      <p:sp>
        <p:nvSpPr>
          <p:cNvPr id="14" name="TextBox 13"/>
          <p:cNvSpPr txBox="1"/>
          <p:nvPr/>
        </p:nvSpPr>
        <p:spPr>
          <a:xfrm>
            <a:off x="914400" y="3502152"/>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남구 모범음식점</a:t>
            </a:r>
          </a:p>
        </p:txBody>
      </p:sp>
      <p:sp>
        <p:nvSpPr>
          <p:cNvPr id="15" name="TextBox 14"/>
          <p:cNvSpPr txBox="1"/>
          <p:nvPr/>
        </p:nvSpPr>
        <p:spPr>
          <a:xfrm>
            <a:off x="914400" y="3803904"/>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2026-09-19</a:t>
            </a:r>
          </a:p>
        </p:txBody>
      </p:sp>
      <p:sp>
        <p:nvSpPr>
          <p:cNvPr id="16" name="Rounded Rectangle 15"/>
          <p:cNvSpPr/>
          <p:nvPr/>
        </p:nvSpPr>
        <p:spPr>
          <a:xfrm>
            <a:off x="3246120" y="3575304"/>
            <a:ext cx="490823" cy="347472"/>
          </a:xfrm>
          <a:prstGeom prst="roundRect">
            <a:avLst>
              <a:gd name="adj" fmla="val 30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82663" y="3529584"/>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57</a:t>
            </a:r>
          </a:p>
        </p:txBody>
      </p:sp>
      <p:sp>
        <p:nvSpPr>
          <p:cNvPr id="18" name="TextBox 17"/>
          <p:cNvSpPr txBox="1"/>
          <p:nvPr/>
        </p:nvSpPr>
        <p:spPr>
          <a:xfrm>
            <a:off x="914400" y="4215383"/>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동구 모범음식점</a:t>
            </a:r>
          </a:p>
        </p:txBody>
      </p:sp>
      <p:sp>
        <p:nvSpPr>
          <p:cNvPr id="19" name="TextBox 18"/>
          <p:cNvSpPr txBox="1"/>
          <p:nvPr/>
        </p:nvSpPr>
        <p:spPr>
          <a:xfrm>
            <a:off x="914400" y="4517136"/>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2026-04-07</a:t>
            </a:r>
          </a:p>
        </p:txBody>
      </p:sp>
      <p:sp>
        <p:nvSpPr>
          <p:cNvPr id="20" name="Rounded Rectangle 19"/>
          <p:cNvSpPr/>
          <p:nvPr/>
        </p:nvSpPr>
        <p:spPr>
          <a:xfrm>
            <a:off x="3246120" y="4288536"/>
            <a:ext cx="396103" cy="347472"/>
          </a:xfrm>
          <a:prstGeom prst="roundRect">
            <a:avLst>
              <a:gd name="adj" fmla="val 30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87943" y="4242816"/>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46</a:t>
            </a:r>
          </a:p>
        </p:txBody>
      </p:sp>
      <p:sp>
        <p:nvSpPr>
          <p:cNvPr id="22" name="TextBox 21"/>
          <p:cNvSpPr txBox="1"/>
          <p:nvPr/>
        </p:nvSpPr>
        <p:spPr>
          <a:xfrm>
            <a:off x="914400" y="4928616"/>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수성구 모범음식점</a:t>
            </a:r>
          </a:p>
        </p:txBody>
      </p:sp>
      <p:sp>
        <p:nvSpPr>
          <p:cNvPr id="23" name="TextBox 22"/>
          <p:cNvSpPr txBox="1"/>
          <p:nvPr/>
        </p:nvSpPr>
        <p:spPr>
          <a:xfrm>
            <a:off x="914400" y="5230368"/>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대구 D-데이터허브 · 2025-12-18</a:t>
            </a:r>
          </a:p>
        </p:txBody>
      </p:sp>
      <p:sp>
        <p:nvSpPr>
          <p:cNvPr id="24" name="Rounded Rectangle 23"/>
          <p:cNvSpPr/>
          <p:nvPr/>
        </p:nvSpPr>
        <p:spPr>
          <a:xfrm>
            <a:off x="3246120" y="5001768"/>
            <a:ext cx="387492" cy="347472"/>
          </a:xfrm>
          <a:prstGeom prst="roundRect">
            <a:avLst>
              <a:gd name="adj" fmla="val 30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79332" y="4956048"/>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45</a:t>
            </a:r>
          </a:p>
        </p:txBody>
      </p:sp>
      <p:sp>
        <p:nvSpPr>
          <p:cNvPr id="26" name="TextBox 25"/>
          <p:cNvSpPr txBox="1"/>
          <p:nvPr/>
        </p:nvSpPr>
        <p:spPr>
          <a:xfrm>
            <a:off x="914400" y="5669280"/>
            <a:ext cx="4846320" cy="411480"/>
          </a:xfrm>
          <a:prstGeom prst="rect">
            <a:avLst/>
          </a:prstGeom>
          <a:noFill/>
        </p:spPr>
        <p:txBody>
          <a:bodyPr wrap="square" lIns="45720" tIns="18288" rIns="45720" bIns="18288" anchor="t">
            <a:spAutoFit/>
          </a:bodyPr>
          <a:lstStyle/>
          <a:p>
            <a:pPr algn="l">
              <a:lnSpc>
                <a:spcPct val="115000"/>
              </a:lnSpc>
            </a:pPr>
            <a:r>
              <a:rPr sz="1100" b="0">
                <a:solidFill>
                  <a:srgbClr val="6E655C"/>
                </a:solidFill>
                <a:latin typeface="Malgun Gothic"/>
              </a:rPr>
              <a:t>그 밖의 구·군은 공개 명단 파일이 없어 미반영</a:t>
            </a:r>
          </a:p>
        </p:txBody>
      </p:sp>
      <p:sp>
        <p:nvSpPr>
          <p:cNvPr id="27" name="Rounded Rectangle 26"/>
          <p:cNvSpPr/>
          <p:nvPr/>
        </p:nvSpPr>
        <p:spPr>
          <a:xfrm>
            <a:off x="6199632" y="1874519"/>
            <a:ext cx="5440680" cy="429768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99632" y="1874519"/>
            <a:ext cx="109728" cy="4297680"/>
          </a:xfrm>
          <a:prstGeom prst="rect">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65392" y="2057400"/>
            <a:ext cx="347472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구청 추천 맛집</a:t>
            </a:r>
          </a:p>
        </p:txBody>
      </p:sp>
      <p:sp>
        <p:nvSpPr>
          <p:cNvPr id="30" name="TextBox 29"/>
          <p:cNvSpPr txBox="1"/>
          <p:nvPr/>
        </p:nvSpPr>
        <p:spPr>
          <a:xfrm>
            <a:off x="9765792" y="1965960"/>
            <a:ext cx="1645920" cy="640080"/>
          </a:xfrm>
          <a:prstGeom prst="rect">
            <a:avLst/>
          </a:prstGeom>
          <a:noFill/>
        </p:spPr>
        <p:txBody>
          <a:bodyPr wrap="square" lIns="45720" tIns="18288" rIns="45720" bIns="18288" anchor="t">
            <a:spAutoFit/>
          </a:bodyPr>
          <a:lstStyle/>
          <a:p>
            <a:pPr algn="r">
              <a:lnSpc>
                <a:spcPct val="115000"/>
              </a:lnSpc>
            </a:pPr>
            <a:r>
              <a:rPr sz="3000" b="1">
                <a:solidFill>
                  <a:srgbClr val="3B7DD8"/>
                </a:solidFill>
                <a:latin typeface="Malgun Gothic"/>
              </a:rPr>
              <a:t>272곳</a:t>
            </a:r>
          </a:p>
        </p:txBody>
      </p:sp>
      <p:sp>
        <p:nvSpPr>
          <p:cNvPr id="31" name="TextBox 30"/>
          <p:cNvSpPr txBox="1"/>
          <p:nvPr/>
        </p:nvSpPr>
        <p:spPr>
          <a:xfrm>
            <a:off x="6565392" y="2788920"/>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중구 맛집 현황</a:t>
            </a:r>
          </a:p>
        </p:txBody>
      </p:sp>
      <p:sp>
        <p:nvSpPr>
          <p:cNvPr id="32" name="TextBox 31"/>
          <p:cNvSpPr txBox="1"/>
          <p:nvPr/>
        </p:nvSpPr>
        <p:spPr>
          <a:xfrm>
            <a:off x="6565392" y="3090672"/>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묵은맛명가 등 · 2020-01-14</a:t>
            </a:r>
          </a:p>
        </p:txBody>
      </p:sp>
      <p:sp>
        <p:nvSpPr>
          <p:cNvPr id="33" name="Rounded Rectangle 32"/>
          <p:cNvSpPr/>
          <p:nvPr/>
        </p:nvSpPr>
        <p:spPr>
          <a:xfrm>
            <a:off x="8897112" y="2862072"/>
            <a:ext cx="1920240" cy="347472"/>
          </a:xfrm>
          <a:prstGeom prst="roundRect">
            <a:avLst>
              <a:gd name="adj" fmla="val 3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863072" y="2816351"/>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147</a:t>
            </a:r>
          </a:p>
        </p:txBody>
      </p:sp>
      <p:sp>
        <p:nvSpPr>
          <p:cNvPr id="35" name="TextBox 34"/>
          <p:cNvSpPr txBox="1"/>
          <p:nvPr/>
        </p:nvSpPr>
        <p:spPr>
          <a:xfrm>
            <a:off x="6565392" y="3502152"/>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남구 안지랑곱창골목</a:t>
            </a:r>
          </a:p>
        </p:txBody>
      </p:sp>
      <p:sp>
        <p:nvSpPr>
          <p:cNvPr id="36" name="TextBox 35"/>
          <p:cNvSpPr txBox="1"/>
          <p:nvPr/>
        </p:nvSpPr>
        <p:spPr>
          <a:xfrm>
            <a:off x="6565392" y="3803904"/>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먹거리골목 · 2026-10-02</a:t>
            </a:r>
          </a:p>
        </p:txBody>
      </p:sp>
      <p:sp>
        <p:nvSpPr>
          <p:cNvPr id="37" name="Rounded Rectangle 36"/>
          <p:cNvSpPr/>
          <p:nvPr/>
        </p:nvSpPr>
        <p:spPr>
          <a:xfrm>
            <a:off x="8897112" y="3575304"/>
            <a:ext cx="679268" cy="347472"/>
          </a:xfrm>
          <a:prstGeom prst="roundRect">
            <a:avLst>
              <a:gd name="adj" fmla="val 3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22100" y="3529584"/>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52</a:t>
            </a:r>
          </a:p>
        </p:txBody>
      </p:sp>
      <p:sp>
        <p:nvSpPr>
          <p:cNvPr id="39" name="TextBox 38"/>
          <p:cNvSpPr txBox="1"/>
          <p:nvPr/>
        </p:nvSpPr>
        <p:spPr>
          <a:xfrm>
            <a:off x="6565392" y="4215383"/>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남구 앞산맛둘레길</a:t>
            </a:r>
          </a:p>
        </p:txBody>
      </p:sp>
      <p:sp>
        <p:nvSpPr>
          <p:cNvPr id="40" name="TextBox 39"/>
          <p:cNvSpPr txBox="1"/>
          <p:nvPr/>
        </p:nvSpPr>
        <p:spPr>
          <a:xfrm>
            <a:off x="6565392" y="4517136"/>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먹거리골목 · 2026-10-02</a:t>
            </a:r>
          </a:p>
        </p:txBody>
      </p:sp>
      <p:sp>
        <p:nvSpPr>
          <p:cNvPr id="41" name="Rounded Rectangle 40"/>
          <p:cNvSpPr/>
          <p:nvPr/>
        </p:nvSpPr>
        <p:spPr>
          <a:xfrm>
            <a:off x="8897112" y="4288536"/>
            <a:ext cx="574765" cy="347472"/>
          </a:xfrm>
          <a:prstGeom prst="roundRect">
            <a:avLst>
              <a:gd name="adj" fmla="val 3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517597" y="4242816"/>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44</a:t>
            </a:r>
          </a:p>
        </p:txBody>
      </p:sp>
      <p:sp>
        <p:nvSpPr>
          <p:cNvPr id="43" name="TextBox 42"/>
          <p:cNvSpPr txBox="1"/>
          <p:nvPr/>
        </p:nvSpPr>
        <p:spPr>
          <a:xfrm>
            <a:off x="6565392" y="4928616"/>
            <a:ext cx="2286000" cy="320040"/>
          </a:xfrm>
          <a:prstGeom prst="rect">
            <a:avLst/>
          </a:prstGeom>
          <a:noFill/>
        </p:spPr>
        <p:txBody>
          <a:bodyPr wrap="square" lIns="45720" tIns="18288" rIns="45720" bIns="18288" anchor="t">
            <a:spAutoFit/>
          </a:bodyPr>
          <a:lstStyle/>
          <a:p>
            <a:pPr algn="l">
              <a:lnSpc>
                <a:spcPct val="115000"/>
              </a:lnSpc>
            </a:pPr>
            <a:r>
              <a:rPr sz="1400" b="1">
                <a:solidFill>
                  <a:srgbClr val="2E2A26"/>
                </a:solidFill>
                <a:latin typeface="Malgun Gothic"/>
              </a:rPr>
              <a:t>남구 앞산카페거리</a:t>
            </a:r>
          </a:p>
        </p:txBody>
      </p:sp>
      <p:sp>
        <p:nvSpPr>
          <p:cNvPr id="44" name="TextBox 43"/>
          <p:cNvSpPr txBox="1"/>
          <p:nvPr/>
        </p:nvSpPr>
        <p:spPr>
          <a:xfrm>
            <a:off x="6565392" y="5230368"/>
            <a:ext cx="2286000" cy="27432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먹거리골목 · 2026-09-01</a:t>
            </a:r>
          </a:p>
        </p:txBody>
      </p:sp>
      <p:sp>
        <p:nvSpPr>
          <p:cNvPr id="45" name="Rounded Rectangle 44"/>
          <p:cNvSpPr/>
          <p:nvPr/>
        </p:nvSpPr>
        <p:spPr>
          <a:xfrm>
            <a:off x="8897112" y="5001768"/>
            <a:ext cx="418011" cy="347472"/>
          </a:xfrm>
          <a:prstGeom prst="roundRect">
            <a:avLst>
              <a:gd name="adj" fmla="val 3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360843" y="4956048"/>
            <a:ext cx="731520" cy="411480"/>
          </a:xfrm>
          <a:prstGeom prst="rect">
            <a:avLst/>
          </a:prstGeom>
          <a:noFill/>
        </p:spPr>
        <p:txBody>
          <a:bodyPr wrap="square" lIns="45720" tIns="18288" rIns="45720" bIns="18288" anchor="ctr">
            <a:spAutoFit/>
          </a:bodyPr>
          <a:lstStyle/>
          <a:p>
            <a:pPr algn="l">
              <a:lnSpc>
                <a:spcPct val="115000"/>
              </a:lnSpc>
            </a:pPr>
            <a:r>
              <a:rPr sz="1400" b="1">
                <a:solidFill>
                  <a:srgbClr val="2E2A26"/>
                </a:solidFill>
                <a:latin typeface="Malgun Gothic"/>
              </a:rPr>
              <a:t>32</a:t>
            </a:r>
          </a:p>
        </p:txBody>
      </p:sp>
      <p:sp>
        <p:nvSpPr>
          <p:cNvPr id="47" name="TextBox 46"/>
          <p:cNvSpPr txBox="1"/>
          <p:nvPr/>
        </p:nvSpPr>
        <p:spPr>
          <a:xfrm>
            <a:off x="6565392" y="5669280"/>
            <a:ext cx="4846320" cy="411480"/>
          </a:xfrm>
          <a:prstGeom prst="rect">
            <a:avLst/>
          </a:prstGeom>
          <a:noFill/>
        </p:spPr>
        <p:txBody>
          <a:bodyPr wrap="square" lIns="45720" tIns="18288" rIns="45720" bIns="18288" anchor="t">
            <a:spAutoFit/>
          </a:bodyPr>
          <a:lstStyle/>
          <a:p>
            <a:pPr algn="l">
              <a:lnSpc>
                <a:spcPct val="115000"/>
              </a:lnSpc>
            </a:pPr>
            <a:r>
              <a:rPr sz="1100" b="0">
                <a:solidFill>
                  <a:srgbClr val="6E655C"/>
                </a:solidFill>
                <a:latin typeface="Malgun Gothic"/>
              </a:rPr>
              <a:t>여러 명단에 겹치는 가게는 한 번만 셈</a:t>
            </a:r>
          </a:p>
        </p:txBody>
      </p:sp>
      <p:sp>
        <p:nvSpPr>
          <p:cNvPr id="48" name="Rectangle 47"/>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출처: data.go.kr 3069692 · 15052654 · 15144887 · 15052602 · 15122879 · 15122876 · 3069689 / data.daegu.go.kr 수성구 모범음식점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참고 4  대구다움과 오래 버틴 가게</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대구 10미, 그리고 20년 넘게 영업한 가게</a:t>
            </a:r>
          </a:p>
        </p:txBody>
      </p:sp>
      <p:sp>
        <p:nvSpPr>
          <p:cNvPr id="5" name="Rounded Rectangle 4"/>
          <p:cNvSpPr/>
          <p:nvPr/>
        </p:nvSpPr>
        <p:spPr>
          <a:xfrm>
            <a:off x="548640" y="1691640"/>
            <a:ext cx="6675120" cy="4480560"/>
          </a:xfrm>
          <a:prstGeom prst="roundRect">
            <a:avLst>
              <a:gd name="adj" fmla="val 5000"/>
            </a:avLst>
          </a:prstGeom>
          <a:solidFill>
            <a:srgbClr val="FFFFFF"/>
          </a:solidFill>
          <a:ln w="12700">
            <a:solidFill>
              <a:srgbClr val="E8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91640"/>
            <a:ext cx="6675120" cy="10972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65960"/>
            <a:ext cx="4114800" cy="457200"/>
          </a:xfrm>
          <a:prstGeom prst="rect">
            <a:avLst/>
          </a:prstGeom>
          <a:noFill/>
        </p:spPr>
        <p:txBody>
          <a:bodyPr wrap="square" lIns="45720" tIns="18288" rIns="45720" bIns="18288" anchor="t">
            <a:spAutoFit/>
          </a:bodyPr>
          <a:lstStyle/>
          <a:p>
            <a:pPr algn="l">
              <a:lnSpc>
                <a:spcPct val="115000"/>
              </a:lnSpc>
            </a:pPr>
            <a:r>
              <a:rPr sz="1900" b="1">
                <a:solidFill>
                  <a:srgbClr val="2E2A26"/>
                </a:solidFill>
                <a:latin typeface="Malgun Gothic"/>
              </a:rPr>
              <a:t>대구 10미</a:t>
            </a:r>
          </a:p>
        </p:txBody>
      </p:sp>
      <p:sp>
        <p:nvSpPr>
          <p:cNvPr id="8" name="TextBox 7"/>
          <p:cNvSpPr txBox="1"/>
          <p:nvPr/>
        </p:nvSpPr>
        <p:spPr>
          <a:xfrm>
            <a:off x="4754880" y="1874519"/>
            <a:ext cx="2286000" cy="640080"/>
          </a:xfrm>
          <a:prstGeom prst="rect">
            <a:avLst/>
          </a:prstGeom>
          <a:noFill/>
        </p:spPr>
        <p:txBody>
          <a:bodyPr wrap="square" lIns="45720" tIns="18288" rIns="45720" bIns="18288" anchor="t">
            <a:spAutoFit/>
          </a:bodyPr>
          <a:lstStyle/>
          <a:p>
            <a:pPr algn="r">
              <a:lnSpc>
                <a:spcPct val="115000"/>
              </a:lnSpc>
            </a:pPr>
            <a:r>
              <a:rPr sz="3000" b="1">
                <a:solidFill>
                  <a:srgbClr val="E4572E"/>
                </a:solidFill>
                <a:latin typeface="Malgun Gothic"/>
              </a:rPr>
              <a:t>835곳</a:t>
            </a:r>
          </a:p>
        </p:txBody>
      </p:sp>
      <p:sp>
        <p:nvSpPr>
          <p:cNvPr id="9" name="TextBox 8"/>
          <p:cNvSpPr txBox="1"/>
          <p:nvPr/>
        </p:nvSpPr>
        <p:spPr>
          <a:xfrm>
            <a:off x="822960" y="2514600"/>
            <a:ext cx="6217920" cy="365760"/>
          </a:xfrm>
          <a:prstGeom prst="rect">
            <a:avLst/>
          </a:prstGeom>
          <a:noFill/>
        </p:spPr>
        <p:txBody>
          <a:bodyPr wrap="square" lIns="45720" tIns="18288" rIns="45720" bIns="18288" anchor="t">
            <a:spAutoFit/>
          </a:bodyPr>
          <a:lstStyle/>
          <a:p>
            <a:pPr algn="l">
              <a:lnSpc>
                <a:spcPct val="115000"/>
              </a:lnSpc>
            </a:pPr>
            <a:r>
              <a:rPr sz="1300" b="0">
                <a:solidFill>
                  <a:srgbClr val="6E655C"/>
                </a:solidFill>
                <a:latin typeface="Malgun Gothic"/>
              </a:rPr>
              <a:t>대구시가 선정한 향토음식 10가지 (대구푸드)</a:t>
            </a:r>
          </a:p>
        </p:txBody>
      </p:sp>
      <p:sp>
        <p:nvSpPr>
          <p:cNvPr id="10" name="Rounded Rectangle 9"/>
          <p:cNvSpPr/>
          <p:nvPr/>
        </p:nvSpPr>
        <p:spPr>
          <a:xfrm>
            <a:off x="822960" y="301752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따로국밥</a:t>
            </a:r>
          </a:p>
        </p:txBody>
      </p:sp>
      <p:sp>
        <p:nvSpPr>
          <p:cNvPr id="11" name="Rounded Rectangle 10"/>
          <p:cNvSpPr/>
          <p:nvPr/>
        </p:nvSpPr>
        <p:spPr>
          <a:xfrm>
            <a:off x="2066544" y="301752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막창구이</a:t>
            </a:r>
          </a:p>
        </p:txBody>
      </p:sp>
      <p:sp>
        <p:nvSpPr>
          <p:cNvPr id="12" name="Rounded Rectangle 11"/>
          <p:cNvSpPr/>
          <p:nvPr/>
        </p:nvSpPr>
        <p:spPr>
          <a:xfrm>
            <a:off x="3310128" y="301752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뭉티기</a:t>
            </a:r>
          </a:p>
        </p:txBody>
      </p:sp>
      <p:sp>
        <p:nvSpPr>
          <p:cNvPr id="13" name="Rounded Rectangle 12"/>
          <p:cNvSpPr/>
          <p:nvPr/>
        </p:nvSpPr>
        <p:spPr>
          <a:xfrm>
            <a:off x="4553712" y="301752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납작만두</a:t>
            </a:r>
          </a:p>
        </p:txBody>
      </p:sp>
      <p:sp>
        <p:nvSpPr>
          <p:cNvPr id="14" name="Rounded Rectangle 13"/>
          <p:cNvSpPr/>
          <p:nvPr/>
        </p:nvSpPr>
        <p:spPr>
          <a:xfrm>
            <a:off x="5797296" y="301752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050" b="1">
                <a:solidFill>
                  <a:srgbClr val="B23A1B"/>
                </a:solidFill>
                <a:latin typeface="Malgun Gothic"/>
              </a:rPr>
              <a:t>동인동찜갈비</a:t>
            </a:r>
          </a:p>
        </p:txBody>
      </p:sp>
      <p:sp>
        <p:nvSpPr>
          <p:cNvPr id="15" name="Rounded Rectangle 14"/>
          <p:cNvSpPr/>
          <p:nvPr/>
        </p:nvSpPr>
        <p:spPr>
          <a:xfrm>
            <a:off x="822960" y="365760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050" b="1">
                <a:solidFill>
                  <a:srgbClr val="B23A1B"/>
                </a:solidFill>
                <a:latin typeface="Malgun Gothic"/>
              </a:rPr>
              <a:t>논메기매운탕</a:t>
            </a:r>
          </a:p>
        </p:txBody>
      </p:sp>
      <p:sp>
        <p:nvSpPr>
          <p:cNvPr id="16" name="Rounded Rectangle 15"/>
          <p:cNvSpPr/>
          <p:nvPr/>
        </p:nvSpPr>
        <p:spPr>
          <a:xfrm>
            <a:off x="2066544" y="365760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050" b="1">
                <a:solidFill>
                  <a:srgbClr val="B23A1B"/>
                </a:solidFill>
                <a:latin typeface="Malgun Gothic"/>
              </a:rPr>
              <a:t>복어불고기</a:t>
            </a:r>
          </a:p>
        </p:txBody>
      </p:sp>
      <p:sp>
        <p:nvSpPr>
          <p:cNvPr id="17" name="Rounded Rectangle 16"/>
          <p:cNvSpPr/>
          <p:nvPr/>
        </p:nvSpPr>
        <p:spPr>
          <a:xfrm>
            <a:off x="3310128" y="365760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누른국수</a:t>
            </a:r>
          </a:p>
        </p:txBody>
      </p:sp>
      <p:sp>
        <p:nvSpPr>
          <p:cNvPr id="18" name="Rounded Rectangle 17"/>
          <p:cNvSpPr/>
          <p:nvPr/>
        </p:nvSpPr>
        <p:spPr>
          <a:xfrm>
            <a:off x="4553712" y="365760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무침회</a:t>
            </a:r>
          </a:p>
        </p:txBody>
      </p:sp>
      <p:sp>
        <p:nvSpPr>
          <p:cNvPr id="19" name="Rounded Rectangle 18"/>
          <p:cNvSpPr/>
          <p:nvPr/>
        </p:nvSpPr>
        <p:spPr>
          <a:xfrm>
            <a:off x="5797296" y="3657600"/>
            <a:ext cx="1152144" cy="475488"/>
          </a:xfrm>
          <a:prstGeom prst="roundRect">
            <a:avLst>
              <a:gd name="adj" fmla="val 50000"/>
            </a:avLst>
          </a:prstGeom>
          <a:solidFill>
            <a:srgbClr val="FDE7E0"/>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200" b="1">
                <a:solidFill>
                  <a:srgbClr val="B23A1B"/>
                </a:solidFill>
                <a:latin typeface="Malgun Gothic"/>
              </a:rPr>
              <a:t>야끼우동</a:t>
            </a:r>
          </a:p>
        </p:txBody>
      </p:sp>
      <p:sp>
        <p:nvSpPr>
          <p:cNvPr id="20" name="TextBox 19"/>
          <p:cNvSpPr txBox="1"/>
          <p:nvPr/>
        </p:nvSpPr>
        <p:spPr>
          <a:xfrm>
            <a:off x="822960" y="4434840"/>
            <a:ext cx="6217920" cy="1463040"/>
          </a:xfrm>
          <a:prstGeom prst="rect">
            <a:avLst/>
          </a:prstGeom>
          <a:noFill/>
        </p:spPr>
        <p:txBody>
          <a:bodyPr wrap="square" lIns="45720" tIns="18288" rIns="45720" bIns="18288" anchor="t">
            <a:spAutoFit/>
          </a:bodyPr>
          <a:lstStyle/>
          <a:p>
            <a:pPr algn="l">
              <a:lnSpc>
                <a:spcPct val="115000"/>
              </a:lnSpc>
            </a:pPr>
            <a:r>
              <a:rPr sz="1300" b="1">
                <a:solidFill>
                  <a:srgbClr val="2E2A26"/>
                </a:solidFill>
                <a:latin typeface="Malgun Gothic"/>
              </a:rPr>
              <a:t>찾는 방법</a:t>
            </a:r>
          </a:p>
          <a:p>
            <a:pPr algn="l">
              <a:lnSpc>
                <a:spcPct val="115000"/>
              </a:lnSpc>
            </a:pPr>
            <a:r>
              <a:rPr sz="1300" b="0">
                <a:solidFill>
                  <a:srgbClr val="2E2A26"/>
                </a:solidFill>
                <a:latin typeface="Malgun Gothic"/>
              </a:rPr>
              <a:t>상호명이나 명단의 대표메뉴에 10미 이름이 들어간 가게</a:t>
            </a:r>
          </a:p>
          <a:p>
            <a:pPr algn="l">
              <a:lnSpc>
                <a:spcPct val="115000"/>
              </a:lnSpc>
            </a:pPr>
            <a:r>
              <a:rPr sz="1200" b="0">
                <a:solidFill>
                  <a:srgbClr val="6E655C"/>
                </a:solidFill>
                <a:latin typeface="Malgun Gothic"/>
              </a:rPr>
              <a:t>메뉴로만 파는 가게는 빠질 수 있음</a:t>
            </a:r>
          </a:p>
        </p:txBody>
      </p:sp>
      <p:sp>
        <p:nvSpPr>
          <p:cNvPr id="21" name="Rounded Rectangle 20"/>
          <p:cNvSpPr/>
          <p:nvPr/>
        </p:nvSpPr>
        <p:spPr>
          <a:xfrm>
            <a:off x="7498079" y="1691640"/>
            <a:ext cx="4142232" cy="4480560"/>
          </a:xfrm>
          <a:prstGeom prst="roundRect">
            <a:avLst>
              <a:gd name="adj" fmla="val 5000"/>
            </a:avLst>
          </a:prstGeom>
          <a:solidFill>
            <a:srgbClr val="2E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98079" y="1691640"/>
            <a:ext cx="4142232" cy="109728"/>
          </a:xfrm>
          <a:prstGeom prst="rect">
            <a:avLst/>
          </a:prstGeom>
          <a:solidFill>
            <a:srgbClr val="7A4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0" y="1965960"/>
            <a:ext cx="3657600" cy="457200"/>
          </a:xfrm>
          <a:prstGeom prst="rect">
            <a:avLst/>
          </a:prstGeom>
          <a:noFill/>
        </p:spPr>
        <p:txBody>
          <a:bodyPr wrap="square" lIns="45720" tIns="18288" rIns="45720" bIns="18288" anchor="t">
            <a:spAutoFit/>
          </a:bodyPr>
          <a:lstStyle/>
          <a:p>
            <a:pPr algn="l">
              <a:lnSpc>
                <a:spcPct val="115000"/>
              </a:lnSpc>
            </a:pPr>
            <a:r>
              <a:rPr sz="1900" b="1">
                <a:solidFill>
                  <a:srgbClr val="FFFFFF"/>
                </a:solidFill>
                <a:latin typeface="Malgun Gothic"/>
              </a:rPr>
              <a:t>20년 이상 영업</a:t>
            </a:r>
          </a:p>
        </p:txBody>
      </p:sp>
      <p:sp>
        <p:nvSpPr>
          <p:cNvPr id="24" name="TextBox 23"/>
          <p:cNvSpPr txBox="1"/>
          <p:nvPr/>
        </p:nvSpPr>
        <p:spPr>
          <a:xfrm>
            <a:off x="7772400" y="2560320"/>
            <a:ext cx="3657600" cy="822960"/>
          </a:xfrm>
          <a:prstGeom prst="rect">
            <a:avLst/>
          </a:prstGeom>
          <a:noFill/>
        </p:spPr>
        <p:txBody>
          <a:bodyPr wrap="square" lIns="45720" tIns="18288" rIns="45720" bIns="18288" anchor="t">
            <a:spAutoFit/>
          </a:bodyPr>
          <a:lstStyle/>
          <a:p>
            <a:pPr algn="l">
              <a:lnSpc>
                <a:spcPct val="115000"/>
              </a:lnSpc>
            </a:pPr>
            <a:r>
              <a:rPr sz="4400" b="1">
                <a:solidFill>
                  <a:srgbClr val="C9A8F0"/>
                </a:solidFill>
                <a:latin typeface="Malgun Gothic"/>
              </a:rPr>
              <a:t>566곳</a:t>
            </a:r>
          </a:p>
        </p:txBody>
      </p:sp>
      <p:sp>
        <p:nvSpPr>
          <p:cNvPr id="25" name="TextBox 24"/>
          <p:cNvSpPr txBox="1"/>
          <p:nvPr/>
        </p:nvSpPr>
        <p:spPr>
          <a:xfrm>
            <a:off x="7772400" y="3383280"/>
            <a:ext cx="3657600" cy="365760"/>
          </a:xfrm>
          <a:prstGeom prst="rect">
            <a:avLst/>
          </a:prstGeom>
          <a:noFill/>
        </p:spPr>
        <p:txBody>
          <a:bodyPr wrap="square" lIns="45720" tIns="18288" rIns="45720" bIns="18288" anchor="t">
            <a:spAutoFit/>
          </a:bodyPr>
          <a:lstStyle/>
          <a:p>
            <a:pPr algn="l">
              <a:lnSpc>
                <a:spcPct val="115000"/>
              </a:lnSpc>
            </a:pPr>
            <a:r>
              <a:rPr sz="1300" b="0">
                <a:solidFill>
                  <a:srgbClr val="D9CFC4"/>
                </a:solidFill>
                <a:latin typeface="Malgun Gothic"/>
              </a:rPr>
              <a:t>남구 · 인허가일자 기준</a:t>
            </a:r>
          </a:p>
        </p:txBody>
      </p:sp>
      <p:sp>
        <p:nvSpPr>
          <p:cNvPr id="26" name="Rectangle 25"/>
          <p:cNvSpPr/>
          <p:nvPr/>
        </p:nvSpPr>
        <p:spPr>
          <a:xfrm>
            <a:off x="7772400" y="3931920"/>
            <a:ext cx="3566160" cy="13716"/>
          </a:xfrm>
          <a:prstGeom prst="rect">
            <a:avLst/>
          </a:prstGeom>
          <a:solidFill>
            <a:srgbClr val="5A5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4069080"/>
            <a:ext cx="3657600" cy="2011680"/>
          </a:xfrm>
          <a:prstGeom prst="rect">
            <a:avLst/>
          </a:prstGeom>
          <a:noFill/>
        </p:spPr>
        <p:txBody>
          <a:bodyPr wrap="square" lIns="45720" tIns="18288" rIns="45720" bIns="18288" anchor="t">
            <a:spAutoFit/>
          </a:bodyPr>
          <a:lstStyle/>
          <a:p>
            <a:pPr algn="l">
              <a:lnSpc>
                <a:spcPct val="115000"/>
              </a:lnSpc>
            </a:pPr>
            <a:r>
              <a:rPr sz="1400" b="1">
                <a:solidFill>
                  <a:srgbClr val="FFFFFF"/>
                </a:solidFill>
                <a:latin typeface="Malgun Gothic"/>
              </a:rPr>
              <a:t>남구 식품위생업소현황</a:t>
            </a:r>
          </a:p>
          <a:p>
            <a:pPr algn="l">
              <a:lnSpc>
                <a:spcPct val="115000"/>
              </a:lnSpc>
            </a:pPr>
            <a:r>
              <a:rPr sz="1100" b="0">
                <a:solidFill>
                  <a:srgbClr val="A89C90"/>
                </a:solidFill>
                <a:latin typeface="Malgun Gothic"/>
              </a:rPr>
              <a:t>2026-06-20 · 공공데이터포털</a:t>
            </a:r>
          </a:p>
          <a:p>
            <a:pPr algn="l">
              <a:lnSpc>
                <a:spcPct val="115000"/>
              </a:lnSpc>
            </a:pPr>
            <a:endParaRPr sz="1100" b="0">
              <a:solidFill>
                <a:srgbClr val="A89C90"/>
              </a:solidFill>
              <a:latin typeface="Malgun Gothic"/>
            </a:endParaRPr>
          </a:p>
          <a:p>
            <a:pPr algn="l">
              <a:lnSpc>
                <a:spcPct val="115000"/>
              </a:lnSpc>
            </a:pPr>
            <a:r>
              <a:rPr sz="1300" b="0">
                <a:solidFill>
                  <a:srgbClr val="F3E9DD"/>
                </a:solidFill>
                <a:latin typeface="Malgun Gothic"/>
              </a:rPr>
              <a:t>인허가일자가 공개된 남구만 계산</a:t>
            </a:r>
          </a:p>
          <a:p>
            <a:pPr algn="l">
              <a:lnSpc>
                <a:spcPct val="115000"/>
              </a:lnSpc>
            </a:pPr>
            <a:r>
              <a:rPr sz="1300" b="0">
                <a:solidFill>
                  <a:srgbClr val="F3E9DD"/>
                </a:solidFill>
                <a:latin typeface="Malgun Gothic"/>
              </a:rPr>
              <a:t>LOCALDATA 인허가 파일로 대구 전체 확대 가능</a:t>
            </a:r>
          </a:p>
        </p:txBody>
      </p:sp>
      <p:sp>
        <p:nvSpPr>
          <p:cNvPr id="28" name="Rectangle 27"/>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출처: daegufood.go.kr 대구10미 / data.go.kr 3072264 (남구 식품위생업소현황)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부록 1/2</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기관별 사용 데이터 전체 목록</a:t>
            </a:r>
          </a:p>
        </p:txBody>
      </p:sp>
      <p:graphicFrame>
        <p:nvGraphicFramePr>
          <p:cNvPr id="5" name="Table 4"/>
          <p:cNvGraphicFramePr>
            <a:graphicFrameLocks noGrp="1"/>
          </p:cNvGraphicFramePr>
          <p:nvPr/>
        </p:nvGraphicFramePr>
        <p:xfrm>
          <a:off x="548640" y="1600200"/>
          <a:ext cx="11091672" cy="4608576"/>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tblGrid>
              <a:tr h="384048">
                <a:tc>
                  <a:txBody>
                    <a:bodyPr/>
                    <a:lstStyle/>
                    <a:p>
                      <a:r>
                        <a:rPr sz="1200" b="1">
                          <a:solidFill>
                            <a:srgbClr val="FFFFFF"/>
                          </a:solidFill>
                          <a:latin typeface="Malgun Gothic"/>
                        </a:rPr>
                        <a:t>제공 기관</a:t>
                      </a:r>
                    </a:p>
                  </a:txBody>
                  <a:tcPr anchor="ctr">
                    <a:solidFill>
                      <a:srgbClr val="2E2A26"/>
                    </a:solidFill>
                  </a:tcPr>
                </a:tc>
                <a:tc>
                  <a:txBody>
                    <a:bodyPr/>
                    <a:lstStyle/>
                    <a:p>
                      <a:r>
                        <a:rPr sz="1200" b="1">
                          <a:solidFill>
                            <a:srgbClr val="FFFFFF"/>
                          </a:solidFill>
                          <a:latin typeface="Malgun Gothic"/>
                        </a:rPr>
                        <a:t>데이터</a:t>
                      </a:r>
                    </a:p>
                  </a:txBody>
                  <a:tcPr anchor="ctr">
                    <a:solidFill>
                      <a:srgbClr val="2E2A26"/>
                    </a:solidFill>
                  </a:tcPr>
                </a:tc>
                <a:tc>
                  <a:txBody>
                    <a:bodyPr/>
                    <a:lstStyle/>
                    <a:p>
                      <a:r>
                        <a:rPr sz="1200" b="1">
                          <a:solidFill>
                            <a:srgbClr val="FFFFFF"/>
                          </a:solidFill>
                          <a:latin typeface="Malgun Gothic"/>
                        </a:rPr>
                        <a:t>쓰인 곳</a:t>
                      </a:r>
                    </a:p>
                  </a:txBody>
                  <a:tcPr anchor="ctr">
                    <a:solidFill>
                      <a:srgbClr val="2E2A26"/>
                    </a:solidFill>
                  </a:tcPr>
                </a:tc>
                <a:tc>
                  <a:txBody>
                    <a:bodyPr/>
                    <a:lstStyle/>
                    <a:p>
                      <a:r>
                        <a:rPr sz="1200" b="1">
                          <a:solidFill>
                            <a:srgbClr val="FFFFFF"/>
                          </a:solidFill>
                          <a:latin typeface="Malgun Gothic"/>
                        </a:rPr>
                        <a:t>기준일</a:t>
                      </a:r>
                    </a:p>
                  </a:txBody>
                  <a:tcPr anchor="ctr">
                    <a:solidFill>
                      <a:srgbClr val="2E2A26"/>
                    </a:solidFill>
                  </a:tcPr>
                </a:tc>
                <a:tc>
                  <a:txBody>
                    <a:bodyPr/>
                    <a:lstStyle/>
                    <a:p>
                      <a:r>
                        <a:rPr sz="1200" b="1">
                          <a:solidFill>
                            <a:srgbClr val="FFFFFF"/>
                          </a:solidFill>
                          <a:latin typeface="Malgun Gothic"/>
                        </a:rPr>
                        <a:t>출처</a:t>
                      </a:r>
                    </a:p>
                  </a:txBody>
                  <a:tcPr anchor="ctr">
                    <a:solidFill>
                      <a:srgbClr val="2E2A26"/>
                    </a:solidFill>
                  </a:tcPr>
                </a:tc>
                <a:extLst>
                  <a:ext uri="{0D108BD9-81ED-4DB2-BD59-A6C34878D82A}">
                    <a16:rowId xmlns:a16="http://schemas.microsoft.com/office/drawing/2014/main" val="10000"/>
                  </a:ext>
                </a:extLst>
              </a:tr>
              <a:tr h="384048">
                <a:tc>
                  <a:txBody>
                    <a:bodyPr/>
                    <a:lstStyle/>
                    <a:p>
                      <a:r>
                        <a:rPr sz="1150" b="1">
                          <a:solidFill>
                            <a:srgbClr val="E4572E"/>
                          </a:solidFill>
                          <a:latin typeface="Malgun Gothic"/>
                        </a:rPr>
                        <a:t>소상공인시장진흥공단</a:t>
                      </a:r>
                    </a:p>
                  </a:txBody>
                  <a:tcPr anchor="ctr">
                    <a:solidFill>
                      <a:srgbClr val="FFFFFF"/>
                    </a:solidFill>
                  </a:tcPr>
                </a:tc>
                <a:tc>
                  <a:txBody>
                    <a:bodyPr/>
                    <a:lstStyle/>
                    <a:p>
                      <a:r>
                        <a:rPr sz="1150" b="0">
                          <a:solidFill>
                            <a:srgbClr val="2E2A26"/>
                          </a:solidFill>
                          <a:latin typeface="Malgun Gothic"/>
                        </a:rPr>
                        <a:t>상가(상권)정보</a:t>
                      </a:r>
                    </a:p>
                  </a:txBody>
                  <a:tcPr anchor="ctr">
                    <a:solidFill>
                      <a:srgbClr val="FFFFFF"/>
                    </a:solidFill>
                  </a:tcPr>
                </a:tc>
                <a:tc>
                  <a:txBody>
                    <a:bodyPr/>
                    <a:lstStyle/>
                    <a:p>
                      <a:r>
                        <a:rPr sz="1150" b="0">
                          <a:solidFill>
                            <a:srgbClr val="2E2A26"/>
                          </a:solidFill>
                          <a:latin typeface="Malgun Gothic"/>
                        </a:rPr>
                        <a:t>바탕 데이터</a:t>
                      </a:r>
                    </a:p>
                  </a:txBody>
                  <a:tcPr anchor="ctr">
                    <a:solidFill>
                      <a:srgbClr val="FFFFFF"/>
                    </a:solidFill>
                  </a:tcPr>
                </a:tc>
                <a:tc>
                  <a:txBody>
                    <a:bodyPr/>
                    <a:lstStyle/>
                    <a:p>
                      <a:r>
                        <a:rPr sz="1150" b="0">
                          <a:solidFill>
                            <a:srgbClr val="2E2A26"/>
                          </a:solidFill>
                          <a:latin typeface="Malgun Gothic"/>
                        </a:rPr>
                        <a:t>2026-06-30</a:t>
                      </a:r>
                    </a:p>
                  </a:txBody>
                  <a:tcPr anchor="ctr">
                    <a:solidFill>
                      <a:srgbClr val="FFFFFF"/>
                    </a:solidFill>
                  </a:tcPr>
                </a:tc>
                <a:tc>
                  <a:txBody>
                    <a:bodyPr/>
                    <a:lstStyle/>
                    <a:p>
                      <a:r>
                        <a:rPr sz="1150" b="0">
                          <a:solidFill>
                            <a:srgbClr val="2E2A26"/>
                          </a:solidFill>
                          <a:latin typeface="Malgun Gothic"/>
                        </a:rPr>
                        <a:t>data.go.kr 15083033</a:t>
                      </a:r>
                    </a:p>
                  </a:txBody>
                  <a:tcPr anchor="ctr">
                    <a:solidFill>
                      <a:srgbClr val="FFFFFF"/>
                    </a:solidFill>
                  </a:tcPr>
                </a:tc>
                <a:extLst>
                  <a:ext uri="{0D108BD9-81ED-4DB2-BD59-A6C34878D82A}">
                    <a16:rowId xmlns:a16="http://schemas.microsoft.com/office/drawing/2014/main" val="10001"/>
                  </a:ext>
                </a:extLst>
              </a:tr>
              <a:tr h="384048">
                <a:tc>
                  <a:txBody>
                    <a:bodyPr/>
                    <a:lstStyle/>
                    <a:p>
                      <a:r>
                        <a:rPr sz="1150" b="1">
                          <a:solidFill>
                            <a:srgbClr val="E4572E"/>
                          </a:solidFill>
                          <a:latin typeface="Malgun Gothic"/>
                        </a:rPr>
                        <a:t>소상공인시장진흥공단</a:t>
                      </a:r>
                    </a:p>
                  </a:txBody>
                  <a:tcPr anchor="ctr">
                    <a:solidFill>
                      <a:srgbClr val="F3ECE3"/>
                    </a:solidFill>
                  </a:tcPr>
                </a:tc>
                <a:tc>
                  <a:txBody>
                    <a:bodyPr/>
                    <a:lstStyle/>
                    <a:p>
                      <a:r>
                        <a:rPr sz="1150" b="0">
                          <a:solidFill>
                            <a:srgbClr val="2E2A26"/>
                          </a:solidFill>
                          <a:latin typeface="Malgun Gothic"/>
                        </a:rPr>
                        <a:t>전국 백년가게 지정리스트</a:t>
                      </a:r>
                    </a:p>
                  </a:txBody>
                  <a:tcPr anchor="ctr">
                    <a:solidFill>
                      <a:srgbClr val="F3ECE3"/>
                    </a:solidFill>
                  </a:tcPr>
                </a:tc>
                <a:tc>
                  <a:txBody>
                    <a:bodyPr/>
                    <a:lstStyle/>
                    <a:p>
                      <a:r>
                        <a:rPr sz="1150" b="0">
                          <a:solidFill>
                            <a:srgbClr val="2E2A26"/>
                          </a:solidFill>
                          <a:latin typeface="Malgun Gothic"/>
                        </a:rPr>
                        <a:t>백년가게</a:t>
                      </a:r>
                    </a:p>
                  </a:txBody>
                  <a:tcPr anchor="ctr">
                    <a:solidFill>
                      <a:srgbClr val="F3ECE3"/>
                    </a:solidFill>
                  </a:tcPr>
                </a:tc>
                <a:tc>
                  <a:txBody>
                    <a:bodyPr/>
                    <a:lstStyle/>
                    <a:p>
                      <a:r>
                        <a:rPr sz="1150" b="0">
                          <a:solidFill>
                            <a:srgbClr val="2E2A26"/>
                          </a:solidFill>
                          <a:latin typeface="Malgun Gothic"/>
                        </a:rPr>
                        <a:t>2026-08-20</a:t>
                      </a:r>
                    </a:p>
                  </a:txBody>
                  <a:tcPr anchor="ctr">
                    <a:solidFill>
                      <a:srgbClr val="F3ECE3"/>
                    </a:solidFill>
                  </a:tcPr>
                </a:tc>
                <a:tc>
                  <a:txBody>
                    <a:bodyPr/>
                    <a:lstStyle/>
                    <a:p>
                      <a:r>
                        <a:rPr sz="1150" b="0">
                          <a:solidFill>
                            <a:srgbClr val="2E2A26"/>
                          </a:solidFill>
                          <a:latin typeface="Malgun Gothic"/>
                        </a:rPr>
                        <a:t>data.go.kr 15132695</a:t>
                      </a:r>
                    </a:p>
                  </a:txBody>
                  <a:tcPr anchor="ctr">
                    <a:solidFill>
                      <a:srgbClr val="F3ECE3"/>
                    </a:solidFill>
                  </a:tcPr>
                </a:tc>
                <a:extLst>
                  <a:ext uri="{0D108BD9-81ED-4DB2-BD59-A6C34878D82A}">
                    <a16:rowId xmlns:a16="http://schemas.microsoft.com/office/drawing/2014/main" val="10002"/>
                  </a:ext>
                </a:extLst>
              </a:tr>
              <a:tr h="384048">
                <a:tc>
                  <a:txBody>
                    <a:bodyPr/>
                    <a:lstStyle/>
                    <a:p>
                      <a:r>
                        <a:rPr sz="1150" b="1">
                          <a:solidFill>
                            <a:srgbClr val="E4572E"/>
                          </a:solidFill>
                          <a:latin typeface="Malgun Gothic"/>
                        </a:rPr>
                        <a:t>행정안전부</a:t>
                      </a:r>
                    </a:p>
                  </a:txBody>
                  <a:tcPr anchor="ctr">
                    <a:solidFill>
                      <a:srgbClr val="FFFFFF"/>
                    </a:solidFill>
                  </a:tcPr>
                </a:tc>
                <a:tc>
                  <a:txBody>
                    <a:bodyPr/>
                    <a:lstStyle/>
                    <a:p>
                      <a:r>
                        <a:rPr sz="1150" b="0">
                          <a:solidFill>
                            <a:srgbClr val="2E2A26"/>
                          </a:solidFill>
                          <a:latin typeface="Malgun Gothic"/>
                        </a:rPr>
                        <a:t>착한가격업소 현황 (제도 안내)</a:t>
                      </a:r>
                    </a:p>
                  </a:txBody>
                  <a:tcPr anchor="ctr">
                    <a:solidFill>
                      <a:srgbClr val="FFFFFF"/>
                    </a:solidFill>
                  </a:tcPr>
                </a:tc>
                <a:tc>
                  <a:txBody>
                    <a:bodyPr/>
                    <a:lstStyle/>
                    <a:p>
                      <a:r>
                        <a:rPr sz="1150" b="0">
                          <a:solidFill>
                            <a:srgbClr val="2E2A26"/>
                          </a:solidFill>
                          <a:latin typeface="Malgun Gothic"/>
                        </a:rPr>
                        <a:t>착한가격업소</a:t>
                      </a:r>
                    </a:p>
                  </a:txBody>
                  <a:tcPr anchor="ctr">
                    <a:solidFill>
                      <a:srgbClr val="FFFFFF"/>
                    </a:solidFill>
                  </a:tcPr>
                </a:tc>
                <a:tc>
                  <a:txBody>
                    <a:bodyPr/>
                    <a:lstStyle/>
                    <a:p>
                      <a:r>
                        <a:rPr sz="1150" b="0">
                          <a:solidFill>
                            <a:srgbClr val="2E2A26"/>
                          </a:solidFill>
                          <a:latin typeface="Malgun Gothic"/>
                        </a:rPr>
                        <a:t>2026-09-30</a:t>
                      </a:r>
                    </a:p>
                  </a:txBody>
                  <a:tcPr anchor="ctr">
                    <a:solidFill>
                      <a:srgbClr val="FFFFFF"/>
                    </a:solidFill>
                  </a:tcPr>
                </a:tc>
                <a:tc>
                  <a:txBody>
                    <a:bodyPr/>
                    <a:lstStyle/>
                    <a:p>
                      <a:r>
                        <a:rPr sz="1150" b="0">
                          <a:solidFill>
                            <a:srgbClr val="2E2A26"/>
                          </a:solidFill>
                          <a:latin typeface="Malgun Gothic"/>
                        </a:rPr>
                        <a:t>data.go.kr 3045247</a:t>
                      </a:r>
                    </a:p>
                  </a:txBody>
                  <a:tcPr anchor="ctr">
                    <a:solidFill>
                      <a:srgbClr val="FFFFFF"/>
                    </a:solidFill>
                  </a:tcPr>
                </a:tc>
                <a:extLst>
                  <a:ext uri="{0D108BD9-81ED-4DB2-BD59-A6C34878D82A}">
                    <a16:rowId xmlns:a16="http://schemas.microsoft.com/office/drawing/2014/main" val="10003"/>
                  </a:ext>
                </a:extLst>
              </a:tr>
              <a:tr h="384048">
                <a:tc>
                  <a:txBody>
                    <a:bodyPr/>
                    <a:lstStyle/>
                    <a:p>
                      <a:r>
                        <a:rPr sz="1150" b="1">
                          <a:solidFill>
                            <a:srgbClr val="E4572E"/>
                          </a:solidFill>
                          <a:latin typeface="Malgun Gothic"/>
                        </a:rPr>
                        <a:t>식품의약품안전처</a:t>
                      </a:r>
                    </a:p>
                  </a:txBody>
                  <a:tcPr anchor="ctr">
                    <a:solidFill>
                      <a:srgbClr val="F3ECE3"/>
                    </a:solidFill>
                  </a:tcPr>
                </a:tc>
                <a:tc>
                  <a:txBody>
                    <a:bodyPr/>
                    <a:lstStyle/>
                    <a:p>
                      <a:r>
                        <a:rPr sz="1150" b="0">
                          <a:solidFill>
                            <a:srgbClr val="2E2A26"/>
                          </a:solidFill>
                          <a:latin typeface="Malgun Gothic"/>
                        </a:rPr>
                        <a:t>식품안심업소(위생등급) API (제도 안내)</a:t>
                      </a:r>
                    </a:p>
                  </a:txBody>
                  <a:tcPr anchor="ctr">
                    <a:solidFill>
                      <a:srgbClr val="F3ECE3"/>
                    </a:solidFill>
                  </a:tcPr>
                </a:tc>
                <a:tc>
                  <a:txBody>
                    <a:bodyPr/>
                    <a:lstStyle/>
                    <a:p>
                      <a:r>
                        <a:rPr sz="1150" b="0">
                          <a:solidFill>
                            <a:srgbClr val="2E2A26"/>
                          </a:solidFill>
                          <a:latin typeface="Malgun Gothic"/>
                        </a:rPr>
                        <a:t>위생등급</a:t>
                      </a:r>
                    </a:p>
                  </a:txBody>
                  <a:tcPr anchor="ctr">
                    <a:solidFill>
                      <a:srgbClr val="F3ECE3"/>
                    </a:solidFill>
                  </a:tcPr>
                </a:tc>
                <a:tc>
                  <a:txBody>
                    <a:bodyPr/>
                    <a:lstStyle/>
                    <a:p>
                      <a:r>
                        <a:rPr sz="1150" b="0">
                          <a:solidFill>
                            <a:srgbClr val="2E2A26"/>
                          </a:solidFill>
                          <a:latin typeface="Malgun Gothic"/>
                        </a:rPr>
                        <a:t>-</a:t>
                      </a:r>
                    </a:p>
                  </a:txBody>
                  <a:tcPr anchor="ctr">
                    <a:solidFill>
                      <a:srgbClr val="F3ECE3"/>
                    </a:solidFill>
                  </a:tcPr>
                </a:tc>
                <a:tc>
                  <a:txBody>
                    <a:bodyPr/>
                    <a:lstStyle/>
                    <a:p>
                      <a:r>
                        <a:rPr sz="1150" b="0">
                          <a:solidFill>
                            <a:srgbClr val="2E2A26"/>
                          </a:solidFill>
                          <a:latin typeface="Malgun Gothic"/>
                        </a:rPr>
                        <a:t>data.go.kr 15060883</a:t>
                      </a:r>
                    </a:p>
                  </a:txBody>
                  <a:tcPr anchor="ctr">
                    <a:solidFill>
                      <a:srgbClr val="F3ECE3"/>
                    </a:solidFill>
                  </a:tcPr>
                </a:tc>
                <a:extLst>
                  <a:ext uri="{0D108BD9-81ED-4DB2-BD59-A6C34878D82A}">
                    <a16:rowId xmlns:a16="http://schemas.microsoft.com/office/drawing/2014/main" val="10004"/>
                  </a:ext>
                </a:extLst>
              </a:tr>
              <a:tr h="384048">
                <a:tc>
                  <a:txBody>
                    <a:bodyPr/>
                    <a:lstStyle/>
                    <a:p>
                      <a:r>
                        <a:rPr sz="1150" b="1">
                          <a:solidFill>
                            <a:srgbClr val="E4572E"/>
                          </a:solidFill>
                          <a:latin typeface="Malgun Gothic"/>
                        </a:rPr>
                        <a:t>대구광역시</a:t>
                      </a:r>
                    </a:p>
                  </a:txBody>
                  <a:tcPr anchor="ctr">
                    <a:solidFill>
                      <a:srgbClr val="FFFFFF"/>
                    </a:solidFill>
                  </a:tcPr>
                </a:tc>
                <a:tc>
                  <a:txBody>
                    <a:bodyPr/>
                    <a:lstStyle/>
                    <a:p>
                      <a:r>
                        <a:rPr sz="1150" b="0">
                          <a:solidFill>
                            <a:srgbClr val="2E2A26"/>
                          </a:solidFill>
                          <a:latin typeface="Malgun Gothic"/>
                        </a:rPr>
                        <a:t>대구광역시 착한가격업소 현황</a:t>
                      </a:r>
                    </a:p>
                  </a:txBody>
                  <a:tcPr anchor="ctr">
                    <a:solidFill>
                      <a:srgbClr val="FFFFFF"/>
                    </a:solidFill>
                  </a:tcPr>
                </a:tc>
                <a:tc>
                  <a:txBody>
                    <a:bodyPr/>
                    <a:lstStyle/>
                    <a:p>
                      <a:r>
                        <a:rPr sz="1150" b="0">
                          <a:solidFill>
                            <a:srgbClr val="2E2A26"/>
                          </a:solidFill>
                          <a:latin typeface="Malgun Gothic"/>
                        </a:rPr>
                        <a:t>착한가격업소</a:t>
                      </a:r>
                    </a:p>
                  </a:txBody>
                  <a:tcPr anchor="ctr">
                    <a:solidFill>
                      <a:srgbClr val="FFFFFF"/>
                    </a:solidFill>
                  </a:tcPr>
                </a:tc>
                <a:tc>
                  <a:txBody>
                    <a:bodyPr/>
                    <a:lstStyle/>
                    <a:p>
                      <a:r>
                        <a:rPr sz="1150" b="0">
                          <a:solidFill>
                            <a:srgbClr val="2E2A26"/>
                          </a:solidFill>
                          <a:latin typeface="Malgun Gothic"/>
                        </a:rPr>
                        <a:t>2026-10-01</a:t>
                      </a:r>
                    </a:p>
                  </a:txBody>
                  <a:tcPr anchor="ctr">
                    <a:solidFill>
                      <a:srgbClr val="FFFFFF"/>
                    </a:solidFill>
                  </a:tcPr>
                </a:tc>
                <a:tc>
                  <a:txBody>
                    <a:bodyPr/>
                    <a:lstStyle/>
                    <a:p>
                      <a:r>
                        <a:rPr sz="1150" b="0">
                          <a:solidFill>
                            <a:srgbClr val="2E2A26"/>
                          </a:solidFill>
                          <a:latin typeface="Malgun Gothic"/>
                        </a:rPr>
                        <a:t>data.go.kr 15126761</a:t>
                      </a:r>
                    </a:p>
                  </a:txBody>
                  <a:tcPr anchor="ctr">
                    <a:solidFill>
                      <a:srgbClr val="FFFFFF"/>
                    </a:solidFill>
                  </a:tcPr>
                </a:tc>
                <a:extLst>
                  <a:ext uri="{0D108BD9-81ED-4DB2-BD59-A6C34878D82A}">
                    <a16:rowId xmlns:a16="http://schemas.microsoft.com/office/drawing/2014/main" val="10005"/>
                  </a:ext>
                </a:extLst>
              </a:tr>
              <a:tr h="384048">
                <a:tc>
                  <a:txBody>
                    <a:bodyPr/>
                    <a:lstStyle/>
                    <a:p>
                      <a:r>
                        <a:rPr sz="1150" b="1">
                          <a:solidFill>
                            <a:srgbClr val="E4572E"/>
                          </a:solidFill>
                          <a:latin typeface="Malgun Gothic"/>
                        </a:rPr>
                        <a:t>대구광역시 (대구푸드)</a:t>
                      </a:r>
                    </a:p>
                  </a:txBody>
                  <a:tcPr anchor="ctr">
                    <a:solidFill>
                      <a:srgbClr val="F3ECE3"/>
                    </a:solidFill>
                  </a:tcPr>
                </a:tc>
                <a:tc>
                  <a:txBody>
                    <a:bodyPr/>
                    <a:lstStyle/>
                    <a:p>
                      <a:r>
                        <a:rPr sz="1150" b="0">
                          <a:solidFill>
                            <a:srgbClr val="2E2A26"/>
                          </a:solidFill>
                          <a:latin typeface="Malgun Gothic"/>
                        </a:rPr>
                        <a:t>대구 10미 소개</a:t>
                      </a:r>
                    </a:p>
                  </a:txBody>
                  <a:tcPr anchor="ctr">
                    <a:solidFill>
                      <a:srgbClr val="F3ECE3"/>
                    </a:solidFill>
                  </a:tcPr>
                </a:tc>
                <a:tc>
                  <a:txBody>
                    <a:bodyPr/>
                    <a:lstStyle/>
                    <a:p>
                      <a:r>
                        <a:rPr sz="1150" b="0">
                          <a:solidFill>
                            <a:srgbClr val="2E2A26"/>
                          </a:solidFill>
                          <a:latin typeface="Malgun Gothic"/>
                        </a:rPr>
                        <a:t>대구 10미</a:t>
                      </a:r>
                    </a:p>
                  </a:txBody>
                  <a:tcPr anchor="ctr">
                    <a:solidFill>
                      <a:srgbClr val="F3ECE3"/>
                    </a:solidFill>
                  </a:tcPr>
                </a:tc>
                <a:tc>
                  <a:txBody>
                    <a:bodyPr/>
                    <a:lstStyle/>
                    <a:p>
                      <a:r>
                        <a:rPr sz="1150" b="0">
                          <a:solidFill>
                            <a:srgbClr val="2E2A26"/>
                          </a:solidFill>
                          <a:latin typeface="Malgun Gothic"/>
                        </a:rPr>
                        <a:t>-</a:t>
                      </a:r>
                    </a:p>
                  </a:txBody>
                  <a:tcPr anchor="ctr">
                    <a:solidFill>
                      <a:srgbClr val="F3ECE3"/>
                    </a:solidFill>
                  </a:tcPr>
                </a:tc>
                <a:tc>
                  <a:txBody>
                    <a:bodyPr/>
                    <a:lstStyle/>
                    <a:p>
                      <a:r>
                        <a:rPr sz="1150" b="0">
                          <a:solidFill>
                            <a:srgbClr val="2E2A26"/>
                          </a:solidFill>
                          <a:latin typeface="Malgun Gothic"/>
                        </a:rPr>
                        <a:t>daegufood.go.kr</a:t>
                      </a:r>
                    </a:p>
                  </a:txBody>
                  <a:tcPr anchor="ctr">
                    <a:solidFill>
                      <a:srgbClr val="F3ECE3"/>
                    </a:solidFill>
                  </a:tcPr>
                </a:tc>
                <a:extLst>
                  <a:ext uri="{0D108BD9-81ED-4DB2-BD59-A6C34878D82A}">
                    <a16:rowId xmlns:a16="http://schemas.microsoft.com/office/drawing/2014/main" val="10006"/>
                  </a:ext>
                </a:extLst>
              </a:tr>
              <a:tr h="384048">
                <a:tc>
                  <a:txBody>
                    <a:bodyPr/>
                    <a:lstStyle/>
                    <a:p>
                      <a:r>
                        <a:rPr sz="1150" b="1">
                          <a:solidFill>
                            <a:srgbClr val="E4572E"/>
                          </a:solidFill>
                          <a:latin typeface="Malgun Gothic"/>
                        </a:rPr>
                        <a:t>대구광역시 (대구푸드)</a:t>
                      </a:r>
                    </a:p>
                  </a:txBody>
                  <a:tcPr anchor="ctr">
                    <a:solidFill>
                      <a:srgbClr val="FFFFFF"/>
                    </a:solidFill>
                  </a:tcPr>
                </a:tc>
                <a:tc>
                  <a:txBody>
                    <a:bodyPr/>
                    <a:lstStyle/>
                    <a:p>
                      <a:r>
                        <a:rPr sz="1150" b="0">
                          <a:solidFill>
                            <a:srgbClr val="2E2A26"/>
                          </a:solidFill>
                          <a:latin typeface="Malgun Gothic"/>
                        </a:rPr>
                        <a:t>식품안심업소 지정 목록</a:t>
                      </a:r>
                    </a:p>
                  </a:txBody>
                  <a:tcPr anchor="ctr">
                    <a:solidFill>
                      <a:srgbClr val="FFFFFF"/>
                    </a:solidFill>
                  </a:tcPr>
                </a:tc>
                <a:tc>
                  <a:txBody>
                    <a:bodyPr/>
                    <a:lstStyle/>
                    <a:p>
                      <a:r>
                        <a:rPr sz="1150" b="0">
                          <a:solidFill>
                            <a:srgbClr val="2E2A26"/>
                          </a:solidFill>
                          <a:latin typeface="Malgun Gothic"/>
                        </a:rPr>
                        <a:t>위생등급</a:t>
                      </a:r>
                    </a:p>
                  </a:txBody>
                  <a:tcPr anchor="ctr">
                    <a:solidFill>
                      <a:srgbClr val="FFFFFF"/>
                    </a:solidFill>
                  </a:tcPr>
                </a:tc>
                <a:tc>
                  <a:txBody>
                    <a:bodyPr/>
                    <a:lstStyle/>
                    <a:p>
                      <a:r>
                        <a:rPr sz="1150" b="0">
                          <a:solidFill>
                            <a:srgbClr val="2E2A26"/>
                          </a:solidFill>
                          <a:latin typeface="Malgun Gothic"/>
                        </a:rPr>
                        <a:t>2026-10-29 수집</a:t>
                      </a:r>
                    </a:p>
                  </a:txBody>
                  <a:tcPr anchor="ctr">
                    <a:solidFill>
                      <a:srgbClr val="FFFFFF"/>
                    </a:solidFill>
                  </a:tcPr>
                </a:tc>
                <a:tc>
                  <a:txBody>
                    <a:bodyPr/>
                    <a:lstStyle/>
                    <a:p>
                      <a:r>
                        <a:rPr sz="1150" b="0">
                          <a:solidFill>
                            <a:srgbClr val="2E2A26"/>
                          </a:solidFill>
                          <a:latin typeface="Malgun Gothic"/>
                        </a:rPr>
                        <a:t>daegufood.go.kr</a:t>
                      </a:r>
                    </a:p>
                  </a:txBody>
                  <a:tcPr anchor="ctr">
                    <a:solidFill>
                      <a:srgbClr val="FFFFFF"/>
                    </a:solidFill>
                  </a:tcPr>
                </a:tc>
                <a:extLst>
                  <a:ext uri="{0D108BD9-81ED-4DB2-BD59-A6C34878D82A}">
                    <a16:rowId xmlns:a16="http://schemas.microsoft.com/office/drawing/2014/main" val="10007"/>
                  </a:ext>
                </a:extLst>
              </a:tr>
              <a:tr h="384048">
                <a:tc>
                  <a:txBody>
                    <a:bodyPr/>
                    <a:lstStyle/>
                    <a:p>
                      <a:r>
                        <a:rPr sz="1150" b="1">
                          <a:solidFill>
                            <a:srgbClr val="E4572E"/>
                          </a:solidFill>
                          <a:latin typeface="Malgun Gothic"/>
                        </a:rPr>
                        <a:t>대구 중구</a:t>
                      </a:r>
                    </a:p>
                  </a:txBody>
                  <a:tcPr anchor="ctr">
                    <a:solidFill>
                      <a:srgbClr val="F3ECE3"/>
                    </a:solidFill>
                  </a:tcPr>
                </a:tc>
                <a:tc>
                  <a:txBody>
                    <a:bodyPr/>
                    <a:lstStyle/>
                    <a:p>
                      <a:r>
                        <a:rPr sz="1150" b="0">
                          <a:solidFill>
                            <a:srgbClr val="2E2A26"/>
                          </a:solidFill>
                          <a:latin typeface="Malgun Gothic"/>
                        </a:rPr>
                        <a:t>중구 맛집 현황</a:t>
                      </a:r>
                    </a:p>
                  </a:txBody>
                  <a:tcPr anchor="ctr">
                    <a:solidFill>
                      <a:srgbClr val="F3ECE3"/>
                    </a:solidFill>
                  </a:tcPr>
                </a:tc>
                <a:tc>
                  <a:txBody>
                    <a:bodyPr/>
                    <a:lstStyle/>
                    <a:p>
                      <a:r>
                        <a:rPr sz="1150" b="0">
                          <a:solidFill>
                            <a:srgbClr val="2E2A26"/>
                          </a:solidFill>
                          <a:latin typeface="Malgun Gothic"/>
                        </a:rPr>
                        <a:t>구청 추천</a:t>
                      </a:r>
                    </a:p>
                  </a:txBody>
                  <a:tcPr anchor="ctr">
                    <a:solidFill>
                      <a:srgbClr val="F3ECE3"/>
                    </a:solidFill>
                  </a:tcPr>
                </a:tc>
                <a:tc>
                  <a:txBody>
                    <a:bodyPr/>
                    <a:lstStyle/>
                    <a:p>
                      <a:r>
                        <a:rPr sz="1150" b="0">
                          <a:solidFill>
                            <a:srgbClr val="2E2A26"/>
                          </a:solidFill>
                          <a:latin typeface="Malgun Gothic"/>
                        </a:rPr>
                        <a:t>2020-01-14</a:t>
                      </a:r>
                    </a:p>
                  </a:txBody>
                  <a:tcPr anchor="ctr">
                    <a:solidFill>
                      <a:srgbClr val="F3ECE3"/>
                    </a:solidFill>
                  </a:tcPr>
                </a:tc>
                <a:tc>
                  <a:txBody>
                    <a:bodyPr/>
                    <a:lstStyle/>
                    <a:p>
                      <a:r>
                        <a:rPr sz="1150" b="0">
                          <a:solidFill>
                            <a:srgbClr val="2E2A26"/>
                          </a:solidFill>
                          <a:latin typeface="Malgun Gothic"/>
                        </a:rPr>
                        <a:t>data.go.kr 15052602</a:t>
                      </a:r>
                    </a:p>
                  </a:txBody>
                  <a:tcPr anchor="ctr">
                    <a:solidFill>
                      <a:srgbClr val="F3ECE3"/>
                    </a:solidFill>
                  </a:tcPr>
                </a:tc>
                <a:extLst>
                  <a:ext uri="{0D108BD9-81ED-4DB2-BD59-A6C34878D82A}">
                    <a16:rowId xmlns:a16="http://schemas.microsoft.com/office/drawing/2014/main" val="10008"/>
                  </a:ext>
                </a:extLst>
              </a:tr>
              <a:tr h="384048">
                <a:tc>
                  <a:txBody>
                    <a:bodyPr/>
                    <a:lstStyle/>
                    <a:p>
                      <a:r>
                        <a:rPr sz="1150" b="1">
                          <a:solidFill>
                            <a:srgbClr val="E4572E"/>
                          </a:solidFill>
                          <a:latin typeface="Malgun Gothic"/>
                        </a:rPr>
                        <a:t>대구 동구</a:t>
                      </a:r>
                    </a:p>
                  </a:txBody>
                  <a:tcPr anchor="ctr">
                    <a:solidFill>
                      <a:srgbClr val="FFFFFF"/>
                    </a:solidFill>
                  </a:tcPr>
                </a:tc>
                <a:tc>
                  <a:txBody>
                    <a:bodyPr/>
                    <a:lstStyle/>
                    <a:p>
                      <a:r>
                        <a:rPr sz="1150" b="0">
                          <a:solidFill>
                            <a:srgbClr val="2E2A26"/>
                          </a:solidFill>
                          <a:latin typeface="Malgun Gothic"/>
                        </a:rPr>
                        <a:t>동구 모범음식점 현황</a:t>
                      </a:r>
                    </a:p>
                  </a:txBody>
                  <a:tcPr anchor="ctr">
                    <a:solidFill>
                      <a:srgbClr val="FFFFFF"/>
                    </a:solidFill>
                  </a:tcPr>
                </a:tc>
                <a:tc>
                  <a:txBody>
                    <a:bodyPr/>
                    <a:lstStyle/>
                    <a:p>
                      <a:r>
                        <a:rPr sz="1150" b="0">
                          <a:solidFill>
                            <a:srgbClr val="2E2A26"/>
                          </a:solidFill>
                          <a:latin typeface="Malgun Gothic"/>
                        </a:rPr>
                        <a:t>모범·구청 지정</a:t>
                      </a:r>
                    </a:p>
                  </a:txBody>
                  <a:tcPr anchor="ctr">
                    <a:solidFill>
                      <a:srgbClr val="FFFFFF"/>
                    </a:solidFill>
                  </a:tcPr>
                </a:tc>
                <a:tc>
                  <a:txBody>
                    <a:bodyPr/>
                    <a:lstStyle/>
                    <a:p>
                      <a:r>
                        <a:rPr sz="1150" b="0">
                          <a:solidFill>
                            <a:srgbClr val="2E2A26"/>
                          </a:solidFill>
                          <a:latin typeface="Malgun Gothic"/>
                        </a:rPr>
                        <a:t>2026-04-07</a:t>
                      </a:r>
                    </a:p>
                  </a:txBody>
                  <a:tcPr anchor="ctr">
                    <a:solidFill>
                      <a:srgbClr val="FFFFFF"/>
                    </a:solidFill>
                  </a:tcPr>
                </a:tc>
                <a:tc>
                  <a:txBody>
                    <a:bodyPr/>
                    <a:lstStyle/>
                    <a:p>
                      <a:r>
                        <a:rPr sz="1150" b="0">
                          <a:solidFill>
                            <a:srgbClr val="2E2A26"/>
                          </a:solidFill>
                          <a:latin typeface="Malgun Gothic"/>
                        </a:rPr>
                        <a:t>data.go.kr 15052654</a:t>
                      </a:r>
                    </a:p>
                  </a:txBody>
                  <a:tcPr anchor="ctr">
                    <a:solidFill>
                      <a:srgbClr val="FFFFFF"/>
                    </a:solidFill>
                  </a:tcPr>
                </a:tc>
                <a:extLst>
                  <a:ext uri="{0D108BD9-81ED-4DB2-BD59-A6C34878D82A}">
                    <a16:rowId xmlns:a16="http://schemas.microsoft.com/office/drawing/2014/main" val="10009"/>
                  </a:ext>
                </a:extLst>
              </a:tr>
              <a:tr h="384048">
                <a:tc>
                  <a:txBody>
                    <a:bodyPr/>
                    <a:lstStyle/>
                    <a:p>
                      <a:r>
                        <a:rPr sz="1150" b="1">
                          <a:solidFill>
                            <a:srgbClr val="E4572E"/>
                          </a:solidFill>
                          <a:latin typeface="Malgun Gothic"/>
                        </a:rPr>
                        <a:t>대구 서구</a:t>
                      </a:r>
                    </a:p>
                  </a:txBody>
                  <a:tcPr anchor="ctr">
                    <a:solidFill>
                      <a:srgbClr val="F3ECE3"/>
                    </a:solidFill>
                  </a:tcPr>
                </a:tc>
                <a:tc>
                  <a:txBody>
                    <a:bodyPr/>
                    <a:lstStyle/>
                    <a:p>
                      <a:r>
                        <a:rPr sz="1150" b="0">
                          <a:solidFill>
                            <a:srgbClr val="2E2A26"/>
                          </a:solidFill>
                          <a:latin typeface="Malgun Gothic"/>
                        </a:rPr>
                        <a:t>서구 식품위생업소 현황</a:t>
                      </a:r>
                    </a:p>
                  </a:txBody>
                  <a:tcPr anchor="ctr">
                    <a:solidFill>
                      <a:srgbClr val="F3ECE3"/>
                    </a:solidFill>
                  </a:tcPr>
                </a:tc>
                <a:tc>
                  <a:txBody>
                    <a:bodyPr/>
                    <a:lstStyle/>
                    <a:p>
                      <a:r>
                        <a:rPr sz="1150" b="0">
                          <a:solidFill>
                            <a:srgbClr val="2E2A26"/>
                          </a:solidFill>
                          <a:latin typeface="Malgun Gothic"/>
                        </a:rPr>
                        <a:t>바탕 데이터</a:t>
                      </a:r>
                    </a:p>
                  </a:txBody>
                  <a:tcPr anchor="ctr">
                    <a:solidFill>
                      <a:srgbClr val="F3ECE3"/>
                    </a:solidFill>
                  </a:tcPr>
                </a:tc>
                <a:tc>
                  <a:txBody>
                    <a:bodyPr/>
                    <a:lstStyle/>
                    <a:p>
                      <a:r>
                        <a:rPr sz="1150" b="0">
                          <a:solidFill>
                            <a:srgbClr val="2E2A26"/>
                          </a:solidFill>
                          <a:latin typeface="Malgun Gothic"/>
                        </a:rPr>
                        <a:t>2026-02-02</a:t>
                      </a:r>
                    </a:p>
                  </a:txBody>
                  <a:tcPr anchor="ctr">
                    <a:solidFill>
                      <a:srgbClr val="F3ECE3"/>
                    </a:solidFill>
                  </a:tcPr>
                </a:tc>
                <a:tc>
                  <a:txBody>
                    <a:bodyPr/>
                    <a:lstStyle/>
                    <a:p>
                      <a:r>
                        <a:rPr sz="1150" b="0">
                          <a:solidFill>
                            <a:srgbClr val="2E2A26"/>
                          </a:solidFill>
                          <a:latin typeface="Malgun Gothic"/>
                        </a:rPr>
                        <a:t>data.go.kr 15092713</a:t>
                      </a:r>
                    </a:p>
                  </a:txBody>
                  <a:tcPr anchor="ctr">
                    <a:solidFill>
                      <a:srgbClr val="F3ECE3"/>
                    </a:solidFill>
                  </a:tcPr>
                </a:tc>
                <a:extLst>
                  <a:ext uri="{0D108BD9-81ED-4DB2-BD59-A6C34878D82A}">
                    <a16:rowId xmlns:a16="http://schemas.microsoft.com/office/drawing/2014/main" val="10010"/>
                  </a:ext>
                </a:extLst>
              </a:tr>
              <a:tr h="384048">
                <a:tc>
                  <a:txBody>
                    <a:bodyPr/>
                    <a:lstStyle/>
                    <a:p>
                      <a:r>
                        <a:rPr sz="1150" b="1">
                          <a:solidFill>
                            <a:srgbClr val="E4572E"/>
                          </a:solidFill>
                          <a:latin typeface="Malgun Gothic"/>
                        </a:rPr>
                        <a:t>대구 남구</a:t>
                      </a:r>
                    </a:p>
                  </a:txBody>
                  <a:tcPr anchor="ctr">
                    <a:solidFill>
                      <a:srgbClr val="FFFFFF"/>
                    </a:solidFill>
                  </a:tcPr>
                </a:tc>
                <a:tc>
                  <a:txBody>
                    <a:bodyPr/>
                    <a:lstStyle/>
                    <a:p>
                      <a:r>
                        <a:rPr sz="1150" b="0">
                          <a:solidFill>
                            <a:srgbClr val="2E2A26"/>
                          </a:solidFill>
                          <a:latin typeface="Malgun Gothic"/>
                        </a:rPr>
                        <a:t>남구 식품위생업소현황</a:t>
                      </a:r>
                    </a:p>
                  </a:txBody>
                  <a:tcPr anchor="ctr">
                    <a:solidFill>
                      <a:srgbClr val="FFFFFF"/>
                    </a:solidFill>
                  </a:tcPr>
                </a:tc>
                <a:tc>
                  <a:txBody>
                    <a:bodyPr/>
                    <a:lstStyle/>
                    <a:p>
                      <a:r>
                        <a:rPr sz="1150" b="0">
                          <a:solidFill>
                            <a:srgbClr val="2E2A26"/>
                          </a:solidFill>
                          <a:latin typeface="Malgun Gothic"/>
                        </a:rPr>
                        <a:t>바탕 · 20년 이상</a:t>
                      </a:r>
                    </a:p>
                  </a:txBody>
                  <a:tcPr anchor="ctr">
                    <a:solidFill>
                      <a:srgbClr val="FFFFFF"/>
                    </a:solidFill>
                  </a:tcPr>
                </a:tc>
                <a:tc>
                  <a:txBody>
                    <a:bodyPr/>
                    <a:lstStyle/>
                    <a:p>
                      <a:r>
                        <a:rPr sz="1150" b="0">
                          <a:solidFill>
                            <a:srgbClr val="2E2A26"/>
                          </a:solidFill>
                          <a:latin typeface="Malgun Gothic"/>
                        </a:rPr>
                        <a:t>2026-06-20</a:t>
                      </a:r>
                    </a:p>
                  </a:txBody>
                  <a:tcPr anchor="ctr">
                    <a:solidFill>
                      <a:srgbClr val="FFFFFF"/>
                    </a:solidFill>
                  </a:tcPr>
                </a:tc>
                <a:tc>
                  <a:txBody>
                    <a:bodyPr/>
                    <a:lstStyle/>
                    <a:p>
                      <a:r>
                        <a:rPr sz="1150" b="0">
                          <a:solidFill>
                            <a:srgbClr val="2E2A26"/>
                          </a:solidFill>
                          <a:latin typeface="Malgun Gothic"/>
                        </a:rPr>
                        <a:t>data.go.kr 3072264</a:t>
                      </a:r>
                    </a:p>
                  </a:txBody>
                  <a:tcPr anchor="ctr">
                    <a:solidFill>
                      <a:srgbClr val="FFFFFF"/>
                    </a:solidFill>
                  </a:tcPr>
                </a:tc>
                <a:extLst>
                  <a:ext uri="{0D108BD9-81ED-4DB2-BD59-A6C34878D82A}">
                    <a16:rowId xmlns:a16="http://schemas.microsoft.com/office/drawing/2014/main" val="10011"/>
                  </a:ext>
                </a:extLst>
              </a:tr>
            </a:tbl>
          </a:graphicData>
        </a:graphic>
      </p:graphicFrame>
      <p:sp>
        <p:nvSpPr>
          <p:cNvPr id="6" name="Rectangle 5"/>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전체 URL은 각 슬라이드 발표자 노트에 정리</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AF5EE"/>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82296" cy="685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11480"/>
            <a:ext cx="9144000" cy="457200"/>
          </a:xfrm>
          <a:prstGeom prst="rect">
            <a:avLst/>
          </a:prstGeom>
          <a:noFill/>
        </p:spPr>
        <p:txBody>
          <a:bodyPr wrap="square" lIns="45720" tIns="18288" rIns="45720" bIns="18288" anchor="t">
            <a:spAutoFit/>
          </a:bodyPr>
          <a:lstStyle/>
          <a:p>
            <a:pPr algn="l">
              <a:lnSpc>
                <a:spcPct val="115000"/>
              </a:lnSpc>
            </a:pPr>
            <a:r>
              <a:rPr sz="1300" b="1">
                <a:solidFill>
                  <a:srgbClr val="E4572E"/>
                </a:solidFill>
                <a:latin typeface="Malgun Gothic"/>
              </a:rPr>
              <a:t>부록 2/2</a:t>
            </a:r>
          </a:p>
        </p:txBody>
      </p:sp>
      <p:sp>
        <p:nvSpPr>
          <p:cNvPr id="4" name="TextBox 3"/>
          <p:cNvSpPr txBox="1"/>
          <p:nvPr/>
        </p:nvSpPr>
        <p:spPr>
          <a:xfrm>
            <a:off x="777240" y="713232"/>
            <a:ext cx="10515600" cy="640080"/>
          </a:xfrm>
          <a:prstGeom prst="rect">
            <a:avLst/>
          </a:prstGeom>
          <a:noFill/>
        </p:spPr>
        <p:txBody>
          <a:bodyPr wrap="square" lIns="45720" tIns="18288" rIns="45720" bIns="18288" anchor="t">
            <a:spAutoFit/>
          </a:bodyPr>
          <a:lstStyle/>
          <a:p>
            <a:pPr algn="l">
              <a:lnSpc>
                <a:spcPct val="115000"/>
              </a:lnSpc>
            </a:pPr>
            <a:r>
              <a:rPr sz="3000" b="1">
                <a:solidFill>
                  <a:srgbClr val="2E2A26"/>
                </a:solidFill>
                <a:latin typeface="Malgun Gothic"/>
              </a:rPr>
              <a:t>기관별 사용 데이터 전체 목록</a:t>
            </a:r>
          </a:p>
        </p:txBody>
      </p:sp>
      <p:graphicFrame>
        <p:nvGraphicFramePr>
          <p:cNvPr id="5" name="Table 4"/>
          <p:cNvGraphicFramePr>
            <a:graphicFrameLocks noGrp="1"/>
          </p:cNvGraphicFramePr>
          <p:nvPr/>
        </p:nvGraphicFramePr>
        <p:xfrm>
          <a:off x="548640" y="1600200"/>
          <a:ext cx="11091672" cy="4224528"/>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tblGrid>
              <a:tr h="384048">
                <a:tc>
                  <a:txBody>
                    <a:bodyPr/>
                    <a:lstStyle/>
                    <a:p>
                      <a:r>
                        <a:rPr sz="1200" b="1">
                          <a:solidFill>
                            <a:srgbClr val="FFFFFF"/>
                          </a:solidFill>
                          <a:latin typeface="Malgun Gothic"/>
                        </a:rPr>
                        <a:t>제공 기관</a:t>
                      </a:r>
                    </a:p>
                  </a:txBody>
                  <a:tcPr anchor="ctr">
                    <a:solidFill>
                      <a:srgbClr val="2E2A26"/>
                    </a:solidFill>
                  </a:tcPr>
                </a:tc>
                <a:tc>
                  <a:txBody>
                    <a:bodyPr/>
                    <a:lstStyle/>
                    <a:p>
                      <a:r>
                        <a:rPr sz="1200" b="1">
                          <a:solidFill>
                            <a:srgbClr val="FFFFFF"/>
                          </a:solidFill>
                          <a:latin typeface="Malgun Gothic"/>
                        </a:rPr>
                        <a:t>데이터</a:t>
                      </a:r>
                    </a:p>
                  </a:txBody>
                  <a:tcPr anchor="ctr">
                    <a:solidFill>
                      <a:srgbClr val="2E2A26"/>
                    </a:solidFill>
                  </a:tcPr>
                </a:tc>
                <a:tc>
                  <a:txBody>
                    <a:bodyPr/>
                    <a:lstStyle/>
                    <a:p>
                      <a:r>
                        <a:rPr sz="1200" b="1">
                          <a:solidFill>
                            <a:srgbClr val="FFFFFF"/>
                          </a:solidFill>
                          <a:latin typeface="Malgun Gothic"/>
                        </a:rPr>
                        <a:t>쓰인 곳</a:t>
                      </a:r>
                    </a:p>
                  </a:txBody>
                  <a:tcPr anchor="ctr">
                    <a:solidFill>
                      <a:srgbClr val="2E2A26"/>
                    </a:solidFill>
                  </a:tcPr>
                </a:tc>
                <a:tc>
                  <a:txBody>
                    <a:bodyPr/>
                    <a:lstStyle/>
                    <a:p>
                      <a:r>
                        <a:rPr sz="1200" b="1">
                          <a:solidFill>
                            <a:srgbClr val="FFFFFF"/>
                          </a:solidFill>
                          <a:latin typeface="Malgun Gothic"/>
                        </a:rPr>
                        <a:t>기준일</a:t>
                      </a:r>
                    </a:p>
                  </a:txBody>
                  <a:tcPr anchor="ctr">
                    <a:solidFill>
                      <a:srgbClr val="2E2A26"/>
                    </a:solidFill>
                  </a:tcPr>
                </a:tc>
                <a:tc>
                  <a:txBody>
                    <a:bodyPr/>
                    <a:lstStyle/>
                    <a:p>
                      <a:r>
                        <a:rPr sz="1200" b="1">
                          <a:solidFill>
                            <a:srgbClr val="FFFFFF"/>
                          </a:solidFill>
                          <a:latin typeface="Malgun Gothic"/>
                        </a:rPr>
                        <a:t>출처</a:t>
                      </a:r>
                    </a:p>
                  </a:txBody>
                  <a:tcPr anchor="ctr">
                    <a:solidFill>
                      <a:srgbClr val="2E2A26"/>
                    </a:solidFill>
                  </a:tcPr>
                </a:tc>
                <a:extLst>
                  <a:ext uri="{0D108BD9-81ED-4DB2-BD59-A6C34878D82A}">
                    <a16:rowId xmlns:a16="http://schemas.microsoft.com/office/drawing/2014/main" val="10000"/>
                  </a:ext>
                </a:extLst>
              </a:tr>
              <a:tr h="384048">
                <a:tc>
                  <a:txBody>
                    <a:bodyPr/>
                    <a:lstStyle/>
                    <a:p>
                      <a:r>
                        <a:rPr sz="1150" b="1">
                          <a:solidFill>
                            <a:srgbClr val="E4572E"/>
                          </a:solidFill>
                          <a:latin typeface="Malgun Gothic"/>
                        </a:rPr>
                        <a:t>대구 남구</a:t>
                      </a:r>
                    </a:p>
                  </a:txBody>
                  <a:tcPr anchor="ctr">
                    <a:solidFill>
                      <a:srgbClr val="FFFFFF"/>
                    </a:solidFill>
                  </a:tcPr>
                </a:tc>
                <a:tc>
                  <a:txBody>
                    <a:bodyPr/>
                    <a:lstStyle/>
                    <a:p>
                      <a:r>
                        <a:rPr sz="1150" b="0">
                          <a:solidFill>
                            <a:srgbClr val="2E2A26"/>
                          </a:solidFill>
                          <a:latin typeface="Malgun Gothic"/>
                        </a:rPr>
                        <a:t>남구 모범음식점 현황</a:t>
                      </a:r>
                    </a:p>
                  </a:txBody>
                  <a:tcPr anchor="ctr">
                    <a:solidFill>
                      <a:srgbClr val="FFFFFF"/>
                    </a:solidFill>
                  </a:tcPr>
                </a:tc>
                <a:tc>
                  <a:txBody>
                    <a:bodyPr/>
                    <a:lstStyle/>
                    <a:p>
                      <a:r>
                        <a:rPr sz="1150" b="0">
                          <a:solidFill>
                            <a:srgbClr val="2E2A26"/>
                          </a:solidFill>
                          <a:latin typeface="Malgun Gothic"/>
                        </a:rPr>
                        <a:t>모범·구청 지정</a:t>
                      </a:r>
                    </a:p>
                  </a:txBody>
                  <a:tcPr anchor="ctr">
                    <a:solidFill>
                      <a:srgbClr val="FFFFFF"/>
                    </a:solidFill>
                  </a:tcPr>
                </a:tc>
                <a:tc>
                  <a:txBody>
                    <a:bodyPr/>
                    <a:lstStyle/>
                    <a:p>
                      <a:r>
                        <a:rPr sz="1150" b="0">
                          <a:solidFill>
                            <a:srgbClr val="2E2A26"/>
                          </a:solidFill>
                          <a:latin typeface="Malgun Gothic"/>
                        </a:rPr>
                        <a:t>2026-09-19</a:t>
                      </a:r>
                    </a:p>
                  </a:txBody>
                  <a:tcPr anchor="ctr">
                    <a:solidFill>
                      <a:srgbClr val="FFFFFF"/>
                    </a:solidFill>
                  </a:tcPr>
                </a:tc>
                <a:tc>
                  <a:txBody>
                    <a:bodyPr/>
                    <a:lstStyle/>
                    <a:p>
                      <a:r>
                        <a:rPr sz="1150" b="0">
                          <a:solidFill>
                            <a:srgbClr val="2E2A26"/>
                          </a:solidFill>
                          <a:latin typeface="Malgun Gothic"/>
                        </a:rPr>
                        <a:t>data.go.kr 3069692</a:t>
                      </a:r>
                    </a:p>
                  </a:txBody>
                  <a:tcPr anchor="ctr">
                    <a:solidFill>
                      <a:srgbClr val="FFFFFF"/>
                    </a:solidFill>
                  </a:tcPr>
                </a:tc>
                <a:extLst>
                  <a:ext uri="{0D108BD9-81ED-4DB2-BD59-A6C34878D82A}">
                    <a16:rowId xmlns:a16="http://schemas.microsoft.com/office/drawing/2014/main" val="10001"/>
                  </a:ext>
                </a:extLst>
              </a:tr>
              <a:tr h="384048">
                <a:tc>
                  <a:txBody>
                    <a:bodyPr/>
                    <a:lstStyle/>
                    <a:p>
                      <a:r>
                        <a:rPr sz="1150" b="1">
                          <a:solidFill>
                            <a:srgbClr val="E4572E"/>
                          </a:solidFill>
                          <a:latin typeface="Malgun Gothic"/>
                        </a:rPr>
                        <a:t>대구 남구</a:t>
                      </a:r>
                    </a:p>
                  </a:txBody>
                  <a:tcPr anchor="ctr">
                    <a:solidFill>
                      <a:srgbClr val="F3ECE3"/>
                    </a:solidFill>
                  </a:tcPr>
                </a:tc>
                <a:tc>
                  <a:txBody>
                    <a:bodyPr/>
                    <a:lstStyle/>
                    <a:p>
                      <a:r>
                        <a:rPr sz="1150" b="0">
                          <a:solidFill>
                            <a:srgbClr val="2E2A26"/>
                          </a:solidFill>
                          <a:latin typeface="Malgun Gothic"/>
                        </a:rPr>
                        <a:t>먹거리골목 안지랑곱창골목</a:t>
                      </a:r>
                    </a:p>
                  </a:txBody>
                  <a:tcPr anchor="ctr">
                    <a:solidFill>
                      <a:srgbClr val="F3ECE3"/>
                    </a:solidFill>
                  </a:tcPr>
                </a:tc>
                <a:tc>
                  <a:txBody>
                    <a:bodyPr/>
                    <a:lstStyle/>
                    <a:p>
                      <a:r>
                        <a:rPr sz="1150" b="0">
                          <a:solidFill>
                            <a:srgbClr val="2E2A26"/>
                          </a:solidFill>
                          <a:latin typeface="Malgun Gothic"/>
                        </a:rPr>
                        <a:t>구청 추천</a:t>
                      </a:r>
                    </a:p>
                  </a:txBody>
                  <a:tcPr anchor="ctr">
                    <a:solidFill>
                      <a:srgbClr val="F3ECE3"/>
                    </a:solidFill>
                  </a:tcPr>
                </a:tc>
                <a:tc>
                  <a:txBody>
                    <a:bodyPr/>
                    <a:lstStyle/>
                    <a:p>
                      <a:r>
                        <a:rPr sz="1150" b="0">
                          <a:solidFill>
                            <a:srgbClr val="2E2A26"/>
                          </a:solidFill>
                          <a:latin typeface="Malgun Gothic"/>
                        </a:rPr>
                        <a:t>2026-10-02</a:t>
                      </a:r>
                    </a:p>
                  </a:txBody>
                  <a:tcPr anchor="ctr">
                    <a:solidFill>
                      <a:srgbClr val="F3ECE3"/>
                    </a:solidFill>
                  </a:tcPr>
                </a:tc>
                <a:tc>
                  <a:txBody>
                    <a:bodyPr/>
                    <a:lstStyle/>
                    <a:p>
                      <a:r>
                        <a:rPr sz="1150" b="0">
                          <a:solidFill>
                            <a:srgbClr val="2E2A26"/>
                          </a:solidFill>
                          <a:latin typeface="Malgun Gothic"/>
                        </a:rPr>
                        <a:t>data.go.kr 15122879</a:t>
                      </a:r>
                    </a:p>
                  </a:txBody>
                  <a:tcPr anchor="ctr">
                    <a:solidFill>
                      <a:srgbClr val="F3ECE3"/>
                    </a:solidFill>
                  </a:tcPr>
                </a:tc>
                <a:extLst>
                  <a:ext uri="{0D108BD9-81ED-4DB2-BD59-A6C34878D82A}">
                    <a16:rowId xmlns:a16="http://schemas.microsoft.com/office/drawing/2014/main" val="10002"/>
                  </a:ext>
                </a:extLst>
              </a:tr>
              <a:tr h="384048">
                <a:tc>
                  <a:txBody>
                    <a:bodyPr/>
                    <a:lstStyle/>
                    <a:p>
                      <a:r>
                        <a:rPr sz="1150" b="1">
                          <a:solidFill>
                            <a:srgbClr val="E4572E"/>
                          </a:solidFill>
                          <a:latin typeface="Malgun Gothic"/>
                        </a:rPr>
                        <a:t>대구 남구</a:t>
                      </a:r>
                    </a:p>
                  </a:txBody>
                  <a:tcPr anchor="ctr">
                    <a:solidFill>
                      <a:srgbClr val="FFFFFF"/>
                    </a:solidFill>
                  </a:tcPr>
                </a:tc>
                <a:tc>
                  <a:txBody>
                    <a:bodyPr/>
                    <a:lstStyle/>
                    <a:p>
                      <a:r>
                        <a:rPr sz="1150" b="0">
                          <a:solidFill>
                            <a:srgbClr val="2E2A26"/>
                          </a:solidFill>
                          <a:latin typeface="Malgun Gothic"/>
                        </a:rPr>
                        <a:t>먹거리골목 앞산카페거리</a:t>
                      </a:r>
                    </a:p>
                  </a:txBody>
                  <a:tcPr anchor="ctr">
                    <a:solidFill>
                      <a:srgbClr val="FFFFFF"/>
                    </a:solidFill>
                  </a:tcPr>
                </a:tc>
                <a:tc>
                  <a:txBody>
                    <a:bodyPr/>
                    <a:lstStyle/>
                    <a:p>
                      <a:r>
                        <a:rPr sz="1150" b="0">
                          <a:solidFill>
                            <a:srgbClr val="2E2A26"/>
                          </a:solidFill>
                          <a:latin typeface="Malgun Gothic"/>
                        </a:rPr>
                        <a:t>구청 추천</a:t>
                      </a:r>
                    </a:p>
                  </a:txBody>
                  <a:tcPr anchor="ctr">
                    <a:solidFill>
                      <a:srgbClr val="FFFFFF"/>
                    </a:solidFill>
                  </a:tcPr>
                </a:tc>
                <a:tc>
                  <a:txBody>
                    <a:bodyPr/>
                    <a:lstStyle/>
                    <a:p>
                      <a:r>
                        <a:rPr sz="1150" b="0">
                          <a:solidFill>
                            <a:srgbClr val="2E2A26"/>
                          </a:solidFill>
                          <a:latin typeface="Malgun Gothic"/>
                        </a:rPr>
                        <a:t>2026-09-01</a:t>
                      </a:r>
                    </a:p>
                  </a:txBody>
                  <a:tcPr anchor="ctr">
                    <a:solidFill>
                      <a:srgbClr val="FFFFFF"/>
                    </a:solidFill>
                  </a:tcPr>
                </a:tc>
                <a:tc>
                  <a:txBody>
                    <a:bodyPr/>
                    <a:lstStyle/>
                    <a:p>
                      <a:r>
                        <a:rPr sz="1150" b="0">
                          <a:solidFill>
                            <a:srgbClr val="2E2A26"/>
                          </a:solidFill>
                          <a:latin typeface="Malgun Gothic"/>
                        </a:rPr>
                        <a:t>data.go.kr 15122876</a:t>
                      </a:r>
                    </a:p>
                  </a:txBody>
                  <a:tcPr anchor="ctr">
                    <a:solidFill>
                      <a:srgbClr val="FFFFFF"/>
                    </a:solidFill>
                  </a:tcPr>
                </a:tc>
                <a:extLst>
                  <a:ext uri="{0D108BD9-81ED-4DB2-BD59-A6C34878D82A}">
                    <a16:rowId xmlns:a16="http://schemas.microsoft.com/office/drawing/2014/main" val="10003"/>
                  </a:ext>
                </a:extLst>
              </a:tr>
              <a:tr h="384048">
                <a:tc>
                  <a:txBody>
                    <a:bodyPr/>
                    <a:lstStyle/>
                    <a:p>
                      <a:r>
                        <a:rPr sz="1150" b="1">
                          <a:solidFill>
                            <a:srgbClr val="E4572E"/>
                          </a:solidFill>
                          <a:latin typeface="Malgun Gothic"/>
                        </a:rPr>
                        <a:t>대구 남구</a:t>
                      </a:r>
                    </a:p>
                  </a:txBody>
                  <a:tcPr anchor="ctr">
                    <a:solidFill>
                      <a:srgbClr val="F3ECE3"/>
                    </a:solidFill>
                  </a:tcPr>
                </a:tc>
                <a:tc>
                  <a:txBody>
                    <a:bodyPr/>
                    <a:lstStyle/>
                    <a:p>
                      <a:r>
                        <a:rPr sz="1150" b="0">
                          <a:solidFill>
                            <a:srgbClr val="2E2A26"/>
                          </a:solidFill>
                          <a:latin typeface="Malgun Gothic"/>
                        </a:rPr>
                        <a:t>먹거리골목 앞산맛둘레길</a:t>
                      </a:r>
                    </a:p>
                  </a:txBody>
                  <a:tcPr anchor="ctr">
                    <a:solidFill>
                      <a:srgbClr val="F3ECE3"/>
                    </a:solidFill>
                  </a:tcPr>
                </a:tc>
                <a:tc>
                  <a:txBody>
                    <a:bodyPr/>
                    <a:lstStyle/>
                    <a:p>
                      <a:r>
                        <a:rPr sz="1150" b="0">
                          <a:solidFill>
                            <a:srgbClr val="2E2A26"/>
                          </a:solidFill>
                          <a:latin typeface="Malgun Gothic"/>
                        </a:rPr>
                        <a:t>구청 추천</a:t>
                      </a:r>
                    </a:p>
                  </a:txBody>
                  <a:tcPr anchor="ctr">
                    <a:solidFill>
                      <a:srgbClr val="F3ECE3"/>
                    </a:solidFill>
                  </a:tcPr>
                </a:tc>
                <a:tc>
                  <a:txBody>
                    <a:bodyPr/>
                    <a:lstStyle/>
                    <a:p>
                      <a:r>
                        <a:rPr sz="1150" b="0">
                          <a:solidFill>
                            <a:srgbClr val="2E2A26"/>
                          </a:solidFill>
                          <a:latin typeface="Malgun Gothic"/>
                        </a:rPr>
                        <a:t>2026-10-02</a:t>
                      </a:r>
                    </a:p>
                  </a:txBody>
                  <a:tcPr anchor="ctr">
                    <a:solidFill>
                      <a:srgbClr val="F3ECE3"/>
                    </a:solidFill>
                  </a:tcPr>
                </a:tc>
                <a:tc>
                  <a:txBody>
                    <a:bodyPr/>
                    <a:lstStyle/>
                    <a:p>
                      <a:r>
                        <a:rPr sz="1150" b="0">
                          <a:solidFill>
                            <a:srgbClr val="2E2A26"/>
                          </a:solidFill>
                          <a:latin typeface="Malgun Gothic"/>
                        </a:rPr>
                        <a:t>data.go.kr 3069689</a:t>
                      </a:r>
                    </a:p>
                  </a:txBody>
                  <a:tcPr anchor="ctr">
                    <a:solidFill>
                      <a:srgbClr val="F3ECE3"/>
                    </a:solidFill>
                  </a:tcPr>
                </a:tc>
                <a:extLst>
                  <a:ext uri="{0D108BD9-81ED-4DB2-BD59-A6C34878D82A}">
                    <a16:rowId xmlns:a16="http://schemas.microsoft.com/office/drawing/2014/main" val="10004"/>
                  </a:ext>
                </a:extLst>
              </a:tr>
              <a:tr h="384048">
                <a:tc>
                  <a:txBody>
                    <a:bodyPr/>
                    <a:lstStyle/>
                    <a:p>
                      <a:r>
                        <a:rPr sz="1150" b="1">
                          <a:solidFill>
                            <a:srgbClr val="E4572E"/>
                          </a:solidFill>
                          <a:latin typeface="Malgun Gothic"/>
                        </a:rPr>
                        <a:t>대구 북구</a:t>
                      </a:r>
                    </a:p>
                  </a:txBody>
                  <a:tcPr anchor="ctr">
                    <a:solidFill>
                      <a:srgbClr val="FFFFFF"/>
                    </a:solidFill>
                  </a:tcPr>
                </a:tc>
                <a:tc>
                  <a:txBody>
                    <a:bodyPr/>
                    <a:lstStyle/>
                    <a:p>
                      <a:r>
                        <a:rPr sz="1150" b="0">
                          <a:solidFill>
                            <a:srgbClr val="2E2A26"/>
                          </a:solidFill>
                          <a:latin typeface="Malgun Gothic"/>
                        </a:rPr>
                        <a:t>북구 식품접객업</a:t>
                      </a:r>
                    </a:p>
                  </a:txBody>
                  <a:tcPr anchor="ctr">
                    <a:solidFill>
                      <a:srgbClr val="FFFFFF"/>
                    </a:solidFill>
                  </a:tcPr>
                </a:tc>
                <a:tc>
                  <a:txBody>
                    <a:bodyPr/>
                    <a:lstStyle/>
                    <a:p>
                      <a:r>
                        <a:rPr sz="1150" b="0">
                          <a:solidFill>
                            <a:srgbClr val="2E2A26"/>
                          </a:solidFill>
                          <a:latin typeface="Malgun Gothic"/>
                        </a:rPr>
                        <a:t>바탕 데이터</a:t>
                      </a:r>
                    </a:p>
                  </a:txBody>
                  <a:tcPr anchor="ctr">
                    <a:solidFill>
                      <a:srgbClr val="FFFFFF"/>
                    </a:solidFill>
                  </a:tcPr>
                </a:tc>
                <a:tc>
                  <a:txBody>
                    <a:bodyPr/>
                    <a:lstStyle/>
                    <a:p>
                      <a:r>
                        <a:rPr sz="1150" b="0">
                          <a:solidFill>
                            <a:srgbClr val="2E2A26"/>
                          </a:solidFill>
                          <a:latin typeface="Malgun Gothic"/>
                        </a:rPr>
                        <a:t>2026-07-25</a:t>
                      </a:r>
                    </a:p>
                  </a:txBody>
                  <a:tcPr anchor="ctr">
                    <a:solidFill>
                      <a:srgbClr val="FFFFFF"/>
                    </a:solidFill>
                  </a:tcPr>
                </a:tc>
                <a:tc>
                  <a:txBody>
                    <a:bodyPr/>
                    <a:lstStyle/>
                    <a:p>
                      <a:r>
                        <a:rPr sz="1150" b="0">
                          <a:solidFill>
                            <a:srgbClr val="2E2A26"/>
                          </a:solidFill>
                          <a:latin typeface="Malgun Gothic"/>
                        </a:rPr>
                        <a:t>data.go.kr 15006336</a:t>
                      </a:r>
                    </a:p>
                  </a:txBody>
                  <a:tcPr anchor="ctr">
                    <a:solidFill>
                      <a:srgbClr val="FFFFFF"/>
                    </a:solidFill>
                  </a:tcPr>
                </a:tc>
                <a:extLst>
                  <a:ext uri="{0D108BD9-81ED-4DB2-BD59-A6C34878D82A}">
                    <a16:rowId xmlns:a16="http://schemas.microsoft.com/office/drawing/2014/main" val="10005"/>
                  </a:ext>
                </a:extLst>
              </a:tr>
              <a:tr h="384048">
                <a:tc>
                  <a:txBody>
                    <a:bodyPr/>
                    <a:lstStyle/>
                    <a:p>
                      <a:r>
                        <a:rPr sz="1150" b="1">
                          <a:solidFill>
                            <a:srgbClr val="E4572E"/>
                          </a:solidFill>
                          <a:latin typeface="Malgun Gothic"/>
                        </a:rPr>
                        <a:t>대구 수성구</a:t>
                      </a:r>
                    </a:p>
                  </a:txBody>
                  <a:tcPr anchor="ctr">
                    <a:solidFill>
                      <a:srgbClr val="F3ECE3"/>
                    </a:solidFill>
                  </a:tcPr>
                </a:tc>
                <a:tc>
                  <a:txBody>
                    <a:bodyPr/>
                    <a:lstStyle/>
                    <a:p>
                      <a:r>
                        <a:rPr sz="1150" b="0">
                          <a:solidFill>
                            <a:srgbClr val="2E2A26"/>
                          </a:solidFill>
                          <a:latin typeface="Malgun Gothic"/>
                        </a:rPr>
                        <a:t>수성구 모범음식점 현황</a:t>
                      </a:r>
                    </a:p>
                  </a:txBody>
                  <a:tcPr anchor="ctr">
                    <a:solidFill>
                      <a:srgbClr val="F3ECE3"/>
                    </a:solidFill>
                  </a:tcPr>
                </a:tc>
                <a:tc>
                  <a:txBody>
                    <a:bodyPr/>
                    <a:lstStyle/>
                    <a:p>
                      <a:r>
                        <a:rPr sz="1150" b="0">
                          <a:solidFill>
                            <a:srgbClr val="2E2A26"/>
                          </a:solidFill>
                          <a:latin typeface="Malgun Gothic"/>
                        </a:rPr>
                        <a:t>모범·구청 지정</a:t>
                      </a:r>
                    </a:p>
                  </a:txBody>
                  <a:tcPr anchor="ctr">
                    <a:solidFill>
                      <a:srgbClr val="F3ECE3"/>
                    </a:solidFill>
                  </a:tcPr>
                </a:tc>
                <a:tc>
                  <a:txBody>
                    <a:bodyPr/>
                    <a:lstStyle/>
                    <a:p>
                      <a:r>
                        <a:rPr sz="1150" b="0">
                          <a:solidFill>
                            <a:srgbClr val="2E2A26"/>
                          </a:solidFill>
                          <a:latin typeface="Malgun Gothic"/>
                        </a:rPr>
                        <a:t>2025-12-18</a:t>
                      </a:r>
                    </a:p>
                  </a:txBody>
                  <a:tcPr anchor="ctr">
                    <a:solidFill>
                      <a:srgbClr val="F3ECE3"/>
                    </a:solidFill>
                  </a:tcPr>
                </a:tc>
                <a:tc>
                  <a:txBody>
                    <a:bodyPr/>
                    <a:lstStyle/>
                    <a:p>
                      <a:r>
                        <a:rPr sz="1150" b="0">
                          <a:solidFill>
                            <a:srgbClr val="2E2A26"/>
                          </a:solidFill>
                          <a:latin typeface="Malgun Gothic"/>
                        </a:rPr>
                        <a:t>대구 D-데이터허브</a:t>
                      </a:r>
                    </a:p>
                  </a:txBody>
                  <a:tcPr anchor="ctr">
                    <a:solidFill>
                      <a:srgbClr val="F3ECE3"/>
                    </a:solidFill>
                  </a:tcPr>
                </a:tc>
                <a:extLst>
                  <a:ext uri="{0D108BD9-81ED-4DB2-BD59-A6C34878D82A}">
                    <a16:rowId xmlns:a16="http://schemas.microsoft.com/office/drawing/2014/main" val="10006"/>
                  </a:ext>
                </a:extLst>
              </a:tr>
              <a:tr h="384048">
                <a:tc>
                  <a:txBody>
                    <a:bodyPr/>
                    <a:lstStyle/>
                    <a:p>
                      <a:r>
                        <a:rPr sz="1150" b="1">
                          <a:solidFill>
                            <a:srgbClr val="E4572E"/>
                          </a:solidFill>
                          <a:latin typeface="Malgun Gothic"/>
                        </a:rPr>
                        <a:t>대구 달서구</a:t>
                      </a:r>
                    </a:p>
                  </a:txBody>
                  <a:tcPr anchor="ctr">
                    <a:solidFill>
                      <a:srgbClr val="FFFFFF"/>
                    </a:solidFill>
                  </a:tcPr>
                </a:tc>
                <a:tc>
                  <a:txBody>
                    <a:bodyPr/>
                    <a:lstStyle/>
                    <a:p>
                      <a:r>
                        <a:rPr sz="1150" b="0">
                          <a:solidFill>
                            <a:srgbClr val="2E2A26"/>
                          </a:solidFill>
                          <a:latin typeface="Malgun Gothic"/>
                        </a:rPr>
                        <a:t>달서구 식품접객업소 현황</a:t>
                      </a:r>
                    </a:p>
                  </a:txBody>
                  <a:tcPr anchor="ctr">
                    <a:solidFill>
                      <a:srgbClr val="FFFFFF"/>
                    </a:solidFill>
                  </a:tcPr>
                </a:tc>
                <a:tc>
                  <a:txBody>
                    <a:bodyPr/>
                    <a:lstStyle/>
                    <a:p>
                      <a:r>
                        <a:rPr sz="1150" b="0">
                          <a:solidFill>
                            <a:srgbClr val="2E2A26"/>
                          </a:solidFill>
                          <a:latin typeface="Malgun Gothic"/>
                        </a:rPr>
                        <a:t>바탕 데이터</a:t>
                      </a:r>
                    </a:p>
                  </a:txBody>
                  <a:tcPr anchor="ctr">
                    <a:solidFill>
                      <a:srgbClr val="FFFFFF"/>
                    </a:solidFill>
                  </a:tcPr>
                </a:tc>
                <a:tc>
                  <a:txBody>
                    <a:bodyPr/>
                    <a:lstStyle/>
                    <a:p>
                      <a:r>
                        <a:rPr sz="1150" b="0">
                          <a:solidFill>
                            <a:srgbClr val="2E2A26"/>
                          </a:solidFill>
                          <a:latin typeface="Malgun Gothic"/>
                        </a:rPr>
                        <a:t>2026-05-08</a:t>
                      </a:r>
                    </a:p>
                  </a:txBody>
                  <a:tcPr anchor="ctr">
                    <a:solidFill>
                      <a:srgbClr val="FFFFFF"/>
                    </a:solidFill>
                  </a:tcPr>
                </a:tc>
                <a:tc>
                  <a:txBody>
                    <a:bodyPr/>
                    <a:lstStyle/>
                    <a:p>
                      <a:r>
                        <a:rPr sz="1150" b="0">
                          <a:solidFill>
                            <a:srgbClr val="2E2A26"/>
                          </a:solidFill>
                          <a:latin typeface="Malgun Gothic"/>
                        </a:rPr>
                        <a:t>data.go.kr 15084548</a:t>
                      </a:r>
                    </a:p>
                  </a:txBody>
                  <a:tcPr anchor="ctr">
                    <a:solidFill>
                      <a:srgbClr val="FFFFFF"/>
                    </a:solidFill>
                  </a:tcPr>
                </a:tc>
                <a:extLst>
                  <a:ext uri="{0D108BD9-81ED-4DB2-BD59-A6C34878D82A}">
                    <a16:rowId xmlns:a16="http://schemas.microsoft.com/office/drawing/2014/main" val="10007"/>
                  </a:ext>
                </a:extLst>
              </a:tr>
              <a:tr h="384048">
                <a:tc>
                  <a:txBody>
                    <a:bodyPr/>
                    <a:lstStyle/>
                    <a:p>
                      <a:r>
                        <a:rPr sz="1150" b="1">
                          <a:solidFill>
                            <a:srgbClr val="E4572E"/>
                          </a:solidFill>
                          <a:latin typeface="Malgun Gothic"/>
                        </a:rPr>
                        <a:t>대구 달서구</a:t>
                      </a:r>
                    </a:p>
                  </a:txBody>
                  <a:tcPr anchor="ctr">
                    <a:solidFill>
                      <a:srgbClr val="F3ECE3"/>
                    </a:solidFill>
                  </a:tcPr>
                </a:tc>
                <a:tc>
                  <a:txBody>
                    <a:bodyPr/>
                    <a:lstStyle/>
                    <a:p>
                      <a:r>
                        <a:rPr sz="1150" b="0">
                          <a:solidFill>
                            <a:srgbClr val="2E2A26"/>
                          </a:solidFill>
                          <a:latin typeface="Malgun Gothic"/>
                        </a:rPr>
                        <a:t>달서맛나 지정음식점</a:t>
                      </a:r>
                    </a:p>
                  </a:txBody>
                  <a:tcPr anchor="ctr">
                    <a:solidFill>
                      <a:srgbClr val="F3ECE3"/>
                    </a:solidFill>
                  </a:tcPr>
                </a:tc>
                <a:tc>
                  <a:txBody>
                    <a:bodyPr/>
                    <a:lstStyle/>
                    <a:p>
                      <a:r>
                        <a:rPr sz="1150" b="0">
                          <a:solidFill>
                            <a:srgbClr val="2E2A26"/>
                          </a:solidFill>
                          <a:latin typeface="Malgun Gothic"/>
                        </a:rPr>
                        <a:t>모범·구청 지정</a:t>
                      </a:r>
                    </a:p>
                  </a:txBody>
                  <a:tcPr anchor="ctr">
                    <a:solidFill>
                      <a:srgbClr val="F3ECE3"/>
                    </a:solidFill>
                  </a:tcPr>
                </a:tc>
                <a:tc>
                  <a:txBody>
                    <a:bodyPr/>
                    <a:lstStyle/>
                    <a:p>
                      <a:r>
                        <a:rPr sz="1150" b="0">
                          <a:solidFill>
                            <a:srgbClr val="2E2A26"/>
                          </a:solidFill>
                          <a:latin typeface="Malgun Gothic"/>
                        </a:rPr>
                        <a:t>2026-07-03</a:t>
                      </a:r>
                    </a:p>
                  </a:txBody>
                  <a:tcPr anchor="ctr">
                    <a:solidFill>
                      <a:srgbClr val="F3ECE3"/>
                    </a:solidFill>
                  </a:tcPr>
                </a:tc>
                <a:tc>
                  <a:txBody>
                    <a:bodyPr/>
                    <a:lstStyle/>
                    <a:p>
                      <a:r>
                        <a:rPr sz="1150" b="0">
                          <a:solidFill>
                            <a:srgbClr val="2E2A26"/>
                          </a:solidFill>
                          <a:latin typeface="Malgun Gothic"/>
                        </a:rPr>
                        <a:t>data.go.kr 15144887</a:t>
                      </a:r>
                    </a:p>
                  </a:txBody>
                  <a:tcPr anchor="ctr">
                    <a:solidFill>
                      <a:srgbClr val="F3ECE3"/>
                    </a:solidFill>
                  </a:tcPr>
                </a:tc>
                <a:extLst>
                  <a:ext uri="{0D108BD9-81ED-4DB2-BD59-A6C34878D82A}">
                    <a16:rowId xmlns:a16="http://schemas.microsoft.com/office/drawing/2014/main" val="10008"/>
                  </a:ext>
                </a:extLst>
              </a:tr>
              <a:tr h="384048">
                <a:tc>
                  <a:txBody>
                    <a:bodyPr/>
                    <a:lstStyle/>
                    <a:p>
                      <a:r>
                        <a:rPr sz="1150" b="1">
                          <a:solidFill>
                            <a:srgbClr val="E4572E"/>
                          </a:solidFill>
                          <a:latin typeface="Malgun Gothic"/>
                        </a:rPr>
                        <a:t>대구 달성군</a:t>
                      </a:r>
                    </a:p>
                  </a:txBody>
                  <a:tcPr anchor="ctr">
                    <a:solidFill>
                      <a:srgbClr val="FFFFFF"/>
                    </a:solidFill>
                  </a:tcPr>
                </a:tc>
                <a:tc>
                  <a:txBody>
                    <a:bodyPr/>
                    <a:lstStyle/>
                    <a:p>
                      <a:r>
                        <a:rPr sz="1150" b="0">
                          <a:solidFill>
                            <a:srgbClr val="2E2A26"/>
                          </a:solidFill>
                          <a:latin typeface="Malgun Gothic"/>
                        </a:rPr>
                        <a:t>달성군 휴게음식점 현황</a:t>
                      </a:r>
                    </a:p>
                  </a:txBody>
                  <a:tcPr anchor="ctr">
                    <a:solidFill>
                      <a:srgbClr val="FFFFFF"/>
                    </a:solidFill>
                  </a:tcPr>
                </a:tc>
                <a:tc>
                  <a:txBody>
                    <a:bodyPr/>
                    <a:lstStyle/>
                    <a:p>
                      <a:r>
                        <a:rPr sz="1150" b="0">
                          <a:solidFill>
                            <a:srgbClr val="2E2A26"/>
                          </a:solidFill>
                          <a:latin typeface="Malgun Gothic"/>
                        </a:rPr>
                        <a:t>바탕 데이터</a:t>
                      </a:r>
                    </a:p>
                  </a:txBody>
                  <a:tcPr anchor="ctr">
                    <a:solidFill>
                      <a:srgbClr val="FFFFFF"/>
                    </a:solidFill>
                  </a:tcPr>
                </a:tc>
                <a:tc>
                  <a:txBody>
                    <a:bodyPr/>
                    <a:lstStyle/>
                    <a:p>
                      <a:r>
                        <a:rPr sz="1150" b="0">
                          <a:solidFill>
                            <a:srgbClr val="2E2A26"/>
                          </a:solidFill>
                          <a:latin typeface="Malgun Gothic"/>
                        </a:rPr>
                        <a:t>2026-06-24</a:t>
                      </a:r>
                    </a:p>
                  </a:txBody>
                  <a:tcPr anchor="ctr">
                    <a:solidFill>
                      <a:srgbClr val="FFFFFF"/>
                    </a:solidFill>
                  </a:tcPr>
                </a:tc>
                <a:tc>
                  <a:txBody>
                    <a:bodyPr/>
                    <a:lstStyle/>
                    <a:p>
                      <a:r>
                        <a:rPr sz="1150" b="0">
                          <a:solidFill>
                            <a:srgbClr val="2E2A26"/>
                          </a:solidFill>
                          <a:latin typeface="Malgun Gothic"/>
                        </a:rPr>
                        <a:t>data.go.kr 15127422</a:t>
                      </a:r>
                    </a:p>
                  </a:txBody>
                  <a:tcPr anchor="ctr">
                    <a:solidFill>
                      <a:srgbClr val="FFFFFF"/>
                    </a:solidFill>
                  </a:tcPr>
                </a:tc>
                <a:extLst>
                  <a:ext uri="{0D108BD9-81ED-4DB2-BD59-A6C34878D82A}">
                    <a16:rowId xmlns:a16="http://schemas.microsoft.com/office/drawing/2014/main" val="10009"/>
                  </a:ext>
                </a:extLst>
              </a:tr>
              <a:tr h="384048">
                <a:tc>
                  <a:txBody>
                    <a:bodyPr/>
                    <a:lstStyle/>
                    <a:p>
                      <a:r>
                        <a:rPr sz="1150" b="1">
                          <a:solidFill>
                            <a:srgbClr val="E4572E"/>
                          </a:solidFill>
                          <a:latin typeface="Malgun Gothic"/>
                        </a:rPr>
                        <a:t>(참고) GitHub 공개</a:t>
                      </a:r>
                    </a:p>
                  </a:txBody>
                  <a:tcPr anchor="ctr">
                    <a:solidFill>
                      <a:srgbClr val="F3ECE3"/>
                    </a:solidFill>
                  </a:tcPr>
                </a:tc>
                <a:tc>
                  <a:txBody>
                    <a:bodyPr/>
                    <a:lstStyle/>
                    <a:p>
                      <a:r>
                        <a:rPr sz="1150" b="0">
                          <a:solidFill>
                            <a:srgbClr val="2E2A26"/>
                          </a:solidFill>
                          <a:latin typeface="Malgun Gothic"/>
                        </a:rPr>
                        <a:t>구·군 경계 southkorea-maps</a:t>
                      </a:r>
                    </a:p>
                  </a:txBody>
                  <a:tcPr anchor="ctr">
                    <a:solidFill>
                      <a:srgbClr val="F3ECE3"/>
                    </a:solidFill>
                  </a:tcPr>
                </a:tc>
                <a:tc>
                  <a:txBody>
                    <a:bodyPr/>
                    <a:lstStyle/>
                    <a:p>
                      <a:r>
                        <a:rPr sz="1150" b="0">
                          <a:solidFill>
                            <a:srgbClr val="2E2A26"/>
                          </a:solidFill>
                          <a:latin typeface="Malgun Gothic"/>
                        </a:rPr>
                        <a:t>지도 경계</a:t>
                      </a:r>
                    </a:p>
                  </a:txBody>
                  <a:tcPr anchor="ctr">
                    <a:solidFill>
                      <a:srgbClr val="F3ECE3"/>
                    </a:solidFill>
                  </a:tcPr>
                </a:tc>
                <a:tc>
                  <a:txBody>
                    <a:bodyPr/>
                    <a:lstStyle/>
                    <a:p>
                      <a:r>
                        <a:rPr sz="1150" b="0">
                          <a:solidFill>
                            <a:srgbClr val="2E2A26"/>
                          </a:solidFill>
                          <a:latin typeface="Malgun Gothic"/>
                        </a:rPr>
                        <a:t>통계청 경계</a:t>
                      </a:r>
                    </a:p>
                  </a:txBody>
                  <a:tcPr anchor="ctr">
                    <a:solidFill>
                      <a:srgbClr val="F3ECE3"/>
                    </a:solidFill>
                  </a:tcPr>
                </a:tc>
                <a:tc>
                  <a:txBody>
                    <a:bodyPr/>
                    <a:lstStyle/>
                    <a:p>
                      <a:r>
                        <a:rPr sz="1150" b="0">
                          <a:solidFill>
                            <a:srgbClr val="2E2A26"/>
                          </a:solidFill>
                          <a:latin typeface="Malgun Gothic"/>
                        </a:rPr>
                        <a:t>github.com/southkorea</a:t>
                      </a:r>
                    </a:p>
                  </a:txBody>
                  <a:tcPr anchor="ctr">
                    <a:solidFill>
                      <a:srgbClr val="F3ECE3"/>
                    </a:solidFill>
                  </a:tcPr>
                </a:tc>
                <a:extLst>
                  <a:ext uri="{0D108BD9-81ED-4DB2-BD59-A6C34878D82A}">
                    <a16:rowId xmlns:a16="http://schemas.microsoft.com/office/drawing/2014/main" val="10010"/>
                  </a:ext>
                </a:extLst>
              </a:tr>
            </a:tbl>
          </a:graphicData>
        </a:graphic>
      </p:graphicFrame>
      <p:sp>
        <p:nvSpPr>
          <p:cNvPr id="6" name="Rectangle 5"/>
          <p:cNvSpPr/>
          <p:nvPr/>
        </p:nvSpPr>
        <p:spPr>
          <a:xfrm>
            <a:off x="548640" y="6355080"/>
            <a:ext cx="11091672" cy="9144"/>
          </a:xfrm>
          <a:prstGeom prst="rect">
            <a:avLst/>
          </a:prstGeom>
          <a:solidFill>
            <a:srgbClr val="E8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00800"/>
            <a:ext cx="11064240" cy="320040"/>
          </a:xfrm>
          <a:prstGeom prst="rect">
            <a:avLst/>
          </a:prstGeom>
          <a:noFill/>
        </p:spPr>
        <p:txBody>
          <a:bodyPr wrap="square" lIns="45720" tIns="18288" rIns="45720" bIns="18288" anchor="t">
            <a:spAutoFit/>
          </a:bodyPr>
          <a:lstStyle/>
          <a:p>
            <a:pPr algn="l">
              <a:lnSpc>
                <a:spcPct val="115000"/>
              </a:lnSpc>
            </a:pPr>
            <a:r>
              <a:rPr sz="1000" b="0">
                <a:solidFill>
                  <a:srgbClr val="6E655C"/>
                </a:solidFill>
                <a:latin typeface="Malgun Gothic"/>
              </a:rPr>
              <a:t>전체 URL은 각 슬라이드 발표자 노트에 정리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2559</Words>
  <Application>Microsoft Office PowerPoint</Application>
  <PresentationFormat>와이드스크린</PresentationFormat>
  <Paragraphs>446</Paragraphs>
  <Slides>15</Slides>
  <Notes>15</Notes>
  <HiddenSlides>7</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Malgun Gothic</vt: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동네가 먹여살린 가게 - 데이터 출처</dc:title>
  <dc:subject/>
  <dc:creator/>
  <cp:keywords/>
  <dc:description>generated using python-pptx</dc:description>
  <cp:lastModifiedBy>Green</cp:lastModifiedBy>
  <cp:revision>2</cp:revision>
  <dcterms:created xsi:type="dcterms:W3CDTF">2013-01-27T09:14:16Z</dcterms:created>
  <dcterms:modified xsi:type="dcterms:W3CDTF">2026-10-29T08:47:46Z</dcterms:modified>
  <cp:category/>
</cp:coreProperties>
</file>