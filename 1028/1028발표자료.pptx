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8초) 안녕하세요, AX 데이터·서비스 트랙 [4p]입니다. 저희 주제는 ‘동네가 먹여 살린 가게’, 시간이 검증한 대구 동네 가게 지도입니다.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12초) 맛집 리뷰는 광고와 협찬이 섞여 믿기 어렵습니다. 하지만 20년 영업은 조작할 수 없습니다. 같은 동네, 같은 업종보다 오래 버틴 가게가 곧 수요가 검증된 가게라는 것이 저희 가설입니다.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14초) 데이터는 여섯 갈래입니다. 인허가 개·폐업 데이터로 가게의 업력을 계산하고, 업종 생존율과 비교해 생존배수를 냅니다. 착한가격업소, 전통시장, 대구로페이 가맹, 외지인 방문 비중은 근거를 더합니다. 이것을 판정해 지도로 보여줍니다. 모든 데이터는 행정안전부, 소상공인시장진흥공단, 국가데이터처, 한국관광공사의 공공데이터입니다.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14초) 판정은 점수 합산이 아니라 단계형입니다. 오래 버틴 집, 동네가 고른 집, 그리고 모든 조건을 통과한 ‘동네가 먹여 살린 집’입니다. 점포별 방문 빈도는 공개되지 않아, 지역 단위 외지인 비중으로 대신하고 표본으로 검증하겠습니다.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12초) 지금까지 주제 확정, 기획서, 키워드 맵과 데이터 노트 6종, 판정 구조 설계를 마쳤습니다. 다음은 대구 인허가 데이터를 내려받아 폐업일자가 들어 있는지 확인하고, 클로드코드로 지도 프로토타입을 만드는 것입니다.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2B2118"/>
                </a:solidFill>
                <a:latin typeface="Noto Serif KR" pitchFamily="34" charset="0"/>
                <a:ea typeface="Noto Serif KR" pitchFamily="34" charset="-122"/>
                <a:cs typeface="Noto Serif K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43360"/>
            <a:ext cx="10566400" cy="4401840"/>
          </a:xfrm>
          <a:prstGeom prst="rect">
            <a:avLst/>
          </a:prstGeom>
          <a:noFill/>
          <a:ln/>
        </p:spPr>
        <p:txBody>
          <a:bodyPr wrap="square" lIns="0" tIns="0" rIns="0" bIns="0" rtlCol="0" anchor="t"/>
          <a:lstStyle>
            <a:lvl1pPr algn="l" indent="0" marL="0">
              <a:lnSpc>
                <a:spcPct val="140000"/>
              </a:lnSpc>
              <a:buNone/>
              <a:defRPr lang="en-US" sz="1600" dirty="0">
                <a:solidFill>
                  <a:srgbClr val="2B2118"/>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2B2118"/>
                </a:solidFill>
                <a:latin typeface="Noto Serif KR" pitchFamily="34" charset="0"/>
                <a:ea typeface="Noto Serif KR" pitchFamily="34" charset="-122"/>
                <a:cs typeface="Noto Serif K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43360"/>
            <a:ext cx="10566400" cy="4401840"/>
          </a:xfrm>
          <a:prstGeom prst="rect">
            <a:avLst/>
          </a:prstGeom>
          <a:noFill/>
          <a:ln/>
        </p:spPr>
        <p:txBody>
          <a:bodyPr wrap="square" lIns="0" tIns="0" rIns="0" bIns="0" rtlCol="0" anchor="t"/>
          <a:lstStyle>
            <a:lvl1pPr algn="l" indent="0" marL="0">
              <a:lnSpc>
                <a:spcPct val="140000"/>
              </a:lnSpc>
              <a:buNone/>
              <a:defRPr lang="en-US" sz="1600" dirty="0">
                <a:solidFill>
                  <a:srgbClr val="2B2118"/>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118"/>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E08A5C"/>
                </a:solidFill>
                <a:latin typeface="Noto Sans KR" pitchFamily="34" charset="0"/>
                <a:ea typeface="Noto Sans KR" pitchFamily="34" charset="-122"/>
                <a:cs typeface="Noto Sans KR" pitchFamily="34" charset="-120"/>
              </a:rPr>
              <a:t>AX 데이터·서비스 트랙 · 프로젝트 1</a:t>
            </a:r>
            <a:endParaRPr lang="en-US" sz="1600" dirty="0"/>
          </a:p>
        </p:txBody>
      </p:sp>
      <p:sp>
        <p:nvSpPr>
          <p:cNvPr id="3" name="Text 1"/>
          <p:cNvSpPr/>
          <p:nvPr>
            <p:ph type="title"/>
          </p:nvPr>
        </p:nvSpPr>
        <p:spPr>
          <a:xfrm>
            <a:off x="812800" y="1300460"/>
            <a:ext cx="10883392" cy="901700"/>
          </a:xfrm>
          <a:prstGeom prst="rect">
            <a:avLst/>
          </a:prstGeom>
          <a:noFill/>
          <a:ln/>
        </p:spPr>
        <p:txBody>
          <a:bodyPr wrap="square" lIns="0" tIns="0" rIns="0" bIns="0" rtlCol="0" anchor="t">
            <a:normAutofit/>
          </a:bodyPr>
          <a:lstStyle/>
          <a:p>
            <a:pPr algn="l" indent="0" marL="0">
              <a:lnSpc>
                <a:spcPts val="6900"/>
              </a:lnSpc>
              <a:buNone/>
            </a:pPr>
            <a:r>
              <a:rPr lang="en-US" sz="6000" b="1" i="0" dirty="0">
                <a:solidFill>
                  <a:srgbClr val="F7F2EA"/>
                </a:solidFill>
                <a:latin typeface="Noto Serif KR" pitchFamily="18" charset="0"/>
                <a:ea typeface="Noto Serif KR" pitchFamily="18" charset="-122"/>
                <a:cs typeface="Noto Serif KR" pitchFamily="18" charset="-120"/>
              </a:rPr>
              <a:t>동네가 먹여 살린 가게</a:t>
            </a:r>
            <a:endParaRPr lang="en-US" sz="6000" dirty="0"/>
          </a:p>
        </p:txBody>
      </p:sp>
      <p:sp>
        <p:nvSpPr>
          <p:cNvPr id="4" name="Text 2"/>
          <p:cNvSpPr/>
          <p:nvPr/>
        </p:nvSpPr>
        <p:spPr>
          <a:xfrm>
            <a:off x="812800" y="237996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9CDBB"/>
                </a:solidFill>
                <a:latin typeface="Noto Sans KR" pitchFamily="34" charset="0"/>
                <a:ea typeface="Noto Sans KR" pitchFamily="34" charset="-122"/>
                <a:cs typeface="Noto Sans KR" pitchFamily="34" charset="-120"/>
              </a:rPr>
              <a:t>시간이 검증한 대구 동네 가게 지도 · 가칭 ‘버틴집’</a:t>
            </a:r>
            <a:endParaRPr lang="en-US" sz="2200" dirty="0"/>
          </a:p>
        </p:txBody>
      </p:sp>
      <p:pic>
        <p:nvPicPr>
          <p:cNvPr id="5" name="Image 0" descr="line">    </p:cNvPr>
          <p:cNvPicPr>
            <a:picLocks noChangeAspect="1"/>
          </p:cNvPicPr>
          <p:nvPr/>
        </p:nvPicPr>
        <p:blipFill>
          <a:blip r:embed="rId1"/>
          <a:srcRect l="0" r="0" t="0" b="0"/>
          <a:stretch/>
        </p:blipFill>
        <p:spPr>
          <a:xfrm>
            <a:off x="812800" y="5666780"/>
            <a:ext cx="1016000" cy="12700"/>
          </a:xfrm>
          <a:prstGeom prst="rect">
            <a:avLst/>
          </a:prstGeom>
        </p:spPr>
      </p:pic>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B2A0"/>
                </a:solidFill>
                <a:latin typeface="Noto Sans KR" pitchFamily="34" charset="0"/>
                <a:ea typeface="Noto Sans KR" pitchFamily="34" charset="-122"/>
                <a:cs typeface="Noto Sans KR" pitchFamily="34" charset="-120"/>
              </a:rPr>
              <a:t>[4p] · 진행 공유 · 2026.10.28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8431A"/>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E6DA"/>
                </a:solidFill>
                <a:latin typeface="Noto Sans KR" pitchFamily="34" charset="0"/>
                <a:ea typeface="Noto Sans KR" pitchFamily="34" charset="-122"/>
                <a:cs typeface="Noto Sans KR" pitchFamily="34" charset="-120"/>
              </a:rPr>
              <a:t>문제와 가설</a:t>
            </a:r>
            <a:endParaRPr lang="en-US" sz="1600" dirty="0"/>
          </a:p>
        </p:txBody>
      </p:sp>
      <p:sp>
        <p:nvSpPr>
          <p:cNvPr id="3" name="Text 1"/>
          <p:cNvSpPr/>
          <p:nvPr>
            <p:ph type="title"/>
          </p:nvPr>
        </p:nvSpPr>
        <p:spPr>
          <a:xfrm>
            <a:off x="812800" y="1300460"/>
            <a:ext cx="10883392" cy="1168400"/>
          </a:xfrm>
          <a:prstGeom prst="rect">
            <a:avLst/>
          </a:prstGeom>
          <a:noFill/>
          <a:ln/>
        </p:spPr>
        <p:txBody>
          <a:bodyPr wrap="square" lIns="0" tIns="0" rIns="0" bIns="0" rtlCol="0" anchor="t">
            <a:normAutofit/>
          </a:bodyPr>
          <a:lstStyle/>
          <a:p>
            <a:pPr algn="l" indent="0" marL="0">
              <a:lnSpc>
                <a:spcPts val="4500"/>
              </a:lnSpc>
              <a:buNone/>
            </a:pPr>
            <a:r>
              <a:rPr lang="en-US" sz="3600" b="1" i="0" dirty="0">
                <a:solidFill>
                  <a:srgbClr val="FBF6EF"/>
                </a:solidFill>
                <a:latin typeface="Noto Serif KR" pitchFamily="18" charset="0"/>
                <a:ea typeface="Noto Serif KR" pitchFamily="18" charset="-122"/>
                <a:cs typeface="Noto Serif KR" pitchFamily="18" charset="-120"/>
              </a:rPr>
              <a:t>리뷰는 조작할 수 있어도,</a:t>
            </a:r>
            <a:endParaRPr lang="en-US" sz="3600" dirty="0"/>
          </a:p>
          <a:p>
            <a:pPr algn="l" indent="0" marL="0">
              <a:lnSpc>
                <a:spcPts val="4500"/>
              </a:lnSpc>
              <a:buNone/>
            </a:pPr>
            <a:r>
              <a:rPr lang="en-US" sz="3600" b="1" i="0" dirty="0">
                <a:solidFill>
                  <a:srgbClr val="FBF6EF"/>
                </a:solidFill>
                <a:latin typeface="Noto Serif KR" pitchFamily="18" charset="0"/>
                <a:ea typeface="Noto Serif KR" pitchFamily="18" charset="-122"/>
                <a:cs typeface="Noto Serif KR" pitchFamily="18" charset="-120"/>
              </a:rPr>
              <a:t>20년 영업은 조작할 수 없습니다</a:t>
            </a:r>
            <a:endParaRPr lang="en-US" sz="3600" dirty="0"/>
          </a:p>
        </p:txBody>
      </p:sp>
      <p:sp>
        <p:nvSpPr>
          <p:cNvPr id="4" name="Text 2"/>
          <p:cNvSpPr/>
          <p:nvPr/>
        </p:nvSpPr>
        <p:spPr>
          <a:xfrm>
            <a:off x="812800" y="264666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BF6EF"/>
                </a:solidFill>
                <a:latin typeface="Noto Sans KR" pitchFamily="34" charset="0"/>
                <a:ea typeface="Noto Sans KR" pitchFamily="34" charset="-122"/>
                <a:cs typeface="Noto Sans KR" pitchFamily="34" charset="-120"/>
              </a:rPr>
              <a:t>같은 동네·같은 업종보다 </a:t>
            </a:r>
            <a:r>
              <a:rPr lang="en-US" sz="2200" b="1" dirty="0">
                <a:solidFill>
                  <a:srgbClr val="FBF6EF"/>
                </a:solidFill>
                <a:latin typeface="Noto Sans KR" pitchFamily="34" charset="0"/>
                <a:ea typeface="Noto Sans KR" pitchFamily="34" charset="-122"/>
                <a:cs typeface="Noto Sans KR" pitchFamily="34" charset="-120"/>
              </a:rPr>
              <a:t>오래 버틴 가게 = 수요가 검증된 가게</a:t>
            </a:r>
            <a:endParaRPr lang="en-US" sz="2200" dirty="0"/>
          </a:p>
        </p:txBody>
      </p:sp>
      <p:sp>
        <p:nvSpPr>
          <p:cNvPr id="5" name="Shape 3"/>
          <p:cNvSpPr/>
          <p:nvPr/>
        </p:nvSpPr>
        <p:spPr>
          <a:xfrm>
            <a:off x="812800" y="5083870"/>
            <a:ext cx="10566400" cy="0"/>
          </a:xfrm>
          <a:prstGeom prst="line">
            <a:avLst/>
          </a:prstGeom>
          <a:noFill/>
          <a:ln w="12700">
            <a:solidFill>
              <a:srgbClr val="E7B79C"/>
            </a:solidFill>
            <a:prstDash val="solid"/>
          </a:ln>
        </p:spPr>
      </p:sp>
      <p:sp>
        <p:nvSpPr>
          <p:cNvPr id="6" name="Text 4"/>
          <p:cNvSpPr/>
          <p:nvPr/>
        </p:nvSpPr>
        <p:spPr>
          <a:xfrm>
            <a:off x="812800" y="5293420"/>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E6DA"/>
                </a:solidFill>
                <a:latin typeface="Noto Sans KR" pitchFamily="34" charset="0"/>
                <a:ea typeface="Noto Sans KR" pitchFamily="34" charset="-122"/>
                <a:cs typeface="Noto Sans KR" pitchFamily="34" charset="-120"/>
              </a:rPr>
              <a:t>지금의 문제 1</a:t>
            </a:r>
            <a:endParaRPr lang="en-US" sz="1200" dirty="0"/>
          </a:p>
        </p:txBody>
      </p:sp>
      <p:sp>
        <p:nvSpPr>
          <p:cNvPr id="7" name="Text 5"/>
          <p:cNvSpPr/>
          <p:nvPr/>
        </p:nvSpPr>
        <p:spPr>
          <a:xfrm>
            <a:off x="812800" y="5557540"/>
            <a:ext cx="348823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6EF"/>
                </a:solidFill>
                <a:latin typeface="Noto Sans KR" pitchFamily="34" charset="0"/>
                <a:ea typeface="Noto Sans KR" pitchFamily="34" charset="-122"/>
                <a:cs typeface="Noto Sans KR" pitchFamily="34" charset="-120"/>
              </a:rPr>
              <a:t>광고·협찬이 섞인 리뷰</a:t>
            </a:r>
            <a:endParaRPr lang="en-US" sz="1600" dirty="0"/>
          </a:p>
        </p:txBody>
      </p:sp>
      <p:sp>
        <p:nvSpPr>
          <p:cNvPr id="8" name="Text 6"/>
          <p:cNvSpPr/>
          <p:nvPr/>
        </p:nvSpPr>
        <p:spPr>
          <a:xfrm>
            <a:off x="4402634" y="5293420"/>
            <a:ext cx="34883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E6DA"/>
                </a:solidFill>
                <a:latin typeface="Noto Sans KR" pitchFamily="34" charset="0"/>
                <a:ea typeface="Noto Sans KR" pitchFamily="34" charset="-122"/>
                <a:cs typeface="Noto Sans KR" pitchFamily="34" charset="-120"/>
              </a:rPr>
              <a:t>지금의 문제 2</a:t>
            </a:r>
            <a:endParaRPr lang="en-US" sz="1200" dirty="0"/>
          </a:p>
        </p:txBody>
      </p:sp>
      <p:sp>
        <p:nvSpPr>
          <p:cNvPr id="9" name="Text 7"/>
          <p:cNvSpPr/>
          <p:nvPr/>
        </p:nvSpPr>
        <p:spPr>
          <a:xfrm>
            <a:off x="4402634" y="5557540"/>
            <a:ext cx="348833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6EF"/>
                </a:solidFill>
                <a:latin typeface="Noto Sans KR" pitchFamily="34" charset="0"/>
                <a:ea typeface="Noto Sans KR" pitchFamily="34" charset="-122"/>
                <a:cs typeface="Noto Sans KR" pitchFamily="34" charset="-120"/>
              </a:rPr>
              <a:t>지도에 남은 폐업 가게</a:t>
            </a:r>
            <a:endParaRPr lang="en-US" sz="1600" dirty="0"/>
          </a:p>
        </p:txBody>
      </p:sp>
      <p:sp>
        <p:nvSpPr>
          <p:cNvPr id="10" name="Text 8"/>
          <p:cNvSpPr/>
          <p:nvPr/>
        </p:nvSpPr>
        <p:spPr>
          <a:xfrm>
            <a:off x="7992566" y="5293420"/>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E6DA"/>
                </a:solidFill>
                <a:latin typeface="Noto Sans KR" pitchFamily="34" charset="0"/>
                <a:ea typeface="Noto Sans KR" pitchFamily="34" charset="-122"/>
                <a:cs typeface="Noto Sans KR" pitchFamily="34" charset="-120"/>
              </a:rPr>
              <a:t>지금의 문제 3</a:t>
            </a:r>
            <a:endParaRPr lang="en-US" sz="1200" dirty="0"/>
          </a:p>
        </p:txBody>
      </p:sp>
      <p:sp>
        <p:nvSpPr>
          <p:cNvPr id="11" name="Text 9"/>
          <p:cNvSpPr/>
          <p:nvPr/>
        </p:nvSpPr>
        <p:spPr>
          <a:xfrm>
            <a:off x="7992566" y="5557540"/>
            <a:ext cx="348823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6EF"/>
                </a:solidFill>
                <a:latin typeface="Noto Sans KR" pitchFamily="34" charset="0"/>
                <a:ea typeface="Noto Sans KR" pitchFamily="34" charset="-122"/>
                <a:cs typeface="Noto Sans KR" pitchFamily="34" charset="-120"/>
              </a:rPr>
              <a:t>SNS에 흩어진 휴무 공지</a:t>
            </a:r>
            <a:endParaRPr lang="en-US" sz="1600" dirty="0"/>
          </a:p>
        </p:txBody>
      </p:sp>
      <p:sp>
        <p:nvSpPr>
          <p:cNvPr id="12" name="Text 1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E6DA"/>
                </a:solidFill>
                <a:latin typeface="Noto Sans KR" pitchFamily="34" charset="0"/>
                <a:ea typeface="Noto Sans KR" pitchFamily="34" charset="-122"/>
                <a:cs typeface="Noto Sans KR" pitchFamily="34" charset="-120"/>
              </a:rPr>
              <a:t>버틴집 · AX 데이터·서비스 트랙</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7E6DA"/>
                </a:solidFill>
                <a:latin typeface="Noto Sans KR" pitchFamily="34" charset="0"/>
                <a:ea typeface="Noto Sans KR" pitchFamily="34" charset="-122"/>
                <a:cs typeface="Noto Sans K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2B2118"/>
                </a:solidFill>
                <a:latin typeface="Noto Serif KR" pitchFamily="18" charset="0"/>
                <a:ea typeface="Noto Serif KR" pitchFamily="18" charset="-122"/>
                <a:cs typeface="Noto Serif KR" pitchFamily="18" charset="-120"/>
              </a:rPr>
              <a:t>데이터 6종을 하나의 판정으로</a:t>
            </a:r>
            <a:endParaRPr lang="en-US" sz="3600" dirty="0"/>
          </a:p>
        </p:txBody>
      </p:sp>
      <p:sp>
        <p:nvSpPr>
          <p:cNvPr id="3" name="Text 1"/>
          <p:cNvSpPr/>
          <p:nvPr/>
        </p:nvSpPr>
        <p:spPr>
          <a:xfrm>
            <a:off x="812800" y="1643360"/>
            <a:ext cx="23284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31A"/>
                </a:solidFill>
                <a:latin typeface="Noto Sans KR" pitchFamily="34" charset="0"/>
                <a:ea typeface="Noto Sans KR" pitchFamily="34" charset="-122"/>
                <a:cs typeface="Noto Sans KR" pitchFamily="34" charset="-120"/>
              </a:rPr>
              <a:t>1 · 수집</a:t>
            </a:r>
            <a:endParaRPr lang="en-US" sz="1200" dirty="0"/>
          </a:p>
        </p:txBody>
      </p:sp>
      <p:sp>
        <p:nvSpPr>
          <p:cNvPr id="4" name="Text 2"/>
          <p:cNvSpPr/>
          <p:nvPr/>
        </p:nvSpPr>
        <p:spPr>
          <a:xfrm>
            <a:off x="815975" y="1936055"/>
            <a:ext cx="2254250" cy="321270"/>
          </a:xfrm>
          <a:prstGeom prst="roundRect">
            <a:avLst>
              <a:gd name="adj" fmla="val 22730"/>
            </a:avLst>
          </a:prstGeom>
          <a:solidFill>
            <a:srgbClr val="FFFDF9"/>
          </a:solidFill>
          <a:ln w="6350">
            <a:solidFill>
              <a:srgbClr val="E2D6C4"/>
            </a:solidFill>
            <a:prstDash val="solid"/>
          </a:ln>
        </p:spPr>
        <p:txBody>
          <a:bodyPr wrap="square" lIns="108787" tIns="32587" rIns="48970" bIns="7187" rtlCol="0" anchor="t">
            <a:normAutofit/>
          </a:bodyPr>
          <a:lstStyle/>
          <a:p>
            <a:pPr algn="l" indent="0" marL="0">
              <a:lnSpc>
                <a:spcPts val="1680"/>
              </a:lnSpc>
              <a:buNone/>
            </a:pPr>
            <a:r>
              <a:rPr lang="en-US" sz="1200" b="1" dirty="0">
                <a:solidFill>
                  <a:srgbClr val="2B2118"/>
                </a:solidFill>
                <a:latin typeface="Noto Sans KR" pitchFamily="34" charset="0"/>
                <a:ea typeface="Noto Sans KR" pitchFamily="34" charset="-122"/>
                <a:cs typeface="Noto Sans KR" pitchFamily="34" charset="-120"/>
              </a:rPr>
              <a:t>① 인허가 개·폐업</a:t>
            </a:r>
            <a:endParaRPr lang="en-US" sz="1200" dirty="0"/>
          </a:p>
        </p:txBody>
      </p:sp>
      <p:sp>
        <p:nvSpPr>
          <p:cNvPr id="5" name="Text 3"/>
          <p:cNvSpPr/>
          <p:nvPr/>
        </p:nvSpPr>
        <p:spPr>
          <a:xfrm>
            <a:off x="815975" y="2339876"/>
            <a:ext cx="2254250" cy="321270"/>
          </a:xfrm>
          <a:prstGeom prst="roundRect">
            <a:avLst>
              <a:gd name="adj" fmla="val 22730"/>
            </a:avLst>
          </a:prstGeom>
          <a:solidFill>
            <a:srgbClr val="FFFDF9"/>
          </a:solidFill>
          <a:ln w="6350">
            <a:solidFill>
              <a:srgbClr val="E2D6C4"/>
            </a:solidFill>
            <a:prstDash val="solid"/>
          </a:ln>
        </p:spPr>
        <p:txBody>
          <a:bodyPr wrap="square" lIns="108787" tIns="32587" rIns="48970" bIns="7187" rtlCol="0" anchor="t">
            <a:normAutofit/>
          </a:bodyPr>
          <a:lstStyle/>
          <a:p>
            <a:pPr algn="l" indent="0" marL="0">
              <a:lnSpc>
                <a:spcPts val="1680"/>
              </a:lnSpc>
              <a:buNone/>
            </a:pPr>
            <a:r>
              <a:rPr lang="en-US" sz="1200" dirty="0">
                <a:solidFill>
                  <a:srgbClr val="2B2118"/>
                </a:solidFill>
                <a:latin typeface="Noto Sans KR" pitchFamily="34" charset="0"/>
                <a:ea typeface="Noto Sans KR" pitchFamily="34" charset="-122"/>
                <a:cs typeface="Noto Sans KR" pitchFamily="34" charset="-120"/>
              </a:rPr>
              <a:t>② 업종 생존율</a:t>
            </a:r>
            <a:endParaRPr lang="en-US" sz="1200" dirty="0"/>
          </a:p>
        </p:txBody>
      </p:sp>
      <p:sp>
        <p:nvSpPr>
          <p:cNvPr id="6" name="Text 4"/>
          <p:cNvSpPr/>
          <p:nvPr/>
        </p:nvSpPr>
        <p:spPr>
          <a:xfrm>
            <a:off x="815975" y="2743696"/>
            <a:ext cx="2254250" cy="321270"/>
          </a:xfrm>
          <a:prstGeom prst="roundRect">
            <a:avLst>
              <a:gd name="adj" fmla="val 22730"/>
            </a:avLst>
          </a:prstGeom>
          <a:solidFill>
            <a:srgbClr val="FFFDF9"/>
          </a:solidFill>
          <a:ln w="6350">
            <a:solidFill>
              <a:srgbClr val="E2D6C4"/>
            </a:solidFill>
            <a:prstDash val="solid"/>
          </a:ln>
        </p:spPr>
        <p:txBody>
          <a:bodyPr wrap="square" lIns="108787" tIns="32587" rIns="48970" bIns="7187" rtlCol="0" anchor="t">
            <a:normAutofit/>
          </a:bodyPr>
          <a:lstStyle/>
          <a:p>
            <a:pPr algn="l" indent="0" marL="0">
              <a:lnSpc>
                <a:spcPts val="1680"/>
              </a:lnSpc>
              <a:buNone/>
            </a:pPr>
            <a:r>
              <a:rPr lang="en-US" sz="1200" dirty="0">
                <a:solidFill>
                  <a:srgbClr val="2B2118"/>
                </a:solidFill>
                <a:latin typeface="Noto Sans KR" pitchFamily="34" charset="0"/>
                <a:ea typeface="Noto Sans KR" pitchFamily="34" charset="-122"/>
                <a:cs typeface="Noto Sans KR" pitchFamily="34" charset="-120"/>
              </a:rPr>
              <a:t>③ 착한가격업소</a:t>
            </a:r>
            <a:endParaRPr lang="en-US" sz="1200" dirty="0"/>
          </a:p>
        </p:txBody>
      </p:sp>
      <p:sp>
        <p:nvSpPr>
          <p:cNvPr id="7" name="Text 5"/>
          <p:cNvSpPr/>
          <p:nvPr/>
        </p:nvSpPr>
        <p:spPr>
          <a:xfrm>
            <a:off x="815975" y="3147516"/>
            <a:ext cx="2254250" cy="321270"/>
          </a:xfrm>
          <a:prstGeom prst="roundRect">
            <a:avLst>
              <a:gd name="adj" fmla="val 22730"/>
            </a:avLst>
          </a:prstGeom>
          <a:solidFill>
            <a:srgbClr val="FFFDF9"/>
          </a:solidFill>
          <a:ln w="6350">
            <a:solidFill>
              <a:srgbClr val="E2D6C4"/>
            </a:solidFill>
            <a:prstDash val="solid"/>
          </a:ln>
        </p:spPr>
        <p:txBody>
          <a:bodyPr wrap="square" lIns="108787" tIns="32587" rIns="48970" bIns="7187" rtlCol="0" anchor="t">
            <a:normAutofit/>
          </a:bodyPr>
          <a:lstStyle/>
          <a:p>
            <a:pPr algn="l" indent="0" marL="0">
              <a:lnSpc>
                <a:spcPts val="1680"/>
              </a:lnSpc>
              <a:buNone/>
            </a:pPr>
            <a:r>
              <a:rPr lang="en-US" sz="1200" dirty="0">
                <a:solidFill>
                  <a:srgbClr val="2B2118"/>
                </a:solidFill>
                <a:latin typeface="Noto Sans KR" pitchFamily="34" charset="0"/>
                <a:ea typeface="Noto Sans KR" pitchFamily="34" charset="-122"/>
                <a:cs typeface="Noto Sans KR" pitchFamily="34" charset="-120"/>
              </a:rPr>
              <a:t>④ 전통시장·온누리</a:t>
            </a:r>
            <a:endParaRPr lang="en-US" sz="1200" dirty="0"/>
          </a:p>
        </p:txBody>
      </p:sp>
      <p:sp>
        <p:nvSpPr>
          <p:cNvPr id="8" name="Text 6"/>
          <p:cNvSpPr/>
          <p:nvPr/>
        </p:nvSpPr>
        <p:spPr>
          <a:xfrm>
            <a:off x="815975" y="3551337"/>
            <a:ext cx="2254250" cy="321270"/>
          </a:xfrm>
          <a:prstGeom prst="roundRect">
            <a:avLst>
              <a:gd name="adj" fmla="val 22730"/>
            </a:avLst>
          </a:prstGeom>
          <a:solidFill>
            <a:srgbClr val="FFFDF9"/>
          </a:solidFill>
          <a:ln w="6350">
            <a:solidFill>
              <a:srgbClr val="E2D6C4"/>
            </a:solidFill>
            <a:prstDash val="solid"/>
          </a:ln>
        </p:spPr>
        <p:txBody>
          <a:bodyPr wrap="square" lIns="108787" tIns="32587" rIns="48970" bIns="7187" rtlCol="0" anchor="t">
            <a:normAutofit/>
          </a:bodyPr>
          <a:lstStyle/>
          <a:p>
            <a:pPr algn="l" indent="0" marL="0">
              <a:lnSpc>
                <a:spcPts val="1680"/>
              </a:lnSpc>
              <a:buNone/>
            </a:pPr>
            <a:r>
              <a:rPr lang="en-US" sz="1200" dirty="0">
                <a:solidFill>
                  <a:srgbClr val="2B2118"/>
                </a:solidFill>
                <a:latin typeface="Noto Sans KR" pitchFamily="34" charset="0"/>
                <a:ea typeface="Noto Sans KR" pitchFamily="34" charset="-122"/>
                <a:cs typeface="Noto Sans KR" pitchFamily="34" charset="-120"/>
              </a:rPr>
              <a:t>⑤ 상권·대구로페이</a:t>
            </a:r>
            <a:endParaRPr lang="en-US" sz="1200" dirty="0"/>
          </a:p>
        </p:txBody>
      </p:sp>
      <p:sp>
        <p:nvSpPr>
          <p:cNvPr id="9" name="Text 7"/>
          <p:cNvSpPr/>
          <p:nvPr/>
        </p:nvSpPr>
        <p:spPr>
          <a:xfrm>
            <a:off x="815975" y="3955157"/>
            <a:ext cx="2254250" cy="321270"/>
          </a:xfrm>
          <a:prstGeom prst="roundRect">
            <a:avLst>
              <a:gd name="adj" fmla="val 22730"/>
            </a:avLst>
          </a:prstGeom>
          <a:solidFill>
            <a:srgbClr val="FFFDF9"/>
          </a:solidFill>
          <a:ln w="6350">
            <a:solidFill>
              <a:srgbClr val="E2D6C4"/>
            </a:solidFill>
            <a:prstDash val="solid"/>
          </a:ln>
        </p:spPr>
        <p:txBody>
          <a:bodyPr wrap="square" lIns="108787" tIns="32587" rIns="48970" bIns="7187" rtlCol="0" anchor="t">
            <a:normAutofit/>
          </a:bodyPr>
          <a:lstStyle/>
          <a:p>
            <a:pPr algn="l" indent="0" marL="0">
              <a:lnSpc>
                <a:spcPts val="1680"/>
              </a:lnSpc>
              <a:buNone/>
            </a:pPr>
            <a:r>
              <a:rPr lang="en-US" sz="1200" dirty="0">
                <a:solidFill>
                  <a:srgbClr val="2B2118"/>
                </a:solidFill>
                <a:latin typeface="Noto Sans KR" pitchFamily="34" charset="0"/>
                <a:ea typeface="Noto Sans KR" pitchFamily="34" charset="-122"/>
                <a:cs typeface="Noto Sans KR" pitchFamily="34" charset="-120"/>
              </a:rPr>
              <a:t>⑥ 방문·소비(외지인)</a:t>
            </a:r>
            <a:endParaRPr lang="en-US" sz="1200" dirty="0"/>
          </a:p>
        </p:txBody>
      </p:sp>
      <p:pic>
        <p:nvPicPr>
          <p:cNvPr id="10" name="Image 0" descr="arrow-right">    </p:cNvPr>
          <p:cNvPicPr>
            <a:picLocks noChangeAspect="1"/>
          </p:cNvPicPr>
          <p:nvPr/>
        </p:nvPicPr>
        <p:blipFill>
          <a:blip r:embed="rId1"/>
          <a:srcRect l="0" r="0" t="0" b="0"/>
          <a:stretch/>
        </p:blipFill>
        <p:spPr>
          <a:xfrm>
            <a:off x="3175000" y="2885281"/>
            <a:ext cx="304800" cy="152400"/>
          </a:xfrm>
          <a:prstGeom prst="rect">
            <a:avLst/>
          </a:prstGeom>
        </p:spPr>
      </p:pic>
      <p:sp>
        <p:nvSpPr>
          <p:cNvPr id="11" name="Text 8"/>
          <p:cNvSpPr/>
          <p:nvPr/>
        </p:nvSpPr>
        <p:spPr>
          <a:xfrm>
            <a:off x="3581400" y="1643360"/>
            <a:ext cx="23284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31A"/>
                </a:solidFill>
                <a:latin typeface="Noto Sans KR" pitchFamily="34" charset="0"/>
                <a:ea typeface="Noto Sans KR" pitchFamily="34" charset="-122"/>
                <a:cs typeface="Noto Sans KR" pitchFamily="34" charset="-120"/>
              </a:rPr>
              <a:t>2 · 계산</a:t>
            </a:r>
            <a:endParaRPr lang="en-US" sz="1200" dirty="0"/>
          </a:p>
        </p:txBody>
      </p:sp>
      <p:sp>
        <p:nvSpPr>
          <p:cNvPr id="12" name="Shape 9"/>
          <p:cNvSpPr/>
          <p:nvPr/>
        </p:nvSpPr>
        <p:spPr>
          <a:xfrm>
            <a:off x="3584575" y="1936055"/>
            <a:ext cx="2254250" cy="1032371"/>
          </a:xfrm>
          <a:prstGeom prst="roundRect">
            <a:avLst>
              <a:gd name="adj" fmla="val 9534"/>
            </a:avLst>
          </a:prstGeom>
          <a:solidFill>
            <a:srgbClr val="FFFDF9"/>
          </a:solidFill>
          <a:ln w="6350">
            <a:solidFill>
              <a:srgbClr val="E2D6C4"/>
            </a:solidFill>
            <a:prstDash val="solid"/>
          </a:ln>
        </p:spPr>
      </p:sp>
      <p:sp>
        <p:nvSpPr>
          <p:cNvPr id="13" name="Text 10"/>
          <p:cNvSpPr/>
          <p:nvPr/>
        </p:nvSpPr>
        <p:spPr>
          <a:xfrm>
            <a:off x="3740150" y="2091630"/>
            <a:ext cx="20013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2118"/>
                </a:solidFill>
                <a:latin typeface="Noto Sans KR" pitchFamily="34" charset="0"/>
                <a:ea typeface="Noto Sans KR" pitchFamily="34" charset="-122"/>
                <a:cs typeface="Noto Sans KR" pitchFamily="34" charset="-120"/>
              </a:rPr>
              <a:t>생존배수</a:t>
            </a:r>
            <a:endParaRPr lang="en-US" sz="1600" dirty="0"/>
          </a:p>
        </p:txBody>
      </p:sp>
      <p:sp>
        <p:nvSpPr>
          <p:cNvPr id="14" name="Text 11"/>
          <p:cNvSpPr/>
          <p:nvPr/>
        </p:nvSpPr>
        <p:spPr>
          <a:xfrm>
            <a:off x="3740150" y="2386211"/>
            <a:ext cx="20013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D3F"/>
                </a:solidFill>
                <a:latin typeface="Noto Sans KR" pitchFamily="34" charset="0"/>
                <a:ea typeface="Noto Sans KR" pitchFamily="34" charset="-122"/>
                <a:cs typeface="Noto Sans KR" pitchFamily="34" charset="-120"/>
              </a:rPr>
              <a:t>점포 업력 ÷</a:t>
            </a:r>
            <a:endParaRPr lang="en-US" sz="1200" dirty="0"/>
          </a:p>
          <a:p>
            <a:pPr algn="l" indent="0" marL="0">
              <a:lnSpc>
                <a:spcPts val="1680"/>
              </a:lnSpc>
              <a:buNone/>
            </a:pPr>
            <a:r>
              <a:rPr lang="en-US" sz="1200" dirty="0">
                <a:solidFill>
                  <a:srgbClr val="5C4D3F"/>
                </a:solidFill>
                <a:latin typeface="Noto Sans KR" pitchFamily="34" charset="0"/>
                <a:ea typeface="Noto Sans KR" pitchFamily="34" charset="-122"/>
                <a:cs typeface="Noto Sans KR" pitchFamily="34" charset="-120"/>
              </a:rPr>
              <a:t>같은 구·업종 평균</a:t>
            </a:r>
            <a:endParaRPr lang="en-US" sz="1200" dirty="0"/>
          </a:p>
        </p:txBody>
      </p:sp>
      <p:sp>
        <p:nvSpPr>
          <p:cNvPr id="15" name="Shape 12"/>
          <p:cNvSpPr/>
          <p:nvPr/>
        </p:nvSpPr>
        <p:spPr>
          <a:xfrm>
            <a:off x="3584575" y="3050977"/>
            <a:ext cx="2254250" cy="1032371"/>
          </a:xfrm>
          <a:prstGeom prst="roundRect">
            <a:avLst>
              <a:gd name="adj" fmla="val 9534"/>
            </a:avLst>
          </a:prstGeom>
          <a:solidFill>
            <a:srgbClr val="FFFDF9"/>
          </a:solidFill>
          <a:ln w="6350">
            <a:solidFill>
              <a:srgbClr val="E2D6C4"/>
            </a:solidFill>
            <a:prstDash val="solid"/>
          </a:ln>
        </p:spPr>
      </p:sp>
      <p:sp>
        <p:nvSpPr>
          <p:cNvPr id="16" name="Text 13"/>
          <p:cNvSpPr/>
          <p:nvPr/>
        </p:nvSpPr>
        <p:spPr>
          <a:xfrm>
            <a:off x="3740150" y="3206552"/>
            <a:ext cx="20013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2118"/>
                </a:solidFill>
                <a:latin typeface="Noto Sans KR" pitchFamily="34" charset="0"/>
                <a:ea typeface="Noto Sans KR" pitchFamily="34" charset="-122"/>
                <a:cs typeface="Noto Sans KR" pitchFamily="34" charset="-120"/>
              </a:rPr>
              <a:t>상권 등급</a:t>
            </a:r>
            <a:endParaRPr lang="en-US" sz="1600" dirty="0"/>
          </a:p>
        </p:txBody>
      </p:sp>
      <p:sp>
        <p:nvSpPr>
          <p:cNvPr id="17" name="Text 14"/>
          <p:cNvSpPr/>
          <p:nvPr/>
        </p:nvSpPr>
        <p:spPr>
          <a:xfrm>
            <a:off x="3740150" y="3501132"/>
            <a:ext cx="20013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D3F"/>
                </a:solidFill>
                <a:latin typeface="Noto Sans KR" pitchFamily="34" charset="0"/>
                <a:ea typeface="Noto Sans KR" pitchFamily="34" charset="-122"/>
                <a:cs typeface="Noto Sans KR" pitchFamily="34" charset="-120"/>
              </a:rPr>
              <a:t>대구로페이 가맹 밀도</a:t>
            </a:r>
            <a:endParaRPr lang="en-US" sz="1200" dirty="0"/>
          </a:p>
          <a:p>
            <a:pPr algn="l" indent="0" marL="0">
              <a:lnSpc>
                <a:spcPts val="1680"/>
              </a:lnSpc>
              <a:buNone/>
            </a:pPr>
            <a:r>
              <a:rPr lang="en-US" sz="1200" dirty="0">
                <a:solidFill>
                  <a:srgbClr val="5C4D3F"/>
                </a:solidFill>
                <a:latin typeface="Noto Sans KR" pitchFamily="34" charset="0"/>
                <a:ea typeface="Noto Sans KR" pitchFamily="34" charset="-122"/>
                <a:cs typeface="Noto Sans KR" pitchFamily="34" charset="-120"/>
              </a:rPr>
              <a:t>외지인 방문·소비 비중</a:t>
            </a:r>
            <a:endParaRPr lang="en-US" sz="1200" dirty="0"/>
          </a:p>
        </p:txBody>
      </p:sp>
      <p:pic>
        <p:nvPicPr>
          <p:cNvPr id="18" name="Image 1" descr="arrow-right">    </p:cNvPr>
          <p:cNvPicPr>
            <a:picLocks noChangeAspect="1"/>
          </p:cNvPicPr>
          <p:nvPr/>
        </p:nvPicPr>
        <p:blipFill>
          <a:blip r:embed="rId2"/>
          <a:srcRect l="0" r="0" t="0" b="0"/>
          <a:stretch/>
        </p:blipFill>
        <p:spPr>
          <a:xfrm>
            <a:off x="5943600" y="2885281"/>
            <a:ext cx="304800" cy="152400"/>
          </a:xfrm>
          <a:prstGeom prst="rect">
            <a:avLst/>
          </a:prstGeom>
        </p:spPr>
      </p:pic>
      <p:sp>
        <p:nvSpPr>
          <p:cNvPr id="19" name="Text 15"/>
          <p:cNvSpPr/>
          <p:nvPr/>
        </p:nvSpPr>
        <p:spPr>
          <a:xfrm>
            <a:off x="6350000" y="1643360"/>
            <a:ext cx="23284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31A"/>
                </a:solidFill>
                <a:latin typeface="Noto Sans KR" pitchFamily="34" charset="0"/>
                <a:ea typeface="Noto Sans KR" pitchFamily="34" charset="-122"/>
                <a:cs typeface="Noto Sans KR" pitchFamily="34" charset="-120"/>
              </a:rPr>
              <a:t>3 · 판정</a:t>
            </a:r>
            <a:endParaRPr lang="en-US" sz="1200" dirty="0"/>
          </a:p>
        </p:txBody>
      </p:sp>
      <p:sp>
        <p:nvSpPr>
          <p:cNvPr id="20" name="Shape 16"/>
          <p:cNvSpPr/>
          <p:nvPr/>
        </p:nvSpPr>
        <p:spPr>
          <a:xfrm>
            <a:off x="6353175" y="1936055"/>
            <a:ext cx="2254250" cy="1845072"/>
          </a:xfrm>
          <a:prstGeom prst="roundRect">
            <a:avLst>
              <a:gd name="adj" fmla="val 5334"/>
            </a:avLst>
          </a:prstGeom>
          <a:solidFill>
            <a:srgbClr val="FFFDF9"/>
          </a:solidFill>
          <a:ln w="6350">
            <a:solidFill>
              <a:srgbClr val="E2D6C4"/>
            </a:solidFill>
            <a:prstDash val="solid"/>
          </a:ln>
        </p:spPr>
      </p:sp>
      <p:sp>
        <p:nvSpPr>
          <p:cNvPr id="21" name="Text 17"/>
          <p:cNvSpPr/>
          <p:nvPr/>
        </p:nvSpPr>
        <p:spPr>
          <a:xfrm>
            <a:off x="6508750" y="2091630"/>
            <a:ext cx="2001393"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4D3F"/>
                </a:solidFill>
                <a:latin typeface="Noto Sans KR" pitchFamily="34" charset="0"/>
                <a:ea typeface="Noto Sans KR" pitchFamily="34" charset="-122"/>
                <a:cs typeface="Noto Sans KR" pitchFamily="34" charset="-120"/>
              </a:rPr>
              <a:t>1단계</a:t>
            </a:r>
            <a:endParaRPr lang="en-US" sz="1200" dirty="0"/>
          </a:p>
          <a:p>
            <a:pPr algn="l" indent="0" marL="0">
              <a:lnSpc>
                <a:spcPts val="1680"/>
              </a:lnSpc>
              <a:buNone/>
            </a:pPr>
            <a:r>
              <a:rPr lang="en-US" sz="1200" dirty="0">
                <a:solidFill>
                  <a:srgbClr val="5C4D3F"/>
                </a:solidFill>
                <a:latin typeface="Noto Sans KR" pitchFamily="34" charset="0"/>
                <a:ea typeface="Noto Sans KR" pitchFamily="34" charset="-122"/>
                <a:cs typeface="Noto Sans KR" pitchFamily="34" charset="-120"/>
              </a:rPr>
              <a:t>오래 버틴 집</a:t>
            </a:r>
            <a:endParaRPr lang="en-US" sz="1200" dirty="0"/>
          </a:p>
        </p:txBody>
      </p:sp>
      <p:sp>
        <p:nvSpPr>
          <p:cNvPr id="22" name="Text 18"/>
          <p:cNvSpPr/>
          <p:nvPr/>
        </p:nvSpPr>
        <p:spPr>
          <a:xfrm>
            <a:off x="6508750" y="2645271"/>
            <a:ext cx="2001393"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4D3F"/>
                </a:solidFill>
                <a:latin typeface="Noto Sans KR" pitchFamily="34" charset="0"/>
                <a:ea typeface="Noto Sans KR" pitchFamily="34" charset="-122"/>
                <a:cs typeface="Noto Sans KR" pitchFamily="34" charset="-120"/>
              </a:rPr>
              <a:t>2단계</a:t>
            </a:r>
            <a:endParaRPr lang="en-US" sz="1200" dirty="0"/>
          </a:p>
          <a:p>
            <a:pPr algn="l" indent="0" marL="0">
              <a:lnSpc>
                <a:spcPts val="1680"/>
              </a:lnSpc>
              <a:buNone/>
            </a:pPr>
            <a:r>
              <a:rPr lang="en-US" sz="1200" dirty="0">
                <a:solidFill>
                  <a:srgbClr val="5C4D3F"/>
                </a:solidFill>
                <a:latin typeface="Noto Sans KR" pitchFamily="34" charset="0"/>
                <a:ea typeface="Noto Sans KR" pitchFamily="34" charset="-122"/>
                <a:cs typeface="Noto Sans KR" pitchFamily="34" charset="-120"/>
              </a:rPr>
              <a:t>동네가 고른 집</a:t>
            </a:r>
            <a:endParaRPr lang="en-US" sz="1200" dirty="0"/>
          </a:p>
        </p:txBody>
      </p:sp>
      <p:sp>
        <p:nvSpPr>
          <p:cNvPr id="23" name="Text 19"/>
          <p:cNvSpPr/>
          <p:nvPr/>
        </p:nvSpPr>
        <p:spPr>
          <a:xfrm>
            <a:off x="6508750" y="3198912"/>
            <a:ext cx="2001393"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31A"/>
                </a:solidFill>
                <a:latin typeface="Noto Sans KR" pitchFamily="34" charset="0"/>
                <a:ea typeface="Noto Sans KR" pitchFamily="34" charset="-122"/>
                <a:cs typeface="Noto Sans KR" pitchFamily="34" charset="-120"/>
              </a:rPr>
              <a:t>3단계</a:t>
            </a:r>
            <a:endParaRPr lang="en-US" sz="1200" dirty="0"/>
          </a:p>
          <a:p>
            <a:pPr algn="l" indent="0" marL="0">
              <a:lnSpc>
                <a:spcPts val="1680"/>
              </a:lnSpc>
              <a:buNone/>
            </a:pPr>
            <a:r>
              <a:rPr lang="en-US" sz="1200" b="1" dirty="0">
                <a:solidFill>
                  <a:srgbClr val="A8431A"/>
                </a:solidFill>
                <a:latin typeface="Noto Sans KR" pitchFamily="34" charset="0"/>
                <a:ea typeface="Noto Sans KR" pitchFamily="34" charset="-122"/>
                <a:cs typeface="Noto Sans KR" pitchFamily="34" charset="-120"/>
              </a:rPr>
              <a:t>동네가 먹여 살린 집</a:t>
            </a:r>
            <a:endParaRPr lang="en-US" sz="1200" dirty="0"/>
          </a:p>
        </p:txBody>
      </p:sp>
      <p:pic>
        <p:nvPicPr>
          <p:cNvPr id="24" name="Image 2" descr="arrow-right">    </p:cNvPr>
          <p:cNvPicPr>
            <a:picLocks noChangeAspect="1"/>
          </p:cNvPicPr>
          <p:nvPr/>
        </p:nvPicPr>
        <p:blipFill>
          <a:blip r:embed="rId3"/>
          <a:srcRect l="0" r="0" t="0" b="0"/>
          <a:stretch/>
        </p:blipFill>
        <p:spPr>
          <a:xfrm>
            <a:off x="8712200" y="2885281"/>
            <a:ext cx="304800" cy="152400"/>
          </a:xfrm>
          <a:prstGeom prst="rect">
            <a:avLst/>
          </a:prstGeom>
        </p:spPr>
      </p:pic>
      <p:sp>
        <p:nvSpPr>
          <p:cNvPr id="25" name="Text 20"/>
          <p:cNvSpPr/>
          <p:nvPr/>
        </p:nvSpPr>
        <p:spPr>
          <a:xfrm>
            <a:off x="9118600" y="1643360"/>
            <a:ext cx="23284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31A"/>
                </a:solidFill>
                <a:latin typeface="Noto Sans KR" pitchFamily="34" charset="0"/>
                <a:ea typeface="Noto Sans KR" pitchFamily="34" charset="-122"/>
                <a:cs typeface="Noto Sans KR" pitchFamily="34" charset="-120"/>
              </a:rPr>
              <a:t>4 · 서비스</a:t>
            </a:r>
            <a:endParaRPr lang="en-US" sz="1200" dirty="0"/>
          </a:p>
        </p:txBody>
      </p:sp>
      <p:sp>
        <p:nvSpPr>
          <p:cNvPr id="26" name="Shape 21"/>
          <p:cNvSpPr/>
          <p:nvPr/>
        </p:nvSpPr>
        <p:spPr>
          <a:xfrm>
            <a:off x="9121775" y="1936055"/>
            <a:ext cx="2254250" cy="1316930"/>
          </a:xfrm>
          <a:prstGeom prst="roundRect">
            <a:avLst>
              <a:gd name="adj" fmla="val 7474"/>
            </a:avLst>
          </a:prstGeom>
          <a:solidFill>
            <a:srgbClr val="FFFDF9"/>
          </a:solidFill>
          <a:ln w="6350">
            <a:solidFill>
              <a:srgbClr val="E2D6C4"/>
            </a:solidFill>
            <a:prstDash val="solid"/>
          </a:ln>
        </p:spPr>
      </p:sp>
      <p:sp>
        <p:nvSpPr>
          <p:cNvPr id="27" name="Text 22"/>
          <p:cNvSpPr/>
          <p:nvPr/>
        </p:nvSpPr>
        <p:spPr>
          <a:xfrm>
            <a:off x="9277350" y="2091630"/>
            <a:ext cx="20013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2118"/>
                </a:solidFill>
                <a:latin typeface="Noto Sans KR" pitchFamily="34" charset="0"/>
                <a:ea typeface="Noto Sans KR" pitchFamily="34" charset="-122"/>
                <a:cs typeface="Noto Sans KR" pitchFamily="34" charset="-120"/>
              </a:rPr>
              <a:t>동네 가게 지도</a:t>
            </a:r>
            <a:endParaRPr lang="en-US" sz="1600" dirty="0"/>
          </a:p>
        </p:txBody>
      </p:sp>
      <p:sp>
        <p:nvSpPr>
          <p:cNvPr id="28" name="Text 23"/>
          <p:cNvSpPr/>
          <p:nvPr/>
        </p:nvSpPr>
        <p:spPr>
          <a:xfrm>
            <a:off x="9363456" y="2411611"/>
            <a:ext cx="1907794" cy="711200"/>
          </a:xfrm>
          <a:prstGeom prst="rect">
            <a:avLst/>
          </a:prstGeom>
          <a:noFill/>
          <a:ln/>
        </p:spPr>
        <p:txBody>
          <a:bodyPr wrap="square" lIns="0" tIns="0" rIns="0" bIns="0" rtlCol="0" anchor="t">
            <a:normAutofit/>
          </a:bodyPr>
          <a:lstStyle/>
          <a:p>
            <a:pPr algn="l" marL="167894" indent="-167894">
              <a:lnSpc>
                <a:spcPts val="1800"/>
              </a:lnSpc>
              <a:buSzPct val="100000"/>
              <a:buChar char="•"/>
            </a:pPr>
            <a:r>
              <a:rPr lang="en-US" sz="1200" dirty="0">
                <a:solidFill>
                  <a:srgbClr val="5C4D3F"/>
                </a:solidFill>
                <a:latin typeface="Noto Sans KR" pitchFamily="34" charset="0"/>
                <a:ea typeface="Noto Sans KR" pitchFamily="34" charset="-122"/>
                <a:cs typeface="Noto Sans KR" pitchFamily="34" charset="-120"/>
              </a:rPr>
              <a:t>단계별 마커</a:t>
            </a:r>
            <a:endParaRPr lang="en-US" sz="1200" dirty="0"/>
          </a:p>
          <a:p>
            <a:pPr algn="l" marL="167894" indent="-167894">
              <a:lnSpc>
                <a:spcPts val="1800"/>
              </a:lnSpc>
              <a:buSzPct val="100000"/>
              <a:buChar char="•"/>
            </a:pPr>
            <a:r>
              <a:rPr lang="en-US" sz="1200" dirty="0">
                <a:solidFill>
                  <a:srgbClr val="5C4D3F"/>
                </a:solidFill>
                <a:latin typeface="Noto Sans KR" pitchFamily="34" charset="0"/>
                <a:ea typeface="Noto Sans KR" pitchFamily="34" charset="-122"/>
                <a:cs typeface="Noto Sans KR" pitchFamily="34" charset="-120"/>
              </a:rPr>
              <a:t>점포 카드·대표 가격</a:t>
            </a:r>
            <a:endParaRPr lang="en-US" sz="1200" dirty="0"/>
          </a:p>
          <a:p>
            <a:pPr algn="l" marL="167894" indent="-167894">
              <a:lnSpc>
                <a:spcPts val="1800"/>
              </a:lnSpc>
              <a:buSzPct val="100000"/>
              <a:buChar char="•"/>
            </a:pPr>
            <a:r>
              <a:rPr lang="en-US" sz="1200" dirty="0">
                <a:solidFill>
                  <a:srgbClr val="5C4D3F"/>
                </a:solidFill>
                <a:latin typeface="Noto Sans KR" pitchFamily="34" charset="0"/>
                <a:ea typeface="Noto Sans KR" pitchFamily="34" charset="-122"/>
                <a:cs typeface="Noto Sans KR" pitchFamily="34" charset="-120"/>
              </a:rPr>
              <a:t>오늘 영업 확률</a:t>
            </a:r>
            <a:endParaRPr lang="en-US" sz="1200" dirty="0"/>
          </a:p>
        </p:txBody>
      </p:sp>
      <p:sp>
        <p:nvSpPr>
          <p:cNvPr id="29" name="Shape 24"/>
          <p:cNvSpPr/>
          <p:nvPr/>
        </p:nvSpPr>
        <p:spPr>
          <a:xfrm>
            <a:off x="812800" y="4587577"/>
            <a:ext cx="10566400" cy="0"/>
          </a:xfrm>
          <a:prstGeom prst="line">
            <a:avLst/>
          </a:prstGeom>
          <a:noFill/>
          <a:ln w="6350">
            <a:solidFill>
              <a:srgbClr val="D8C9B3"/>
            </a:solidFill>
            <a:prstDash val="solid"/>
          </a:ln>
        </p:spPr>
      </p:sp>
      <p:sp>
        <p:nvSpPr>
          <p:cNvPr id="30" name="Text 25"/>
          <p:cNvSpPr/>
          <p:nvPr/>
        </p:nvSpPr>
        <p:spPr>
          <a:xfrm>
            <a:off x="812800" y="4692352"/>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4D3F"/>
                </a:solidFill>
                <a:latin typeface="Noto Sans KR" pitchFamily="34" charset="0"/>
                <a:ea typeface="Noto Sans KR" pitchFamily="34" charset="-122"/>
                <a:cs typeface="Noto Sans KR" pitchFamily="34" charset="-120"/>
              </a:rPr>
              <a:t>①</a:t>
            </a:r>
            <a:r>
              <a:rPr lang="en-US" sz="1200" dirty="0">
                <a:solidFill>
                  <a:srgbClr val="5C4D3F"/>
                </a:solidFill>
                <a:latin typeface="Noto Sans KR" pitchFamily="34" charset="0"/>
                <a:ea typeface="Noto Sans KR" pitchFamily="34" charset="-122"/>
                <a:cs typeface="Noto Sans KR" pitchFamily="34" charset="-120"/>
              </a:rPr>
              <a:t> 전국일반음식점표준데이터 · 행정안전부</a:t>
            </a:r>
            <a:endParaRPr lang="en-US" sz="1200" dirty="0"/>
          </a:p>
        </p:txBody>
      </p:sp>
      <p:sp>
        <p:nvSpPr>
          <p:cNvPr id="31" name="Text 26"/>
          <p:cNvSpPr/>
          <p:nvPr/>
        </p:nvSpPr>
        <p:spPr>
          <a:xfrm>
            <a:off x="6197600" y="4692352"/>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4D3F"/>
                </a:solidFill>
                <a:latin typeface="Noto Sans KR" pitchFamily="34" charset="0"/>
                <a:ea typeface="Noto Sans KR" pitchFamily="34" charset="-122"/>
                <a:cs typeface="Noto Sans KR" pitchFamily="34" charset="-120"/>
              </a:rPr>
              <a:t>④</a:t>
            </a:r>
            <a:r>
              <a:rPr lang="en-US" sz="1200" dirty="0">
                <a:solidFill>
                  <a:srgbClr val="5C4D3F"/>
                </a:solidFill>
                <a:latin typeface="Noto Sans KR" pitchFamily="34" charset="0"/>
                <a:ea typeface="Noto Sans KR" pitchFamily="34" charset="-122"/>
                <a:cs typeface="Noto Sans KR" pitchFamily="34" charset="-120"/>
              </a:rPr>
              <a:t> 전국 온누리상품권 가맹점 현황 · 소상공인시장진흥공단</a:t>
            </a:r>
            <a:endParaRPr lang="en-US" sz="1200" dirty="0"/>
          </a:p>
        </p:txBody>
      </p:sp>
      <p:sp>
        <p:nvSpPr>
          <p:cNvPr id="32" name="Text 27"/>
          <p:cNvSpPr/>
          <p:nvPr/>
        </p:nvSpPr>
        <p:spPr>
          <a:xfrm>
            <a:off x="812800" y="4956473"/>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4D3F"/>
                </a:solidFill>
                <a:latin typeface="Noto Sans KR" pitchFamily="34" charset="0"/>
                <a:ea typeface="Noto Sans KR" pitchFamily="34" charset="-122"/>
                <a:cs typeface="Noto Sans KR" pitchFamily="34" charset="-120"/>
              </a:rPr>
              <a:t>②</a:t>
            </a:r>
            <a:r>
              <a:rPr lang="en-US" sz="1200" dirty="0">
                <a:solidFill>
                  <a:srgbClr val="5C4D3F"/>
                </a:solidFill>
                <a:latin typeface="Noto Sans KR" pitchFamily="34" charset="0"/>
                <a:ea typeface="Noto Sans KR" pitchFamily="34" charset="-122"/>
                <a:cs typeface="Noto Sans KR" pitchFamily="34" charset="-120"/>
              </a:rPr>
              <a:t> 기업생멸행정통계 · 국가데이터처(KOSIS)</a:t>
            </a:r>
            <a:endParaRPr lang="en-US" sz="1200" dirty="0"/>
          </a:p>
        </p:txBody>
      </p:sp>
      <p:sp>
        <p:nvSpPr>
          <p:cNvPr id="33" name="Text 28"/>
          <p:cNvSpPr/>
          <p:nvPr/>
        </p:nvSpPr>
        <p:spPr>
          <a:xfrm>
            <a:off x="6197600" y="4956473"/>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4D3F"/>
                </a:solidFill>
                <a:latin typeface="Noto Sans KR" pitchFamily="34" charset="0"/>
                <a:ea typeface="Noto Sans KR" pitchFamily="34" charset="-122"/>
                <a:cs typeface="Noto Sans KR" pitchFamily="34" charset="-120"/>
              </a:rPr>
              <a:t>⑤</a:t>
            </a:r>
            <a:r>
              <a:rPr lang="en-US" sz="1200" dirty="0">
                <a:solidFill>
                  <a:srgbClr val="5C4D3F"/>
                </a:solidFill>
                <a:latin typeface="Noto Sans KR" pitchFamily="34" charset="0"/>
                <a:ea typeface="Noto Sans KR" pitchFamily="34" charset="-122"/>
                <a:cs typeface="Noto Sans KR" pitchFamily="34" charset="-120"/>
              </a:rPr>
              <a:t> 상가(상권)정보 · 소상공인시장진흥공단</a:t>
            </a:r>
            <a:endParaRPr lang="en-US" sz="1200" dirty="0"/>
          </a:p>
        </p:txBody>
      </p:sp>
      <p:sp>
        <p:nvSpPr>
          <p:cNvPr id="34" name="Text 29"/>
          <p:cNvSpPr/>
          <p:nvPr/>
        </p:nvSpPr>
        <p:spPr>
          <a:xfrm>
            <a:off x="812800" y="5220593"/>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4D3F"/>
                </a:solidFill>
                <a:latin typeface="Noto Sans KR" pitchFamily="34" charset="0"/>
                <a:ea typeface="Noto Sans KR" pitchFamily="34" charset="-122"/>
                <a:cs typeface="Noto Sans KR" pitchFamily="34" charset="-120"/>
              </a:rPr>
              <a:t>③</a:t>
            </a:r>
            <a:r>
              <a:rPr lang="en-US" sz="1200" dirty="0">
                <a:solidFill>
                  <a:srgbClr val="5C4D3F"/>
                </a:solidFill>
                <a:latin typeface="Noto Sans KR" pitchFamily="34" charset="0"/>
                <a:ea typeface="Noto Sans KR" pitchFamily="34" charset="-122"/>
                <a:cs typeface="Noto Sans KR" pitchFamily="34" charset="-120"/>
              </a:rPr>
              <a:t> 대구광역시 북구_착한가격업소 · 대구 북구</a:t>
            </a:r>
            <a:endParaRPr lang="en-US" sz="1200" dirty="0"/>
          </a:p>
        </p:txBody>
      </p:sp>
      <p:sp>
        <p:nvSpPr>
          <p:cNvPr id="35" name="Text 30"/>
          <p:cNvSpPr/>
          <p:nvPr/>
        </p:nvSpPr>
        <p:spPr>
          <a:xfrm>
            <a:off x="6197600" y="5220593"/>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4D3F"/>
                </a:solidFill>
                <a:latin typeface="Noto Sans KR" pitchFamily="34" charset="0"/>
                <a:ea typeface="Noto Sans KR" pitchFamily="34" charset="-122"/>
                <a:cs typeface="Noto Sans KR" pitchFamily="34" charset="-120"/>
              </a:rPr>
              <a:t>⑥</a:t>
            </a:r>
            <a:r>
              <a:rPr lang="en-US" sz="1200" dirty="0">
                <a:solidFill>
                  <a:srgbClr val="5C4D3F"/>
                </a:solidFill>
                <a:latin typeface="Noto Sans KR" pitchFamily="34" charset="0"/>
                <a:ea typeface="Noto Sans KR" pitchFamily="34" charset="-122"/>
                <a:cs typeface="Noto Sans KR" pitchFamily="34" charset="-120"/>
              </a:rPr>
              <a:t> 빅데이터_지역별 방문자수 · 한국관광공사</a:t>
            </a:r>
            <a:endParaRPr lang="en-US" sz="1200" dirty="0"/>
          </a:p>
        </p:txBody>
      </p:sp>
      <p:sp>
        <p:nvSpPr>
          <p:cNvPr id="36" name="Text 3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8"/>
                </a:solidFill>
                <a:latin typeface="Noto Sans KR" pitchFamily="34" charset="0"/>
                <a:ea typeface="Noto Sans KR" pitchFamily="34" charset="-122"/>
                <a:cs typeface="Noto Sans KR" pitchFamily="34" charset="-120"/>
              </a:rPr>
              <a:t>출처: 공공데이터포털·KOSIS 원문 확인 · 대구로페이 가맹 자료는 공개 범위 확인 중</a:t>
            </a:r>
            <a:endParaRPr lang="en-US" sz="1200" dirty="0"/>
          </a:p>
        </p:txBody>
      </p:sp>
      <p:sp>
        <p:nvSpPr>
          <p:cNvPr id="37" name="Text 3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6A58"/>
                </a:solidFill>
                <a:latin typeface="Noto Sans KR" pitchFamily="34" charset="0"/>
                <a:ea typeface="Noto Sans KR" pitchFamily="34" charset="-122"/>
                <a:cs typeface="Noto Sans K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6D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2B2118"/>
                </a:solidFill>
                <a:latin typeface="Noto Serif KR" pitchFamily="18" charset="0"/>
                <a:ea typeface="Noto Serif KR" pitchFamily="18" charset="-122"/>
                <a:cs typeface="Noto Serif KR" pitchFamily="18" charset="-120"/>
              </a:rPr>
              <a:t>점수 합산 대신, 3단계로 판정합니다</a:t>
            </a:r>
            <a:endParaRPr lang="en-US" sz="3600" dirty="0"/>
          </a:p>
        </p:txBody>
      </p:sp>
      <p:sp>
        <p:nvSpPr>
          <p:cNvPr id="3" name="Shape 1"/>
          <p:cNvSpPr/>
          <p:nvPr/>
        </p:nvSpPr>
        <p:spPr>
          <a:xfrm>
            <a:off x="815975" y="2662535"/>
            <a:ext cx="3384550" cy="1898650"/>
          </a:xfrm>
          <a:prstGeom prst="roundRect">
            <a:avLst>
              <a:gd name="adj" fmla="val 5184"/>
            </a:avLst>
          </a:prstGeom>
          <a:solidFill>
            <a:srgbClr val="FBF7F0"/>
          </a:solidFill>
          <a:ln w="6350">
            <a:solidFill>
              <a:srgbClr val="D8C9B3"/>
            </a:solidFill>
            <a:prstDash val="solid"/>
          </a:ln>
        </p:spPr>
      </p:sp>
      <p:sp>
        <p:nvSpPr>
          <p:cNvPr id="4" name="Text 2"/>
          <p:cNvSpPr/>
          <p:nvPr/>
        </p:nvSpPr>
        <p:spPr>
          <a:xfrm>
            <a:off x="1073150" y="3267770"/>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31A"/>
                </a:solidFill>
                <a:latin typeface="Noto Sans KR" pitchFamily="34" charset="0"/>
                <a:ea typeface="Noto Sans KR" pitchFamily="34" charset="-122"/>
                <a:cs typeface="Noto Sans KR" pitchFamily="34" charset="-120"/>
              </a:rPr>
              <a:t>1단계 · 필수</a:t>
            </a:r>
            <a:endParaRPr lang="en-US" sz="1200" dirty="0"/>
          </a:p>
        </p:txBody>
      </p:sp>
      <p:sp>
        <p:nvSpPr>
          <p:cNvPr id="5" name="Text 3"/>
          <p:cNvSpPr/>
          <p:nvPr/>
        </p:nvSpPr>
        <p:spPr>
          <a:xfrm>
            <a:off x="1073150" y="3582690"/>
            <a:ext cx="29563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B2118"/>
                </a:solidFill>
                <a:latin typeface="Noto Serif KR" pitchFamily="18" charset="0"/>
                <a:ea typeface="Noto Serif KR" pitchFamily="18" charset="-122"/>
                <a:cs typeface="Noto Serif KR" pitchFamily="18" charset="-120"/>
              </a:rPr>
              <a:t>오래 버틴 집</a:t>
            </a:r>
            <a:endParaRPr lang="en-US" sz="2200" dirty="0"/>
          </a:p>
        </p:txBody>
      </p:sp>
      <p:sp>
        <p:nvSpPr>
          <p:cNvPr id="6" name="Text 4"/>
          <p:cNvSpPr/>
          <p:nvPr/>
        </p:nvSpPr>
        <p:spPr>
          <a:xfrm>
            <a:off x="1073150" y="4019550"/>
            <a:ext cx="295630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D3F"/>
                </a:solidFill>
                <a:latin typeface="Noto Sans KR" pitchFamily="34" charset="0"/>
                <a:ea typeface="Noto Sans KR" pitchFamily="34" charset="-122"/>
                <a:cs typeface="Noto Sans KR" pitchFamily="34" charset="-120"/>
              </a:rPr>
              <a:t>생존배수 상위</a:t>
            </a:r>
            <a:endParaRPr lang="en-US" sz="1600" dirty="0"/>
          </a:p>
        </p:txBody>
      </p:sp>
      <p:sp>
        <p:nvSpPr>
          <p:cNvPr id="7" name="Shape 5"/>
          <p:cNvSpPr/>
          <p:nvPr/>
        </p:nvSpPr>
        <p:spPr>
          <a:xfrm>
            <a:off x="4410075" y="2154535"/>
            <a:ext cx="3384550" cy="2406650"/>
          </a:xfrm>
          <a:prstGeom prst="roundRect">
            <a:avLst>
              <a:gd name="adj" fmla="val 4090"/>
            </a:avLst>
          </a:prstGeom>
          <a:solidFill>
            <a:srgbClr val="FBF7F0"/>
          </a:solidFill>
          <a:ln w="6350">
            <a:solidFill>
              <a:srgbClr val="D8C9B3"/>
            </a:solidFill>
            <a:prstDash val="solid"/>
          </a:ln>
        </p:spPr>
      </p:sp>
      <p:sp>
        <p:nvSpPr>
          <p:cNvPr id="8" name="Text 6"/>
          <p:cNvSpPr/>
          <p:nvPr/>
        </p:nvSpPr>
        <p:spPr>
          <a:xfrm>
            <a:off x="4667250" y="2983309"/>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31A"/>
                </a:solidFill>
                <a:latin typeface="Noto Sans KR" pitchFamily="34" charset="0"/>
                <a:ea typeface="Noto Sans KR" pitchFamily="34" charset="-122"/>
                <a:cs typeface="Noto Sans KR" pitchFamily="34" charset="-120"/>
              </a:rPr>
              <a:t>2단계</a:t>
            </a:r>
            <a:endParaRPr lang="en-US" sz="1200" dirty="0"/>
          </a:p>
        </p:txBody>
      </p:sp>
      <p:sp>
        <p:nvSpPr>
          <p:cNvPr id="9" name="Text 7"/>
          <p:cNvSpPr/>
          <p:nvPr/>
        </p:nvSpPr>
        <p:spPr>
          <a:xfrm>
            <a:off x="4667250" y="3298230"/>
            <a:ext cx="29563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B2118"/>
                </a:solidFill>
                <a:latin typeface="Noto Serif KR" pitchFamily="18" charset="0"/>
                <a:ea typeface="Noto Serif KR" pitchFamily="18" charset="-122"/>
                <a:cs typeface="Noto Serif KR" pitchFamily="18" charset="-120"/>
              </a:rPr>
              <a:t>동네가 고른 집</a:t>
            </a:r>
            <a:endParaRPr lang="en-US" sz="2200" dirty="0"/>
          </a:p>
        </p:txBody>
      </p:sp>
      <p:sp>
        <p:nvSpPr>
          <p:cNvPr id="10" name="Text 8"/>
          <p:cNvSpPr/>
          <p:nvPr/>
        </p:nvSpPr>
        <p:spPr>
          <a:xfrm>
            <a:off x="4667250" y="3735090"/>
            <a:ext cx="295630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D3F"/>
                </a:solidFill>
                <a:latin typeface="Noto Sans KR" pitchFamily="34" charset="0"/>
                <a:ea typeface="Noto Sans KR" pitchFamily="34" charset="-122"/>
                <a:cs typeface="Noto Sans KR" pitchFamily="34" charset="-120"/>
              </a:rPr>
              <a:t>1단계 +</a:t>
            </a:r>
            <a:endParaRPr lang="en-US" sz="1600" dirty="0"/>
          </a:p>
          <a:p>
            <a:pPr algn="l" indent="0" marL="0">
              <a:lnSpc>
                <a:spcPts val="2240"/>
              </a:lnSpc>
              <a:buNone/>
            </a:pPr>
            <a:r>
              <a:rPr lang="en-US" sz="1600" dirty="0">
                <a:solidFill>
                  <a:srgbClr val="5C4D3F"/>
                </a:solidFill>
                <a:latin typeface="Noto Sans KR" pitchFamily="34" charset="0"/>
                <a:ea typeface="Noto Sans KR" pitchFamily="34" charset="-122"/>
                <a:cs typeface="Noto Sans KR" pitchFamily="34" charset="-120"/>
              </a:rPr>
              <a:t>동네 수요 상권 안</a:t>
            </a:r>
            <a:endParaRPr lang="en-US" sz="1600" dirty="0"/>
          </a:p>
        </p:txBody>
      </p:sp>
      <p:sp>
        <p:nvSpPr>
          <p:cNvPr id="11" name="Shape 9"/>
          <p:cNvSpPr/>
          <p:nvPr/>
        </p:nvSpPr>
        <p:spPr>
          <a:xfrm>
            <a:off x="8001000" y="1643360"/>
            <a:ext cx="3378200" cy="2921000"/>
          </a:xfrm>
          <a:prstGeom prst="roundRect">
            <a:avLst>
              <a:gd name="adj" fmla="val 3478"/>
            </a:avLst>
          </a:prstGeom>
          <a:solidFill>
            <a:srgbClr val="A8431A"/>
          </a:solidFill>
          <a:ln/>
        </p:spPr>
      </p:sp>
      <p:sp>
        <p:nvSpPr>
          <p:cNvPr id="12" name="Text 10"/>
          <p:cNvSpPr/>
          <p:nvPr/>
        </p:nvSpPr>
        <p:spPr>
          <a:xfrm>
            <a:off x="8255000" y="2989659"/>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E6DA"/>
                </a:solidFill>
                <a:latin typeface="Noto Sans KR" pitchFamily="34" charset="0"/>
                <a:ea typeface="Noto Sans KR" pitchFamily="34" charset="-122"/>
                <a:cs typeface="Noto Sans KR" pitchFamily="34" charset="-120"/>
              </a:rPr>
              <a:t>3단계 · 최상위</a:t>
            </a:r>
            <a:endParaRPr lang="en-US" sz="1200" dirty="0"/>
          </a:p>
        </p:txBody>
      </p:sp>
      <p:sp>
        <p:nvSpPr>
          <p:cNvPr id="13" name="Text 11"/>
          <p:cNvSpPr/>
          <p:nvPr/>
        </p:nvSpPr>
        <p:spPr>
          <a:xfrm>
            <a:off x="8255000" y="3304580"/>
            <a:ext cx="29563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BF6EF"/>
                </a:solidFill>
                <a:latin typeface="Noto Serif KR" pitchFamily="18" charset="0"/>
                <a:ea typeface="Noto Serif KR" pitchFamily="18" charset="-122"/>
                <a:cs typeface="Noto Serif KR" pitchFamily="18" charset="-120"/>
              </a:rPr>
              <a:t>동네가 먹여 살린 집</a:t>
            </a:r>
            <a:endParaRPr lang="en-US" sz="2200" dirty="0"/>
          </a:p>
        </p:txBody>
      </p:sp>
      <p:sp>
        <p:nvSpPr>
          <p:cNvPr id="14" name="Text 12"/>
          <p:cNvSpPr/>
          <p:nvPr/>
        </p:nvSpPr>
        <p:spPr>
          <a:xfrm>
            <a:off x="8255000" y="3741440"/>
            <a:ext cx="295630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6EF"/>
                </a:solidFill>
                <a:latin typeface="Noto Sans KR" pitchFamily="34" charset="0"/>
                <a:ea typeface="Noto Sans KR" pitchFamily="34" charset="-122"/>
                <a:cs typeface="Noto Sans KR" pitchFamily="34" charset="-120"/>
              </a:rPr>
              <a:t>2단계 +</a:t>
            </a:r>
            <a:endParaRPr lang="en-US" sz="1600" dirty="0"/>
          </a:p>
          <a:p>
            <a:pPr algn="l" indent="0" marL="0">
              <a:lnSpc>
                <a:spcPts val="2240"/>
              </a:lnSpc>
              <a:buNone/>
            </a:pPr>
            <a:r>
              <a:rPr lang="en-US" sz="1600" dirty="0">
                <a:solidFill>
                  <a:srgbClr val="FBF6EF"/>
                </a:solidFill>
                <a:latin typeface="Noto Sans KR" pitchFamily="34" charset="0"/>
                <a:ea typeface="Noto Sans KR" pitchFamily="34" charset="-122"/>
                <a:cs typeface="Noto Sans KR" pitchFamily="34" charset="-120"/>
              </a:rPr>
              <a:t>착한가격 또는 전통시장</a:t>
            </a:r>
            <a:endParaRPr lang="en-US" sz="1600" dirty="0"/>
          </a:p>
        </p:txBody>
      </p:sp>
      <p:sp>
        <p:nvSpPr>
          <p:cNvPr id="15" name="Text 13"/>
          <p:cNvSpPr/>
          <p:nvPr/>
        </p:nvSpPr>
        <p:spPr>
          <a:xfrm>
            <a:off x="812800" y="486916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4D3F"/>
                </a:solidFill>
                <a:latin typeface="Noto Sans KR" pitchFamily="34" charset="0"/>
                <a:ea typeface="Noto Sans KR" pitchFamily="34" charset="-122"/>
                <a:cs typeface="Noto Sans KR" pitchFamily="34" charset="-120"/>
              </a:rPr>
              <a:t>한계와 대응</a:t>
            </a:r>
            <a:r>
              <a:rPr lang="en-US" sz="1200" dirty="0">
                <a:solidFill>
                  <a:srgbClr val="5C4D3F"/>
                </a:solidFill>
                <a:latin typeface="Noto Sans KR" pitchFamily="34" charset="0"/>
                <a:ea typeface="Noto Sans KR" pitchFamily="34" charset="-122"/>
                <a:cs typeface="Noto Sans KR" pitchFamily="34" charset="-120"/>
              </a:rPr>
              <a:t> · 점포별 방문 빈도는 비공개입니다. 지역 단위 외지인 비중으로 대신하고, 영수증 리뷰 표본으로 검증합니다.</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F4E"/>
                </a:solidFill>
                <a:latin typeface="Noto Sans KR" pitchFamily="34" charset="0"/>
                <a:ea typeface="Noto Sans KR" pitchFamily="34" charset="-122"/>
                <a:cs typeface="Noto Sans KR" pitchFamily="34" charset="-120"/>
              </a:rPr>
              <a:t>버틴집 · AX 데이터·서비스 트랙</a:t>
            </a:r>
            <a:endParaRPr lang="en-US" sz="12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F4E"/>
                </a:solidFill>
                <a:latin typeface="Noto Sans KR" pitchFamily="34" charset="0"/>
                <a:ea typeface="Noto Sans KR" pitchFamily="34" charset="-122"/>
                <a:cs typeface="Noto Sans K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2B2118"/>
                </a:solidFill>
                <a:latin typeface="Noto Serif KR" pitchFamily="18" charset="0"/>
                <a:ea typeface="Noto Serif KR" pitchFamily="18" charset="-122"/>
                <a:cs typeface="Noto Serif KR" pitchFamily="18" charset="-120"/>
              </a:rPr>
              <a:t>지금까지 한 일과 다음 할 일</a:t>
            </a:r>
            <a:endParaRPr lang="en-US" sz="3600" dirty="0"/>
          </a:p>
        </p:txBody>
      </p:sp>
      <p:sp>
        <p:nvSpPr>
          <p:cNvPr id="3" name="Shape 1"/>
          <p:cNvSpPr/>
          <p:nvPr/>
        </p:nvSpPr>
        <p:spPr>
          <a:xfrm>
            <a:off x="815975" y="1646535"/>
            <a:ext cx="5168900" cy="2711351"/>
          </a:xfrm>
          <a:prstGeom prst="roundRect">
            <a:avLst>
              <a:gd name="adj" fmla="val 3630"/>
            </a:avLst>
          </a:prstGeom>
          <a:solidFill>
            <a:srgbClr val="FFFDF9"/>
          </a:solidFill>
          <a:ln w="6350">
            <a:solidFill>
              <a:srgbClr val="E2D6C4"/>
            </a:solidFill>
            <a:prstDash val="solid"/>
          </a:ln>
        </p:spPr>
      </p:sp>
      <p:sp>
        <p:nvSpPr>
          <p:cNvPr id="4" name="Text 2"/>
          <p:cNvSpPr/>
          <p:nvPr/>
        </p:nvSpPr>
        <p:spPr>
          <a:xfrm>
            <a:off x="1123950" y="1954510"/>
            <a:ext cx="468953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B2118"/>
                </a:solidFill>
                <a:latin typeface="Noto Sans KR" pitchFamily="34" charset="0"/>
                <a:ea typeface="Noto Sans KR" pitchFamily="34" charset="-122"/>
                <a:cs typeface="Noto Sans KR" pitchFamily="34" charset="-120"/>
              </a:rPr>
              <a:t>완료</a:t>
            </a:r>
            <a:endParaRPr lang="en-US" sz="2200" dirty="0"/>
          </a:p>
        </p:txBody>
      </p:sp>
      <p:pic>
        <p:nvPicPr>
          <p:cNvPr id="5" name="Image 0" descr="Check">    </p:cNvPr>
          <p:cNvPicPr>
            <a:picLocks noChangeAspect="1"/>
          </p:cNvPicPr>
          <p:nvPr/>
        </p:nvPicPr>
        <p:blipFill>
          <a:blip r:embed="rId1"/>
          <a:srcRect l="0" r="0" t="0" b="0"/>
          <a:stretch/>
        </p:blipFill>
        <p:spPr>
          <a:xfrm>
            <a:off x="1123950" y="2482751"/>
            <a:ext cx="203200" cy="203200"/>
          </a:xfrm>
          <a:prstGeom prst="rect">
            <a:avLst/>
          </a:prstGeom>
        </p:spPr>
      </p:pic>
      <p:sp>
        <p:nvSpPr>
          <p:cNvPr id="6" name="Text 3"/>
          <p:cNvSpPr/>
          <p:nvPr/>
        </p:nvSpPr>
        <p:spPr>
          <a:xfrm>
            <a:off x="1428750" y="2442170"/>
            <a:ext cx="338089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2118"/>
                </a:solidFill>
                <a:latin typeface="Noto Sans KR" pitchFamily="34" charset="0"/>
                <a:ea typeface="Noto Sans KR" pitchFamily="34" charset="-122"/>
                <a:cs typeface="Noto Sans KR" pitchFamily="34" charset="-120"/>
              </a:rPr>
              <a:t>주제 확정 · 동네가 먹여 살린 가게</a:t>
            </a:r>
            <a:endParaRPr lang="en-US" sz="1600" dirty="0"/>
          </a:p>
        </p:txBody>
      </p:sp>
      <p:pic>
        <p:nvPicPr>
          <p:cNvPr id="7" name="Image 1" descr="Check">    </p:cNvPr>
          <p:cNvPicPr>
            <a:picLocks noChangeAspect="1"/>
          </p:cNvPicPr>
          <p:nvPr/>
        </p:nvPicPr>
        <p:blipFill>
          <a:blip r:embed="rId2"/>
          <a:srcRect l="0" r="0" t="0" b="0"/>
          <a:stretch/>
        </p:blipFill>
        <p:spPr>
          <a:xfrm>
            <a:off x="1123950" y="2919611"/>
            <a:ext cx="203200" cy="203200"/>
          </a:xfrm>
          <a:prstGeom prst="rect">
            <a:avLst/>
          </a:prstGeom>
        </p:spPr>
      </p:pic>
      <p:sp>
        <p:nvSpPr>
          <p:cNvPr id="8" name="Text 4"/>
          <p:cNvSpPr/>
          <p:nvPr/>
        </p:nvSpPr>
        <p:spPr>
          <a:xfrm>
            <a:off x="1428750" y="2879030"/>
            <a:ext cx="334851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2118"/>
                </a:solidFill>
                <a:latin typeface="Noto Sans KR" pitchFamily="34" charset="0"/>
                <a:ea typeface="Noto Sans KR" pitchFamily="34" charset="-122"/>
                <a:cs typeface="Noto Sans KR" pitchFamily="34" charset="-120"/>
              </a:rPr>
              <a:t>기획서 · 문제·데이터·분석·효과</a:t>
            </a:r>
            <a:endParaRPr lang="en-US" sz="1600" dirty="0"/>
          </a:p>
        </p:txBody>
      </p:sp>
      <p:pic>
        <p:nvPicPr>
          <p:cNvPr id="9" name="Image 2" descr="Check">    </p:cNvPr>
          <p:cNvPicPr>
            <a:picLocks noChangeAspect="1"/>
          </p:cNvPicPr>
          <p:nvPr/>
        </p:nvPicPr>
        <p:blipFill>
          <a:blip r:embed="rId3"/>
          <a:srcRect l="0" r="0" t="0" b="0"/>
          <a:stretch/>
        </p:blipFill>
        <p:spPr>
          <a:xfrm>
            <a:off x="1123950" y="3356471"/>
            <a:ext cx="203200" cy="203200"/>
          </a:xfrm>
          <a:prstGeom prst="rect">
            <a:avLst/>
          </a:prstGeom>
        </p:spPr>
      </p:pic>
      <p:sp>
        <p:nvSpPr>
          <p:cNvPr id="10" name="Text 5"/>
          <p:cNvSpPr/>
          <p:nvPr/>
        </p:nvSpPr>
        <p:spPr>
          <a:xfrm>
            <a:off x="1428750" y="3315891"/>
            <a:ext cx="278713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2118"/>
                </a:solidFill>
                <a:latin typeface="Noto Sans KR" pitchFamily="34" charset="0"/>
                <a:ea typeface="Noto Sans KR" pitchFamily="34" charset="-122"/>
                <a:cs typeface="Noto Sans KR" pitchFamily="34" charset="-120"/>
              </a:rPr>
              <a:t>키워드 맵 + 데이터 노트 6종</a:t>
            </a:r>
            <a:endParaRPr lang="en-US" sz="1600" dirty="0"/>
          </a:p>
        </p:txBody>
      </p:sp>
      <p:pic>
        <p:nvPicPr>
          <p:cNvPr id="11" name="Image 3" descr="Check">    </p:cNvPr>
          <p:cNvPicPr>
            <a:picLocks noChangeAspect="1"/>
          </p:cNvPicPr>
          <p:nvPr/>
        </p:nvPicPr>
        <p:blipFill>
          <a:blip r:embed="rId4"/>
          <a:srcRect l="0" r="0" t="0" b="0"/>
          <a:stretch/>
        </p:blipFill>
        <p:spPr>
          <a:xfrm>
            <a:off x="1123950" y="3793331"/>
            <a:ext cx="203200" cy="203200"/>
          </a:xfrm>
          <a:prstGeom prst="rect">
            <a:avLst/>
          </a:prstGeom>
        </p:spPr>
      </p:pic>
      <p:sp>
        <p:nvSpPr>
          <p:cNvPr id="12" name="Text 6"/>
          <p:cNvSpPr/>
          <p:nvPr/>
        </p:nvSpPr>
        <p:spPr>
          <a:xfrm>
            <a:off x="1428750" y="3752751"/>
            <a:ext cx="308705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2118"/>
                </a:solidFill>
                <a:latin typeface="Noto Sans KR" pitchFamily="34" charset="0"/>
                <a:ea typeface="Noto Sans KR" pitchFamily="34" charset="-122"/>
                <a:cs typeface="Noto Sans KR" pitchFamily="34" charset="-120"/>
              </a:rPr>
              <a:t>판정 구조 · 점수 합산 → 3단계</a:t>
            </a:r>
            <a:endParaRPr lang="en-US" sz="1600" dirty="0"/>
          </a:p>
        </p:txBody>
      </p:sp>
      <p:sp>
        <p:nvSpPr>
          <p:cNvPr id="13" name="Shape 7"/>
          <p:cNvSpPr/>
          <p:nvPr/>
        </p:nvSpPr>
        <p:spPr>
          <a:xfrm>
            <a:off x="6197600" y="1649710"/>
            <a:ext cx="5175250" cy="2705001"/>
          </a:xfrm>
          <a:prstGeom prst="roundRect">
            <a:avLst>
              <a:gd name="adj" fmla="val 3521"/>
            </a:avLst>
          </a:prstGeom>
          <a:solidFill>
            <a:srgbClr val="FFFDF9"/>
          </a:solidFill>
          <a:ln w="12700">
            <a:solidFill>
              <a:srgbClr val="A8431A"/>
            </a:solidFill>
            <a:prstDash val="solid"/>
          </a:ln>
        </p:spPr>
      </p:sp>
      <p:sp>
        <p:nvSpPr>
          <p:cNvPr id="14" name="Text 8"/>
          <p:cNvSpPr/>
          <p:nvPr/>
        </p:nvSpPr>
        <p:spPr>
          <a:xfrm>
            <a:off x="6508750" y="1960860"/>
            <a:ext cx="468953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A8431A"/>
                </a:solidFill>
                <a:latin typeface="Noto Sans KR" pitchFamily="34" charset="0"/>
                <a:ea typeface="Noto Sans KR" pitchFamily="34" charset="-122"/>
                <a:cs typeface="Noto Sans KR" pitchFamily="34" charset="-120"/>
              </a:rPr>
              <a:t>다음</a:t>
            </a:r>
            <a:endParaRPr lang="en-US" sz="2200" dirty="0"/>
          </a:p>
        </p:txBody>
      </p:sp>
      <p:pic>
        <p:nvPicPr>
          <p:cNvPr id="15" name="Image 4" descr="Clock">    </p:cNvPr>
          <p:cNvPicPr>
            <a:picLocks noChangeAspect="1"/>
          </p:cNvPicPr>
          <p:nvPr/>
        </p:nvPicPr>
        <p:blipFill>
          <a:blip r:embed="rId5"/>
          <a:srcRect l="0" r="0" t="0" b="0"/>
          <a:stretch/>
        </p:blipFill>
        <p:spPr>
          <a:xfrm>
            <a:off x="6508750" y="2489101"/>
            <a:ext cx="203200" cy="203200"/>
          </a:xfrm>
          <a:prstGeom prst="rect">
            <a:avLst/>
          </a:prstGeom>
        </p:spPr>
      </p:pic>
      <p:sp>
        <p:nvSpPr>
          <p:cNvPr id="16" name="Text 9"/>
          <p:cNvSpPr/>
          <p:nvPr/>
        </p:nvSpPr>
        <p:spPr>
          <a:xfrm>
            <a:off x="6813550" y="2448520"/>
            <a:ext cx="355056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2118"/>
                </a:solidFill>
                <a:latin typeface="Noto Sans KR" pitchFamily="34" charset="0"/>
                <a:ea typeface="Noto Sans KR" pitchFamily="34" charset="-122"/>
                <a:cs typeface="Noto Sans KR" pitchFamily="34" charset="-120"/>
              </a:rPr>
              <a:t>대구 인허가 데이터 · 폐업일자 확인</a:t>
            </a:r>
            <a:endParaRPr lang="en-US" sz="1600" dirty="0"/>
          </a:p>
        </p:txBody>
      </p:sp>
      <p:pic>
        <p:nvPicPr>
          <p:cNvPr id="17" name="Image 5" descr="Clock">    </p:cNvPr>
          <p:cNvPicPr>
            <a:picLocks noChangeAspect="1"/>
          </p:cNvPicPr>
          <p:nvPr/>
        </p:nvPicPr>
        <p:blipFill>
          <a:blip r:embed="rId6"/>
          <a:srcRect l="0" r="0" t="0" b="0"/>
          <a:stretch/>
        </p:blipFill>
        <p:spPr>
          <a:xfrm>
            <a:off x="6508750" y="2925961"/>
            <a:ext cx="203200" cy="203200"/>
          </a:xfrm>
          <a:prstGeom prst="rect">
            <a:avLst/>
          </a:prstGeom>
        </p:spPr>
      </p:pic>
      <p:sp>
        <p:nvSpPr>
          <p:cNvPr id="18" name="Text 10"/>
          <p:cNvSpPr/>
          <p:nvPr/>
        </p:nvSpPr>
        <p:spPr>
          <a:xfrm>
            <a:off x="6813550" y="2885380"/>
            <a:ext cx="321706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2118"/>
                </a:solidFill>
                <a:latin typeface="Noto Sans KR" pitchFamily="34" charset="0"/>
                <a:ea typeface="Noto Sans KR" pitchFamily="34" charset="-122"/>
                <a:cs typeface="Noto Sans KR" pitchFamily="34" charset="-120"/>
              </a:rPr>
              <a:t>구·군별 착한가격업소 파일 확인</a:t>
            </a:r>
            <a:endParaRPr lang="en-US" sz="1600" dirty="0"/>
          </a:p>
        </p:txBody>
      </p:sp>
      <p:pic>
        <p:nvPicPr>
          <p:cNvPr id="19" name="Image 6" descr="Clock">    </p:cNvPr>
          <p:cNvPicPr>
            <a:picLocks noChangeAspect="1"/>
          </p:cNvPicPr>
          <p:nvPr/>
        </p:nvPicPr>
        <p:blipFill>
          <a:blip r:embed="rId7"/>
          <a:srcRect l="0" r="0" t="0" b="0"/>
          <a:stretch/>
        </p:blipFill>
        <p:spPr>
          <a:xfrm>
            <a:off x="6508750" y="3362821"/>
            <a:ext cx="203200" cy="203200"/>
          </a:xfrm>
          <a:prstGeom prst="rect">
            <a:avLst/>
          </a:prstGeom>
        </p:spPr>
      </p:pic>
      <p:sp>
        <p:nvSpPr>
          <p:cNvPr id="20" name="Text 11"/>
          <p:cNvSpPr/>
          <p:nvPr/>
        </p:nvSpPr>
        <p:spPr>
          <a:xfrm>
            <a:off x="6813550" y="3322241"/>
            <a:ext cx="30256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2118"/>
                </a:solidFill>
                <a:latin typeface="Noto Sans KR" pitchFamily="34" charset="0"/>
                <a:ea typeface="Noto Sans KR" pitchFamily="34" charset="-122"/>
                <a:cs typeface="Noto Sans KR" pitchFamily="34" charset="-120"/>
              </a:rPr>
              <a:t>대구로페이 정보공개청구 결정</a:t>
            </a:r>
            <a:endParaRPr lang="en-US" sz="1600" dirty="0"/>
          </a:p>
        </p:txBody>
      </p:sp>
      <p:pic>
        <p:nvPicPr>
          <p:cNvPr id="21" name="Image 7" descr="Clock">    </p:cNvPr>
          <p:cNvPicPr>
            <a:picLocks noChangeAspect="1"/>
          </p:cNvPicPr>
          <p:nvPr/>
        </p:nvPicPr>
        <p:blipFill>
          <a:blip r:embed="rId8"/>
          <a:srcRect l="0" r="0" t="0" b="0"/>
          <a:stretch/>
        </p:blipFill>
        <p:spPr>
          <a:xfrm>
            <a:off x="6508750" y="3799681"/>
            <a:ext cx="203200" cy="203200"/>
          </a:xfrm>
          <a:prstGeom prst="rect">
            <a:avLst/>
          </a:prstGeom>
        </p:spPr>
      </p:pic>
      <p:sp>
        <p:nvSpPr>
          <p:cNvPr id="22" name="Text 12"/>
          <p:cNvSpPr/>
          <p:nvPr/>
        </p:nvSpPr>
        <p:spPr>
          <a:xfrm>
            <a:off x="6813550" y="3759101"/>
            <a:ext cx="30256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2118"/>
                </a:solidFill>
                <a:latin typeface="Noto Sans KR" pitchFamily="34" charset="0"/>
                <a:ea typeface="Noto Sans KR" pitchFamily="34" charset="-122"/>
                <a:cs typeface="Noto Sans KR" pitchFamily="34" charset="-120"/>
              </a:rPr>
              <a:t>클로드코드로 지도 프로토타입</a:t>
            </a:r>
            <a:endParaRPr lang="en-US" sz="1600" dirty="0"/>
          </a:p>
        </p:txBody>
      </p:sp>
      <p:sp>
        <p:nvSpPr>
          <p:cNvPr id="23"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8"/>
                </a:solidFill>
                <a:latin typeface="Noto Sans KR" pitchFamily="34" charset="0"/>
                <a:ea typeface="Noto Sans KR" pitchFamily="34" charset="-122"/>
                <a:cs typeface="Noto Sans KR" pitchFamily="34" charset="-120"/>
              </a:rPr>
              <a:t>버틴집 · AX 데이터·서비스 트랙</a:t>
            </a:r>
            <a:endParaRPr lang="en-US" sz="1200" dirty="0"/>
          </a:p>
        </p:txBody>
      </p:sp>
      <p:sp>
        <p:nvSpPr>
          <p:cNvPr id="24" name="Text 1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6A58"/>
                </a:solidFill>
                <a:latin typeface="Noto Sans KR" pitchFamily="34" charset="0"/>
                <a:ea typeface="Noto Sans KR" pitchFamily="34" charset="-122"/>
                <a:cs typeface="Noto Sans KR" pitchFamily="34" charset="-120"/>
              </a:rPr>
              <a:t>5</a:t>
            </a:r>
            <a:endParaRPr lang="en-US" sz="1200" dirty="0"/>
          </a:p>
        </p:txBody>
      </p:sp>
    </p:spTree>
  </p:cSld>
  <p:clrMapOvr>
    <a:masterClrMapping/>
  </p:clrMapOvr>
</p:sld>
</file>

<file path=ppt/theme/theme1.xml><?xml version="1.0" encoding="utf-8"?>
<a:theme xmlns:a="http://schemas.openxmlformats.org/drawingml/2006/main" name="버틴집 진행 공유">
  <a:themeElements>
    <a:clrScheme name="버틴집 진행 공유">
      <a:dk1>
        <a:srgbClr val="2B2118"/>
      </a:dk1>
      <a:lt1>
        <a:srgbClr val="F7F2EA"/>
      </a:lt1>
      <a:dk2>
        <a:srgbClr val="5E554D"/>
      </a:dk2>
      <a:lt2>
        <a:srgbClr val="E3DDD5"/>
      </a:lt2>
      <a:accent1>
        <a:srgbClr val="A8431A"/>
      </a:accent1>
      <a:accent2>
        <a:srgbClr val="E08A5C"/>
      </a:accent2>
      <a:accent3>
        <a:srgbClr val="5C4D3F"/>
      </a:accent3>
      <a:accent4>
        <a:srgbClr val="7A6A58"/>
      </a:accent4>
      <a:accent5>
        <a:srgbClr val="6E5F4E"/>
      </a:accent5>
      <a:accent6>
        <a:srgbClr val="D9CDBB"/>
      </a:accent6>
      <a:hlink>
        <a:srgbClr val="0563C1"/>
      </a:hlink>
      <a:folHlink>
        <a:srgbClr val="954F72"/>
      </a:folHlink>
    </a:clrScheme>
    <a:fontScheme name="버틴집 진행 공유">
      <a:majorFont>
        <a:latin typeface="Noto Serif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버틴집 진행 공유</dc:title>
  <dc:subject/>
  <dc:creator/>
  <cp:lastModifiedBy/>
  <cp:revision>1</cp:revision>
  <dcterms:created xsi:type="dcterms:W3CDTF">2026-10-30T00:49:18Z</dcterms:created>
  <dcterms:modified xsi:type="dcterms:W3CDTF">2026-10-30T00:49:18Z</dcterms:modified>
</cp:coreProperties>
</file>